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 id="2147483658" r:id="rId3"/>
    <p:sldMasterId id="2147483670" r:id="rId4"/>
  </p:sldMasterIdLst>
  <p:sldIdLst>
    <p:sldId id="256" r:id="rId5"/>
    <p:sldId id="269" r:id="rId6"/>
    <p:sldId id="270" r:id="rId7"/>
    <p:sldId id="258" r:id="rId8"/>
    <p:sldId id="259" r:id="rId9"/>
    <p:sldId id="262" r:id="rId10"/>
    <p:sldId id="272" r:id="rId11"/>
    <p:sldId id="273" r:id="rId12"/>
    <p:sldId id="260" r:id="rId13"/>
    <p:sldId id="280" r:id="rId14"/>
    <p:sldId id="281" r:id="rId15"/>
    <p:sldId id="282" r:id="rId16"/>
    <p:sldId id="283" r:id="rId17"/>
    <p:sldId id="284" r:id="rId18"/>
    <p:sldId id="285" r:id="rId19"/>
    <p:sldId id="286" r:id="rId20"/>
    <p:sldId id="287" r:id="rId21"/>
    <p:sldId id="288" r:id="rId22"/>
    <p:sldId id="289" r:id="rId23"/>
    <p:sldId id="261" r:id="rId24"/>
    <p:sldId id="266" r:id="rId25"/>
    <p:sldId id="274" r:id="rId26"/>
    <p:sldId id="275" r:id="rId27"/>
    <p:sldId id="276" r:id="rId28"/>
    <p:sldId id="277" r:id="rId29"/>
    <p:sldId id="278" r:id="rId3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8"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9T17:17:37.155"/>
    </inkml:context>
    <inkml:brush xml:id="br0">
      <inkml:brushProperty name="width" value="0.35" units="cm"/>
      <inkml:brushProperty name="height" value="0.35" units="cm"/>
      <inkml:brushProperty name="color" value="#292929"/>
    </inkml:brush>
  </inkml:definitions>
  <inkml:trace contextRef="#ctx0" brushRef="#br0">0 149 24575,'456'-37'0,"-264"15"0,-56 16 0,-84 6 0,84-13 0,129-26 0,-128 20 0,-115 16 71,-8 0-250,-1 0-1,1 2 1,0-1-1,0 2 1,0 0-1,0 1 1,24 3-1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9T17:17:39.356"/>
    </inkml:context>
    <inkml:brush xml:id="br0">
      <inkml:brushProperty name="width" value="0.35" units="cm"/>
      <inkml:brushProperty name="height" value="0.35" units="cm"/>
      <inkml:brushProperty name="color" value="#292929"/>
    </inkml:brush>
  </inkml:definitions>
  <inkml:trace contextRef="#ctx0" brushRef="#br0">1 0 24575,'1'2'0,"1"0"0,-1 1 0,1-2 0,0 1 0,0 0 0,0 0 0,0-1 0,0 1 0,0-1 0,4 3 0,3 2 0,30 20 0,-30-20 0,1 0 0,-1 1 0,9 8 0,15 16 0,2-1 0,61 41 0,60 29 0,-53-28 0,-90-61 0,-1 1 0,-1 0 0,0 1 0,0 0 0,13 23 0,-20-29 0,-1 1 0,0-1 0,0 0 0,-1 1 0,0 0 0,0-1 0,-1 1 0,0 0 0,0 13 0,-1-6 0,0 1 0,-2 0 0,-5 29 0,-2-20 0,0 1 0,-2-1 0,-1-1 0,0 0 0,-2-1 0,-20 25 0,-31 56 0,45-64 0,12-20 0,-1-2 0,-1 1 0,-1-2 0,-1 1 0,-26 30 0,23-36-1365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9T17:17:41.703"/>
    </inkml:context>
    <inkml:brush xml:id="br0">
      <inkml:brushProperty name="width" value="0.35" units="cm"/>
      <inkml:brushProperty name="height" value="0.35" units="cm"/>
      <inkml:brushProperty name="color" value="#292929"/>
    </inkml:brush>
  </inkml:definitions>
  <inkml:trace contextRef="#ctx0" brushRef="#br0">0 1 24575,'1695'0'-1365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9T17:17:43.714"/>
    </inkml:context>
    <inkml:brush xml:id="br0">
      <inkml:brushProperty name="width" value="0.35" units="cm"/>
      <inkml:brushProperty name="height" value="0.35" units="cm"/>
      <inkml:brushProperty name="color" value="#292929"/>
    </inkml:brush>
  </inkml:definitions>
  <inkml:trace contextRef="#ctx0" brushRef="#br0">0 1 24575,'11'124'0,"-6"-83"0,1 44 0,-6-72 0,1 0 0,1 0 0,0 0 0,1-1 0,0 1 0,1-1 0,0 1 0,1-1 0,1 0 0,0-1 0,0 1 0,1-1 0,0 0 0,1-1 0,10 10 0,21 23 0,-27-28 0,1-1 0,26 22 0,-24-23 0,-2 0 0,24 28 0,-6-5 0,-14-18 0,-6-7 0,0 1 0,0 1 0,9 15 0,-17-22 0,0 0 0,0 0 0,0 0 0,-1 0 0,0 1 0,0 0 0,0-1 0,-1 1 0,0 0 0,-1 11 0,0-10 0,-1 1 0,0-1 0,-1 0 0,0 0 0,-1 0 0,1 0 0,-1 0 0,-1-1 0,0 1 0,0-1 0,0 0 0,-9 11 0,-9 9 0,-42 40 0,46-50 0,8-6 22,-63 57 291,65-62-525,-1 1-1,1-1 1,-1-1-1,0 0 1,-1 0-1,1-1 0,-13 5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9T17:17:46.628"/>
    </inkml:context>
    <inkml:brush xml:id="br0">
      <inkml:brushProperty name="width" value="0.35" units="cm"/>
      <inkml:brushProperty name="height" value="0.35" units="cm"/>
      <inkml:brushProperty name="color" value="#292929"/>
    </inkml:brush>
  </inkml:definitions>
  <inkml:trace contextRef="#ctx0" brushRef="#br0">0 1 24575,'51'2'0,"0"3"0,0 3 0,57 15 0,-27-6 0,586 118 0,-618-126 0,-14-3 0,0 1 0,0 1 0,34 15 0,-30-10 0,69 15 0,8 2 0,-75-18-1365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9T17:17:48.596"/>
    </inkml:context>
    <inkml:brush xml:id="br0">
      <inkml:brushProperty name="width" value="0.35" units="cm"/>
      <inkml:brushProperty name="height" value="0.35" units="cm"/>
      <inkml:brushProperty name="color" value="#292929"/>
    </inkml:brush>
  </inkml:definitions>
  <inkml:trace contextRef="#ctx0" brushRef="#br0">416 0 24575,'1'15'0,"1"0"0,0 0 0,1 0 0,10 27 0,-8-26 0,-1 0 0,0 0 0,3 30 0,-5 304 0,-4-171 0,2-176 0,0 1 0,0 0 0,0 0 0,-1 0 0,1 0 0,-1 0 0,0-1 0,0 1 0,-1 0 0,1-1 0,-1 1 0,1 0 0,-1-1 0,0 0 0,-1 0 0,1 1 0,-5 4 0,2-4 0,-1 0 0,1-1 0,-1 0 0,0 0 0,0 0 0,0-1 0,0 1 0,0-1 0,0-1 0,-8 2 0,-20 4 0,-54 11 0,-129 45 0,198-56-1365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9T17:24:15.895"/>
    </inkml:context>
    <inkml:brush xml:id="br0">
      <inkml:brushProperty name="width" value="0.35" units="cm"/>
      <inkml:brushProperty name="height" value="0.3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 1009 24575,'0'0'0,"14"-4"-983,30-9 0,15-8 0,14-3 0,8-7 0,1 1 0,-7-4 1279,0-2-497,-5 2 1366,-2-1-345,1-1 163,-1 2 0,-5-1 0,-2-1-133,-6 7-976,-4-1 271,-8 3-145,-7 1 0,-6 7 0,-5 1 0,-3 5 0,-2 0 0,0 0 0,-1 2 0,0 2 0,-3-5 0,3-2 0,6-2 0,0 2 0,1-5 0,-1 4 0,-1-1 0,-5-1 0,-1 5 0,-1-1 0,0 3 0,-3 0 0,0 2 0,1 3 0,2 3 0,1 1 0,1 2 0,1 0 0,-4-2 0,1-1 0,-1-4 0,2 1 0,0 0 0,2-2 0,0 2 0,-4-4 0,0 2 0,1-2 0,0 2 0,1 2 0,2 2 0,-1 2 0,-2-3 0,-1 1 0,0 1 0,-2-3 0,0 0 0,1-2 0,-3-4 0,-2-2 0,-4 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9T17:24:21.878"/>
    </inkml:context>
    <inkml:brush xml:id="br0">
      <inkml:brushProperty name="width" value="0.35" units="cm"/>
      <inkml:brushProperty name="height" value="0.35" units="cm"/>
      <inkml:brushProperty name="color" value="#BB5B18"/>
      <inkml:brushProperty name="inkEffects" value="bronze"/>
      <inkml:brushProperty name="anchorX" value="-4632.48096"/>
      <inkml:brushProperty name="anchorY" value="-2032.17517"/>
      <inkml:brushProperty name="scaleFactor" value="0.5"/>
    </inkml:brush>
  </inkml:definitions>
  <inkml:trace contextRef="#ctx0" brushRef="#br0">1 1 24575,'0'0'0,"7"0"0,11 0 0,7 4 0,11 4 0,10 1 0,-2 3 0,6-2 0,-1 3 0,-5 1 0,-2 2 0,-2-2 0,-5-3 0,1 1 0,-5-3 0,-2-2 0,-4-3 0,-2-1 0,-1 2 0,-1-1 0,-1 5 0,4 2 0,1-1 0,3-1 0,0 2 0,-1 1 0,-1-1 0,-2-2 0,-1 1 0,-2-1 0,0 1 0,0-1 0,-5 2 0,0-2 0,0-2 0,-3 2 0,-3 2 0,-4 3 0,-2 3 0,-2 1 0,-2 6 0,0 5 0,-1 5 0,0 7 0,1 8 0,-1 0 0,-3 9 0,-1 3 0,-3-2 0,0-7 0,1-1 0,-2-7 0,1-7 0,2-2 0,-2 0 0,1-4 0,1-2 0,2 1 0,2-2 0,0-2 0,2-2 0,0-1 0,0-1 0,0-1 0,1-1 0,-1-4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9T17:24:24.534"/>
    </inkml:context>
    <inkml:brush xml:id="br0">
      <inkml:brushProperty name="width" value="0.35" units="cm"/>
      <inkml:brushProperty name="height" value="0.35" units="cm"/>
      <inkml:brushProperty name="color" value="#BB5B18"/>
      <inkml:brushProperty name="inkEffects" value="bronze"/>
      <inkml:brushProperty name="anchorX" value="-6556.45947"/>
      <inkml:brushProperty name="anchorY" value="-4347.87207"/>
      <inkml:brushProperty name="scaleFactor" value="0.5"/>
    </inkml:brush>
  </inkml:definitions>
  <inkml:trace contextRef="#ctx0" brushRef="#br0">0 1462 24575,'0'0'0,"4"-3"0,13-15 0,13-11 0,11-12 0,10-10 0,2-2 0,4-5 0,3-1 0,-4 2 0,2 0 0,-4 3 0,1 3 0,-4 4 0,-2 2 0,2 2 0,-3 2 0,-1 0 0,-6 0 0,-2 0 0,-5 1 0,0-1 0,-4 4 0,-2 4 0,-3 0 0,-2 4 0,-6 2 0,4-2 0,-1 2 0,1 1 0,-4 2 0,0-3 0,0 5 0,0 1 0,-3 1 0,-3 1 0,0 4 0,2-1 0,2 5 0,-3-2 0,-2 0 0,-3-3 0,2-1 0,-3-2 0,-1-1 0,-1 0 0,-2 3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9T17:24:26.191"/>
    </inkml:context>
    <inkml:brush xml:id="br0">
      <inkml:brushProperty name="width" value="0.35" units="cm"/>
      <inkml:brushProperty name="height" value="0.35" units="cm"/>
      <inkml:brushProperty name="color" value="#BB5B18"/>
      <inkml:brushProperty name="inkEffects" value="bronze"/>
      <inkml:brushProperty name="anchorX" value="-8873.99902"/>
      <inkml:brushProperty name="anchorY" value="-3901.91797"/>
      <inkml:brushProperty name="scaleFactor" value="0.5"/>
    </inkml:brush>
  </inkml:definitions>
  <inkml:trace contextRef="#ctx0" brushRef="#br0">1 1 24575,'0'0'0,"7"0"0,11 0 0,15 4 0,16 4 0,9 4 0,11 4 0,2-1 0,0-3 0,-5-4 0,-10-3 0,-7 2 0,-5-1 0,-8-2 0,0-1 0,-2-1 0,2-1 0,1-1 0,-2 4 0,0 1 0,2-1 0,-4 3 0,-2 0 0,0 3 0,-2-2 0,-2-1 0,-2-2 0,-3 3 0,0 2 0,-1 3 0,0-1 0,-5 2 0,0 2 0,0 1 0,-3 2 0,0 0 0,-2 2 0,-4-1 0,-1 1 0,-4 0 0,0 0 0,-2 0 0,0 0 0,-1 0 0,5 3 0,0 1 0,0 0 0,-1-1 0,0 0 0,-2-2 0,0-1 0,0 0 0,-1 0 0,0-1 0,0 1 0,-1 0 0,1-5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9T17:24:29.267"/>
    </inkml:context>
    <inkml:brush xml:id="br0">
      <inkml:brushProperty name="width" value="0.35" units="cm"/>
      <inkml:brushProperty name="height" value="0.35" units="cm"/>
      <inkml:brushProperty name="color" value="#BB5B18"/>
      <inkml:brushProperty name="inkEffects" value="bronze"/>
      <inkml:brushProperty name="anchorX" value="-11150.69727"/>
      <inkml:brushProperty name="anchorY" value="-5658.33936"/>
      <inkml:brushProperty name="scaleFactor" value="0.5"/>
    </inkml:brush>
  </inkml:definitions>
  <inkml:trace contextRef="#ctx0" brushRef="#br0">1 1376 24575,'0'0'0,"0"-10"0,8-21 0,9-15 0,8-15 0,11-15 0,6-7 0,-2-1 0,-3 8 0,0 8 0,-4 6 0,-4 6 0,-3 14 0,-6 5 0,-3 3 0,0 3 0,-5 4 0,1 3 0,1-2 0,-2 0 0,5-2 0,2 0 0,2 1 0,-4 2 0,4-3 0,1 1 0,5-2 0,-5 0 0,4-2 0,-1 1 0,0 6 0,-6 2 0,-1-1 0,0 4 0,0 4 0,-4 1 0,-4 0 0,1 2 0,-2 0 0,1 2 0,-2-2 0,2 3 0,-1 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9T17:24:31.147"/>
    </inkml:context>
    <inkml:brush xml:id="br0">
      <inkml:brushProperty name="width" value="0.35" units="cm"/>
      <inkml:brushProperty name="height" value="0.35" units="cm"/>
      <inkml:brushProperty name="color" value="#BB5B18"/>
      <inkml:brushProperty name="inkEffects" value="bronze"/>
      <inkml:brushProperty name="anchorX" value="-12998.04297"/>
      <inkml:brushProperty name="anchorY" value="-5298.3667"/>
      <inkml:brushProperty name="scaleFactor" value="0.5"/>
    </inkml:brush>
  </inkml:definitions>
  <inkml:trace contextRef="#ctx0" brushRef="#br0">1 1 24575,'0'0'0,"3"0"0,14 0 0,9 0 0,11 0 0,9 4 0,0 0 0,4 0 0,4 0 0,-6-2 0,-1 0 0,-8-1 0,-1-1 0,-5 0 0,-4 0 0,1 0 0,-3-1 0,-2 1 0,-1 0 0,-1 0 0,2 0 0,0 0 0,0 0 0,-1 0 0,-1 0 0,-1 0 0,-1 0 0,0 0 0,-1 0 0,1 0 0,-1 0 0,1 0 0,-1 0 0,1 0 0,0 4 0,-1 0 0,1 5 0,-1-2 0,1 4 0,0-2 0,-1-1 0,-3 1 0,-1 3 0,1-1 0,-4 2 0,-3 1 0,-4 2 0,-2 2 0,-2 2 0,-2 0 0,0 1 0,-1 0 0,1 0 0,-1 0 0,1 0 0,-1 4 0,1 0 0,4 0 0,0-1 0,1-1 0,-2-1 0,0 0 0,-2-1 0,0 0 0,-1-1 0,1 0 0,-2 1 0,1 0 0,0-1 0,0 1 0,0-1 0,0 1 0,0-1 0,0 1 0,0-4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4" name="PlaceHolder 1"/>
          <p:cNvSpPr>
            <a:spLocks noGrp="1"/>
          </p:cNvSpPr>
          <p:nvPr>
            <p:ph type="title"/>
          </p:nvPr>
        </p:nvSpPr>
        <p:spPr>
          <a:xfrm>
            <a:off x="961560" y="748800"/>
            <a:ext cx="4898520" cy="7272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5"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870120" y="622800"/>
            <a:ext cx="4638600" cy="3144960"/>
          </a:xfrm>
          <a:prstGeom prst="rect">
            <a:avLst/>
          </a:prstGeom>
          <a:noFill/>
          <a:ln w="0">
            <a:noFill/>
          </a:ln>
        </p:spPr>
        <p:txBody>
          <a:bodyPr lIns="91440" tIns="91440" rIns="91440" bIns="91440" anchor="t">
            <a:noAutofit/>
          </a:bodyPr>
          <a:lstStyle/>
          <a:p>
            <a:pPr indent="0">
              <a:buNone/>
            </a:pPr>
            <a:r>
              <a:rPr lang="fr-FR" sz="5500" b="0" strike="noStrike" spc="-1">
                <a:solidFill>
                  <a:schemeClr val="dk1"/>
                </a:solidFill>
                <a:latin typeface="Arial"/>
              </a:rPr>
              <a:t>Click to edit the title text format</a:t>
            </a:r>
          </a:p>
        </p:txBody>
      </p:sp>
      <p:sp>
        <p:nvSpPr>
          <p:cNvPr id="5" name="PlaceHolder 2"/>
          <p:cNvSpPr>
            <a:spLocks noGrp="1"/>
          </p:cNvSpPr>
          <p:nvPr>
            <p:ph type="body"/>
          </p:nvPr>
        </p:nvSpPr>
        <p:spPr>
          <a:xfrm>
            <a:off x="5683320" y="387720"/>
            <a:ext cx="3083400" cy="4755240"/>
          </a:xfrm>
          <a:prstGeom prst="rect">
            <a:avLst/>
          </a:prstGeom>
          <a:noFill/>
          <a:ln w="9360">
            <a:solidFill>
              <a:schemeClr val="dk2"/>
            </a:solidFill>
            <a:round/>
          </a:ln>
        </p:spPr>
        <p:txBody>
          <a:bodyPr lIns="90000" tIns="45000" rIns="90000" bIns="45000" anchor="t">
            <a:normAutofit fontScale="62222"/>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cxnSp>
        <p:nvCxnSpPr>
          <p:cNvPr id="2" name="Google Shape;12;p2"/>
          <p:cNvCxnSpPr/>
          <p:nvPr/>
        </p:nvCxnSpPr>
        <p:spPr>
          <a:xfrm>
            <a:off x="-6120" y="387720"/>
            <a:ext cx="9175680" cy="360"/>
          </a:xfrm>
          <a:prstGeom prst="straightConnector1">
            <a:avLst/>
          </a:prstGeom>
          <a:ln w="9525">
            <a:solidFill>
              <a:srgbClr val="A14342"/>
            </a:solidFill>
            <a:round/>
          </a:ln>
        </p:spPr>
      </p:cxnSp>
      <p:cxnSp>
        <p:nvCxnSpPr>
          <p:cNvPr id="3" name="Google Shape;13;p2"/>
          <p:cNvCxnSpPr/>
          <p:nvPr/>
        </p:nvCxnSpPr>
        <p:spPr>
          <a:xfrm>
            <a:off x="628560" y="360"/>
            <a:ext cx="360" cy="5245560"/>
          </a:xfrm>
          <a:prstGeom prst="straightConnector1">
            <a:avLst/>
          </a:prstGeom>
          <a:ln w="9525">
            <a:solidFill>
              <a:srgbClr val="A14342"/>
            </a:solidFill>
            <a:round/>
          </a:ln>
        </p:spPr>
      </p:cxn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713160" y="444960"/>
            <a:ext cx="6550560" cy="17586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cxnSp>
        <p:nvCxnSpPr>
          <p:cNvPr id="18" name="Google Shape;72;p14"/>
          <p:cNvCxnSpPr/>
          <p:nvPr/>
        </p:nvCxnSpPr>
        <p:spPr>
          <a:xfrm>
            <a:off x="-6120" y="387720"/>
            <a:ext cx="9175680" cy="360"/>
          </a:xfrm>
          <a:prstGeom prst="straightConnector1">
            <a:avLst/>
          </a:prstGeom>
          <a:ln w="9525">
            <a:solidFill>
              <a:srgbClr val="A14342"/>
            </a:solidFill>
            <a:round/>
          </a:ln>
        </p:spPr>
      </p:cxnSp>
      <p:cxnSp>
        <p:nvCxnSpPr>
          <p:cNvPr id="19" name="Google Shape;73;p14"/>
          <p:cNvCxnSpPr/>
          <p:nvPr/>
        </p:nvCxnSpPr>
        <p:spPr>
          <a:xfrm>
            <a:off x="374400" y="360"/>
            <a:ext cx="360" cy="5245560"/>
          </a:xfrm>
          <a:prstGeom prst="straightConnector1">
            <a:avLst/>
          </a:prstGeom>
          <a:ln w="9525">
            <a:solidFill>
              <a:srgbClr val="A14342"/>
            </a:solidFill>
            <a:round/>
          </a:ln>
        </p:spPr>
      </p:cxnSp>
      <p:cxnSp>
        <p:nvCxnSpPr>
          <p:cNvPr id="20" name="Google Shape;74;p14"/>
          <p:cNvCxnSpPr/>
          <p:nvPr/>
        </p:nvCxnSpPr>
        <p:spPr>
          <a:xfrm>
            <a:off x="-6120" y="2426040"/>
            <a:ext cx="9175680" cy="360"/>
          </a:xfrm>
          <a:prstGeom prst="straightConnector1">
            <a:avLst/>
          </a:prstGeom>
          <a:ln w="9525">
            <a:solidFill>
              <a:srgbClr val="A14342"/>
            </a:solidFill>
            <a:round/>
          </a:ln>
        </p:spPr>
      </p:cxnSp>
      <p:sp>
        <p:nvSpPr>
          <p:cNvPr id="2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722160" y="444960"/>
            <a:ext cx="4571280" cy="122364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
        <p:nvSpPr>
          <p:cNvPr id="23" name="PlaceHolder 2"/>
          <p:cNvSpPr>
            <a:spLocks noGrp="1"/>
          </p:cNvSpPr>
          <p:nvPr>
            <p:ph type="body"/>
          </p:nvPr>
        </p:nvSpPr>
        <p:spPr>
          <a:xfrm>
            <a:off x="5520600" y="387720"/>
            <a:ext cx="3083400" cy="4755240"/>
          </a:xfrm>
          <a:prstGeom prst="rect">
            <a:avLst/>
          </a:prstGeom>
          <a:noFill/>
          <a:ln w="0">
            <a:noFill/>
          </a:ln>
        </p:spPr>
        <p:txBody>
          <a:bodyPr lIns="90000" tIns="45000" rIns="90000" bIns="45000" anchor="t">
            <a:normAutofit fontScale="62222"/>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cxnSp>
        <p:nvCxnSpPr>
          <p:cNvPr id="24" name="Google Shape;79;p15"/>
          <p:cNvCxnSpPr/>
          <p:nvPr/>
        </p:nvCxnSpPr>
        <p:spPr>
          <a:xfrm>
            <a:off x="-6120" y="387720"/>
            <a:ext cx="9175680" cy="360"/>
          </a:xfrm>
          <a:prstGeom prst="straightConnector1">
            <a:avLst/>
          </a:prstGeom>
          <a:ln w="9525">
            <a:solidFill>
              <a:srgbClr val="A14342"/>
            </a:solidFill>
            <a:round/>
          </a:ln>
        </p:spPr>
      </p:cxn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4297320" y="2005920"/>
            <a:ext cx="4230360" cy="2909160"/>
          </a:xfrm>
          <a:prstGeom prst="rect">
            <a:avLst/>
          </a:prstGeom>
          <a:noFill/>
          <a:ln w="0">
            <a:noFill/>
          </a:ln>
        </p:spPr>
        <p:txBody>
          <a:bodyPr lIns="91440" tIns="91440" rIns="91440" bIns="91440" anchor="b">
            <a:noAutofit/>
          </a:bodyPr>
          <a:lstStyle/>
          <a:p>
            <a:pPr indent="0">
              <a:buNone/>
            </a:pPr>
            <a:r>
              <a:rPr lang="fr-FR" sz="4000" b="0" strike="noStrike" spc="-1">
                <a:solidFill>
                  <a:schemeClr val="dk1"/>
                </a:solidFill>
                <a:latin typeface="Arial"/>
              </a:rPr>
              <a:t>Click to edit the title text format</a:t>
            </a:r>
          </a:p>
        </p:txBody>
      </p:sp>
      <p:sp>
        <p:nvSpPr>
          <p:cNvPr id="37" name="PlaceHolder 2"/>
          <p:cNvSpPr>
            <a:spLocks noGrp="1"/>
          </p:cNvSpPr>
          <p:nvPr>
            <p:ph type="title"/>
          </p:nvPr>
        </p:nvSpPr>
        <p:spPr>
          <a:xfrm>
            <a:off x="4297320" y="641520"/>
            <a:ext cx="1651680" cy="915480"/>
          </a:xfrm>
          <a:prstGeom prst="rect">
            <a:avLst/>
          </a:prstGeom>
          <a:noFill/>
          <a:ln w="0">
            <a:noFill/>
          </a:ln>
        </p:spPr>
        <p:txBody>
          <a:bodyPr lIns="91440" tIns="91440" rIns="91440" bIns="91440" anchor="b">
            <a:noAutofit/>
          </a:bodyPr>
          <a:lstStyle/>
          <a:p>
            <a:pPr indent="0">
              <a:lnSpc>
                <a:spcPct val="100000"/>
              </a:lnSpc>
              <a:buNone/>
            </a:pPr>
            <a:r>
              <a:rPr lang="fr-FR" sz="6000" b="0" strike="noStrike" spc="-1">
                <a:solidFill>
                  <a:schemeClr val="accent1"/>
                </a:solidFill>
                <a:latin typeface="Anybody"/>
                <a:ea typeface="Anybody"/>
              </a:rPr>
              <a:t>xx%</a:t>
            </a:r>
            <a:endParaRPr lang="fr-FR" sz="6000" b="0" strike="noStrike" spc="-1">
              <a:solidFill>
                <a:schemeClr val="dk1"/>
              </a:solidFill>
              <a:latin typeface="Arial"/>
            </a:endParaRPr>
          </a:p>
        </p:txBody>
      </p:sp>
      <p:sp>
        <p:nvSpPr>
          <p:cNvPr id="38" name="PlaceHolder 3"/>
          <p:cNvSpPr>
            <a:spLocks noGrp="1"/>
          </p:cNvSpPr>
          <p:nvPr>
            <p:ph type="body"/>
          </p:nvPr>
        </p:nvSpPr>
        <p:spPr>
          <a:xfrm>
            <a:off x="628560" y="387720"/>
            <a:ext cx="3083400" cy="4755240"/>
          </a:xfrm>
          <a:prstGeom prst="rect">
            <a:avLst/>
          </a:prstGeom>
          <a:noFill/>
          <a:ln w="9360">
            <a:solidFill>
              <a:schemeClr val="dk2"/>
            </a:solidFill>
            <a:round/>
          </a:ln>
        </p:spPr>
        <p:txBody>
          <a:bodyPr lIns="90000" tIns="45000" rIns="90000" bIns="45000" anchor="t">
            <a:normAutofit fontScale="62222"/>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cxnSp>
        <p:nvCxnSpPr>
          <p:cNvPr id="39" name="Google Shape;18;p3"/>
          <p:cNvCxnSpPr/>
          <p:nvPr/>
        </p:nvCxnSpPr>
        <p:spPr>
          <a:xfrm>
            <a:off x="-6120" y="387720"/>
            <a:ext cx="9175680" cy="360"/>
          </a:xfrm>
          <a:prstGeom prst="straightConnector1">
            <a:avLst/>
          </a:prstGeom>
          <a:ln w="9525">
            <a:solidFill>
              <a:srgbClr val="A14342"/>
            </a:solidFill>
            <a:round/>
          </a:ln>
        </p:spPr>
      </p:cxnSp>
      <p:cxnSp>
        <p:nvCxnSpPr>
          <p:cNvPr id="40" name="Google Shape;19;p3"/>
          <p:cNvCxnSpPr/>
          <p:nvPr/>
        </p:nvCxnSpPr>
        <p:spPr>
          <a:xfrm>
            <a:off x="628560" y="360"/>
            <a:ext cx="360" cy="5245560"/>
          </a:xfrm>
          <a:prstGeom prst="straightConnector1">
            <a:avLst/>
          </a:prstGeom>
          <a:ln w="9525">
            <a:solidFill>
              <a:srgbClr val="A14342"/>
            </a:solidFill>
            <a:round/>
          </a:ln>
        </p:spPr>
      </p:cxn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3.png"/><Relationship Id="rId12" Type="http://schemas.openxmlformats.org/officeDocument/2006/relationships/customXml" Target="../ink/ink6.xml"/><Relationship Id="rId2" Type="http://schemas.openxmlformats.org/officeDocument/2006/relationships/customXml" Target="../ink/ink1.xml"/><Relationship Id="rId1" Type="http://schemas.openxmlformats.org/officeDocument/2006/relationships/slideLayout" Target="../slideLayouts/slideLayout3.xml"/><Relationship Id="rId6" Type="http://schemas.openxmlformats.org/officeDocument/2006/relationships/customXml" Target="../ink/ink3.xml"/><Relationship Id="rId11" Type="http://schemas.openxmlformats.org/officeDocument/2006/relationships/image" Target="../media/image15.png"/><Relationship Id="rId5" Type="http://schemas.openxmlformats.org/officeDocument/2006/relationships/image" Target="../media/image12.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14.png"/></Relationships>
</file>

<file path=ppt/slides/_rels/slide17.xml.rels><?xml version="1.0" encoding="UTF-8" standalone="yes"?>
<Relationships xmlns="http://schemas.openxmlformats.org/package/2006/relationships"><Relationship Id="rId8" Type="http://schemas.openxmlformats.org/officeDocument/2006/relationships/customXml" Target="../ink/ink10.xml"/><Relationship Id="rId13"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19.png"/><Relationship Id="rId12" Type="http://schemas.openxmlformats.org/officeDocument/2006/relationships/customXml" Target="../ink/ink12.xml"/><Relationship Id="rId2" Type="http://schemas.openxmlformats.org/officeDocument/2006/relationships/customXml" Target="../ink/ink7.xml"/><Relationship Id="rId1" Type="http://schemas.openxmlformats.org/officeDocument/2006/relationships/slideLayout" Target="../slideLayouts/slideLayout3.xml"/><Relationship Id="rId6" Type="http://schemas.openxmlformats.org/officeDocument/2006/relationships/customXml" Target="../ink/ink9.xml"/><Relationship Id="rId11" Type="http://schemas.openxmlformats.org/officeDocument/2006/relationships/image" Target="../media/image21.png"/><Relationship Id="rId5" Type="http://schemas.openxmlformats.org/officeDocument/2006/relationships/image" Target="../media/image18.png"/><Relationship Id="rId10" Type="http://schemas.openxmlformats.org/officeDocument/2006/relationships/customXml" Target="../ink/ink11.xml"/><Relationship Id="rId4" Type="http://schemas.openxmlformats.org/officeDocument/2006/relationships/customXml" Target="../ink/ink8.xml"/><Relationship Id="rId9"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Google Shape;125;p25"/>
          <p:cNvGrpSpPr/>
          <p:nvPr/>
        </p:nvGrpSpPr>
        <p:grpSpPr>
          <a:xfrm>
            <a:off x="-6120" y="360"/>
            <a:ext cx="9175320" cy="5245200"/>
            <a:chOff x="-6120" y="360"/>
            <a:chExt cx="9175320" cy="5245200"/>
          </a:xfrm>
        </p:grpSpPr>
        <p:cxnSp>
          <p:nvCxnSpPr>
            <p:cNvPr id="68" name="Google Shape;126;p25"/>
            <p:cNvCxnSpPr/>
            <p:nvPr/>
          </p:nvCxnSpPr>
          <p:spPr>
            <a:xfrm>
              <a:off x="5682960" y="360"/>
              <a:ext cx="360" cy="5245560"/>
            </a:xfrm>
            <a:prstGeom prst="straightConnector1">
              <a:avLst/>
            </a:prstGeom>
            <a:ln w="9525">
              <a:solidFill>
                <a:srgbClr val="A14342"/>
              </a:solidFill>
              <a:round/>
            </a:ln>
          </p:spPr>
        </p:cxnSp>
        <p:cxnSp>
          <p:nvCxnSpPr>
            <p:cNvPr id="69" name="Google Shape;127;p25"/>
            <p:cNvCxnSpPr/>
            <p:nvPr/>
          </p:nvCxnSpPr>
          <p:spPr>
            <a:xfrm>
              <a:off x="8766720" y="360"/>
              <a:ext cx="360" cy="5245560"/>
            </a:xfrm>
            <a:prstGeom prst="straightConnector1">
              <a:avLst/>
            </a:prstGeom>
            <a:ln w="9525">
              <a:solidFill>
                <a:srgbClr val="A14342"/>
              </a:solidFill>
              <a:round/>
            </a:ln>
          </p:spPr>
        </p:cxnSp>
        <p:cxnSp>
          <p:nvCxnSpPr>
            <p:cNvPr id="70" name="Google Shape;128;p25"/>
            <p:cNvCxnSpPr/>
            <p:nvPr/>
          </p:nvCxnSpPr>
          <p:spPr>
            <a:xfrm>
              <a:off x="-6120" y="3843720"/>
              <a:ext cx="9175680" cy="360"/>
            </a:xfrm>
            <a:prstGeom prst="straightConnector1">
              <a:avLst/>
            </a:prstGeom>
            <a:ln w="9525">
              <a:solidFill>
                <a:srgbClr val="A14342"/>
              </a:solidFill>
              <a:round/>
            </a:ln>
          </p:spPr>
        </p:cxnSp>
      </p:grpSp>
      <p:sp>
        <p:nvSpPr>
          <p:cNvPr id="71" name="PlaceHolder 1"/>
          <p:cNvSpPr>
            <a:spLocks noGrp="1"/>
          </p:cNvSpPr>
          <p:nvPr>
            <p:ph type="title"/>
          </p:nvPr>
        </p:nvSpPr>
        <p:spPr>
          <a:xfrm>
            <a:off x="866880" y="619200"/>
            <a:ext cx="4638240" cy="2763337"/>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GB" sz="3500" u="sng" strike="noStrike" spc="-1" dirty="0" err="1">
                <a:solidFill>
                  <a:schemeClr val="dk2"/>
                </a:solidFill>
                <a:latin typeface="Anybody"/>
                <a:ea typeface="Anybody"/>
              </a:rPr>
              <a:t>SupplyProphet</a:t>
            </a:r>
            <a:r>
              <a:rPr lang="en-GB" sz="3500" b="0" strike="noStrike" spc="-1" dirty="0">
                <a:solidFill>
                  <a:schemeClr val="dk2"/>
                </a:solidFill>
                <a:latin typeface="Anybody"/>
                <a:ea typeface="Anybody"/>
              </a:rPr>
              <a:t>™:</a:t>
            </a:r>
            <a:br>
              <a:rPr lang="en-GB" sz="3500" b="0" strike="noStrike" spc="-1" dirty="0">
                <a:solidFill>
                  <a:schemeClr val="dk2"/>
                </a:solidFill>
                <a:latin typeface="Anybody"/>
                <a:ea typeface="Anybody"/>
              </a:rPr>
            </a:br>
            <a:br>
              <a:rPr lang="en-GB" sz="3500" b="0" strike="noStrike" spc="-1" dirty="0">
                <a:solidFill>
                  <a:schemeClr val="dk2"/>
                </a:solidFill>
                <a:latin typeface="Anybody"/>
                <a:ea typeface="Anybody"/>
              </a:rPr>
            </a:br>
            <a:r>
              <a:rPr lang="en-GB" sz="3200" b="0" strike="noStrike" spc="-1" dirty="0">
                <a:solidFill>
                  <a:schemeClr val="dk2"/>
                </a:solidFill>
                <a:latin typeface="Anybody"/>
                <a:ea typeface="Anybody"/>
              </a:rPr>
              <a:t>AI-Powered Sales Forecasting for </a:t>
            </a:r>
            <a:r>
              <a:rPr lang="en-GB" sz="3200" b="0" strike="noStrike" spc="-1" dirty="0" err="1">
                <a:solidFill>
                  <a:schemeClr val="dk2"/>
                </a:solidFill>
                <a:latin typeface="Anybody"/>
                <a:ea typeface="Anybody"/>
              </a:rPr>
              <a:t>Laitinelle</a:t>
            </a:r>
            <a:r>
              <a:rPr lang="en-GB" sz="3200" b="0" strike="noStrike" spc="-1" dirty="0">
                <a:solidFill>
                  <a:schemeClr val="dk2"/>
                </a:solidFill>
                <a:latin typeface="Anybody"/>
                <a:ea typeface="Anybody"/>
              </a:rPr>
              <a:t> Dairies™. </a:t>
            </a:r>
            <a:endParaRPr lang="fr-FR" sz="3200" b="0" strike="noStrike" spc="-1" dirty="0">
              <a:solidFill>
                <a:schemeClr val="dk1"/>
              </a:solidFill>
              <a:latin typeface="Arial"/>
            </a:endParaRPr>
          </a:p>
        </p:txBody>
      </p:sp>
      <p:sp>
        <p:nvSpPr>
          <p:cNvPr id="72" name="PlaceHolder 2"/>
          <p:cNvSpPr>
            <a:spLocks noGrp="1"/>
          </p:cNvSpPr>
          <p:nvPr>
            <p:ph type="subTitle"/>
          </p:nvPr>
        </p:nvSpPr>
        <p:spPr>
          <a:xfrm>
            <a:off x="754114" y="3494769"/>
            <a:ext cx="4751006" cy="1560090"/>
          </a:xfrm>
          <a:prstGeom prst="rect">
            <a:avLst/>
          </a:prstGeom>
          <a:solidFill>
            <a:schemeClr val="tx2">
              <a:lumMod val="40000"/>
              <a:lumOff val="60000"/>
            </a:schemeClr>
          </a:solidFill>
          <a:ln w="0">
            <a:noFill/>
          </a:ln>
        </p:spPr>
        <p:txBody>
          <a:bodyPr lIns="91440" tIns="91440" rIns="91440" bIns="91440" anchor="t">
            <a:noAutofit/>
          </a:bodyPr>
          <a:lstStyle/>
          <a:p>
            <a:pPr algn="ctr"/>
            <a:r>
              <a:rPr lang="en" sz="1400" b="0" strike="noStrike" spc="-1" dirty="0">
                <a:solidFill>
                  <a:schemeClr val="dk1"/>
                </a:solidFill>
                <a:latin typeface="Aptos" panose="020B0004020202020204" pitchFamily="34" charset="0"/>
                <a:ea typeface="Syncopate"/>
              </a:rPr>
              <a:t>Gomycode Data Scientist Certification 2025</a:t>
            </a:r>
            <a:endParaRPr lang="en-US" sz="1400" b="0" strike="noStrike" spc="-1" dirty="0">
              <a:solidFill>
                <a:srgbClr val="000000"/>
              </a:solidFill>
              <a:latin typeface="Aptos" panose="020B0004020202020204" pitchFamily="34" charset="0"/>
            </a:endParaRPr>
          </a:p>
          <a:p>
            <a:pPr indent="0" algn="ctr">
              <a:buNone/>
            </a:pPr>
            <a:r>
              <a:rPr lang="en-US" sz="1400" b="1" u="sng" strike="noStrike" spc="-1" dirty="0">
                <a:solidFill>
                  <a:schemeClr val="dk1"/>
                </a:solidFill>
                <a:latin typeface="Aptos" panose="020B0004020202020204" pitchFamily="34" charset="0"/>
                <a:ea typeface="Open Sans"/>
              </a:rPr>
              <a:t>Amira Benzine</a:t>
            </a:r>
          </a:p>
          <a:p>
            <a:pPr indent="0" algn="ctr">
              <a:buNone/>
            </a:pPr>
            <a:endParaRPr lang="en-US" sz="1400" b="0" strike="noStrike" spc="-1" dirty="0">
              <a:solidFill>
                <a:schemeClr val="dk1"/>
              </a:solidFill>
              <a:latin typeface="Aptos" panose="020B0004020202020204" pitchFamily="34" charset="0"/>
              <a:ea typeface="Open Sans"/>
            </a:endParaRPr>
          </a:p>
          <a:p>
            <a:pPr indent="0" algn="ctr">
              <a:buNone/>
            </a:pPr>
            <a:r>
              <a:rPr lang="en-US" sz="1400" spc="-1" dirty="0">
                <a:solidFill>
                  <a:schemeClr val="dk1"/>
                </a:solidFill>
                <a:latin typeface="Aptos" panose="020B0004020202020204" pitchFamily="34" charset="0"/>
                <a:ea typeface="Open Sans"/>
              </a:rPr>
              <a:t>Please visit my Public </a:t>
            </a:r>
            <a:r>
              <a:rPr lang="en-US" sz="1400" spc="-1" dirty="0" err="1">
                <a:solidFill>
                  <a:schemeClr val="dk1"/>
                </a:solidFill>
                <a:latin typeface="Aptos" panose="020B0004020202020204" pitchFamily="34" charset="0"/>
                <a:ea typeface="Open Sans"/>
              </a:rPr>
              <a:t>Github</a:t>
            </a:r>
            <a:r>
              <a:rPr lang="en-US" sz="1400" spc="-1" dirty="0">
                <a:solidFill>
                  <a:schemeClr val="dk1"/>
                </a:solidFill>
                <a:latin typeface="Aptos" panose="020B0004020202020204" pitchFamily="34" charset="0"/>
                <a:ea typeface="Open Sans"/>
              </a:rPr>
              <a:t> Repo to keep up with the </a:t>
            </a:r>
            <a:r>
              <a:rPr lang="en-US" sz="1400" spc="-1" dirty="0" err="1">
                <a:solidFill>
                  <a:schemeClr val="dk1"/>
                </a:solidFill>
                <a:latin typeface="Aptos" panose="020B0004020202020204" pitchFamily="34" charset="0"/>
                <a:ea typeface="Open Sans"/>
              </a:rPr>
              <a:t>powerpoint</a:t>
            </a:r>
            <a:r>
              <a:rPr lang="en-US" sz="1400" spc="-1" dirty="0">
                <a:solidFill>
                  <a:schemeClr val="dk1"/>
                </a:solidFill>
                <a:latin typeface="Aptos" panose="020B0004020202020204" pitchFamily="34" charset="0"/>
                <a:ea typeface="Open Sans"/>
              </a:rPr>
              <a:t>: </a:t>
            </a:r>
          </a:p>
          <a:p>
            <a:pPr indent="0" algn="ctr">
              <a:buNone/>
            </a:pPr>
            <a:endParaRPr lang="en-US" sz="1400" spc="-1" dirty="0">
              <a:solidFill>
                <a:schemeClr val="dk1"/>
              </a:solidFill>
              <a:latin typeface="Aptos" panose="020B0004020202020204" pitchFamily="34" charset="0"/>
              <a:ea typeface="Open Sans"/>
            </a:endParaRPr>
          </a:p>
          <a:p>
            <a:pPr indent="0" algn="ctr">
              <a:buNone/>
            </a:pPr>
            <a:r>
              <a:rPr lang="en-US" sz="1400" spc="-1" dirty="0">
                <a:solidFill>
                  <a:schemeClr val="dk1"/>
                </a:solidFill>
                <a:latin typeface="Aptos" panose="020B0004020202020204" pitchFamily="34" charset="0"/>
                <a:ea typeface="Open Sans"/>
              </a:rPr>
              <a:t>https://github.com/BluesIDK/SupplyProphet</a:t>
            </a:r>
            <a:endParaRPr lang="en-US" sz="1400" b="0" strike="noStrike" spc="-1" dirty="0">
              <a:solidFill>
                <a:schemeClr val="dk1"/>
              </a:solidFill>
              <a:latin typeface="Aptos" panose="020B0004020202020204" pitchFamily="34" charset="0"/>
              <a:ea typeface="Open Sans"/>
            </a:endParaRPr>
          </a:p>
        </p:txBody>
      </p:sp>
      <p:sp>
        <p:nvSpPr>
          <p:cNvPr id="73" name="Google Shape;131;p25"/>
          <p:cNvSpPr/>
          <p:nvPr/>
        </p:nvSpPr>
        <p:spPr>
          <a:xfrm>
            <a:off x="5683320" y="387720"/>
            <a:ext cx="3083400" cy="4755240"/>
          </a:xfrm>
          <a:prstGeom prst="round2SameRect">
            <a:avLst>
              <a:gd name="adj1" fmla="val 50000"/>
              <a:gd name="adj2" fmla="val 0"/>
            </a:avLst>
          </a:prstGeom>
          <a:blipFill rotWithShape="0">
            <a:blip r:embed="rId2"/>
            <a:srcRect/>
            <a:stretch/>
          </a:blipFill>
          <a:ln w="9525">
            <a:solidFill>
              <a:srgbClr val="A143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E7E43-3A8A-8324-F29D-AF01771F04AF}"/>
            </a:ext>
          </a:extLst>
        </p:cNvPr>
        <p:cNvGrpSpPr/>
        <p:nvPr/>
      </p:nvGrpSpPr>
      <p:grpSpPr>
        <a:xfrm>
          <a:off x="0" y="0"/>
          <a:ext cx="0" cy="0"/>
          <a:chOff x="0" y="0"/>
          <a:chExt cx="0" cy="0"/>
        </a:xfrm>
      </p:grpSpPr>
      <p:sp>
        <p:nvSpPr>
          <p:cNvPr id="74" name="PlaceHolder 1">
            <a:extLst>
              <a:ext uri="{FF2B5EF4-FFF2-40B4-BE49-F238E27FC236}">
                <a16:creationId xmlns:a16="http://schemas.microsoft.com/office/drawing/2014/main" id="{634FAE5F-4D11-1367-C3D2-A3FB5676C02D}"/>
              </a:ext>
            </a:extLst>
          </p:cNvPr>
          <p:cNvSpPr>
            <a:spLocks noGrp="1"/>
          </p:cNvSpPr>
          <p:nvPr>
            <p:ph type="title"/>
          </p:nvPr>
        </p:nvSpPr>
        <p:spPr>
          <a:xfrm>
            <a:off x="4832195" y="1204331"/>
            <a:ext cx="3215929" cy="631903"/>
          </a:xfrm>
          <a:prstGeom prst="rect">
            <a:avLst/>
          </a:prstGeom>
          <a:noFill/>
          <a:ln w="0">
            <a:noFill/>
          </a:ln>
        </p:spPr>
        <p:txBody>
          <a:bodyPr lIns="91440" tIns="91440" rIns="91440" bIns="91440" anchor="t">
            <a:noAutofit/>
          </a:bodyPr>
          <a:lstStyle/>
          <a:p>
            <a:pPr indent="0">
              <a:lnSpc>
                <a:spcPct val="100000"/>
              </a:lnSpc>
              <a:buNone/>
              <a:tabLst>
                <a:tab pos="0" algn="l"/>
              </a:tabLst>
            </a:pPr>
            <a:r>
              <a:rPr lang="en" sz="4000" b="1" strike="noStrike" spc="-1" dirty="0">
                <a:solidFill>
                  <a:schemeClr val="dk2"/>
                </a:solidFill>
                <a:latin typeface="Anybody"/>
                <a:ea typeface="Anybody"/>
              </a:rPr>
              <a:t>Introduction</a:t>
            </a:r>
            <a:endParaRPr lang="fr-FR" sz="4000" b="1" strike="noStrike" spc="-1" dirty="0">
              <a:solidFill>
                <a:schemeClr val="dk1"/>
              </a:solidFill>
              <a:latin typeface="Arial"/>
            </a:endParaRPr>
          </a:p>
        </p:txBody>
      </p:sp>
      <p:sp>
        <p:nvSpPr>
          <p:cNvPr id="75" name="PlaceHolder 2">
            <a:extLst>
              <a:ext uri="{FF2B5EF4-FFF2-40B4-BE49-F238E27FC236}">
                <a16:creationId xmlns:a16="http://schemas.microsoft.com/office/drawing/2014/main" id="{A545BB81-9D83-F403-1C21-3ACB2FDA82EB}"/>
              </a:ext>
            </a:extLst>
          </p:cNvPr>
          <p:cNvSpPr>
            <a:spLocks noGrp="1"/>
          </p:cNvSpPr>
          <p:nvPr>
            <p:ph type="subTitle"/>
          </p:nvPr>
        </p:nvSpPr>
        <p:spPr>
          <a:xfrm>
            <a:off x="3821151" y="2729659"/>
            <a:ext cx="5181600" cy="2280956"/>
          </a:xfrm>
          <a:prstGeom prst="rect">
            <a:avLst/>
          </a:prstGeom>
          <a:solidFill>
            <a:schemeClr val="tx2">
              <a:lumMod val="20000"/>
              <a:lumOff val="80000"/>
            </a:schemeClr>
          </a:solidFill>
          <a:ln w="0">
            <a:noFill/>
          </a:ln>
        </p:spPr>
        <p:txBody>
          <a:bodyPr lIns="91440" tIns="91440" rIns="91440" bIns="91440" anchor="t">
            <a:normAutofit fontScale="92500" lnSpcReduction="10000"/>
          </a:bodyPr>
          <a:lstStyle/>
          <a:p>
            <a:pPr algn="ctr">
              <a:lnSpc>
                <a:spcPct val="107000"/>
              </a:lnSpc>
              <a:spcAft>
                <a:spcPts val="800"/>
              </a:spcAft>
              <a:buNone/>
            </a:pPr>
            <a:r>
              <a:rPr lang="en-GB" sz="1800" b="1" kern="100" dirty="0">
                <a:effectLst/>
                <a:latin typeface="Aptos" panose="020B0004020202020204" pitchFamily="34" charset="0"/>
                <a:ea typeface="Aptos" panose="020B0004020202020204" pitchFamily="34" charset="0"/>
                <a:cs typeface="Arial" panose="020B0604020202020204" pitchFamily="34" charset="0"/>
              </a:rPr>
              <a:t>	</a:t>
            </a:r>
            <a:r>
              <a:rPr lang="en-GB" sz="1800" b="1" kern="100" dirty="0" err="1">
                <a:effectLst/>
                <a:latin typeface="Aptos" panose="020B0004020202020204" pitchFamily="34" charset="0"/>
                <a:ea typeface="Aptos" panose="020B0004020202020204" pitchFamily="34" charset="0"/>
                <a:cs typeface="Arial" panose="020B0604020202020204" pitchFamily="34" charset="0"/>
              </a:rPr>
              <a:t>SupplyProphet</a:t>
            </a:r>
            <a:r>
              <a:rPr lang="en-GB" sz="1800" b="1" kern="100" dirty="0">
                <a:effectLst/>
                <a:latin typeface="Aptos" panose="020B0004020202020204" pitchFamily="34" charset="0"/>
                <a:ea typeface="Aptos" panose="020B0004020202020204" pitchFamily="34" charset="0"/>
                <a:cs typeface="Arial" panose="020B0604020202020204" pitchFamily="34" charset="0"/>
              </a:rPr>
              <a:t>™</a:t>
            </a:r>
            <a:r>
              <a:rPr lang="en-GB" sz="1800" kern="100" dirty="0">
                <a:effectLst/>
                <a:latin typeface="Aptos" panose="020B0004020202020204" pitchFamily="34" charset="0"/>
                <a:ea typeface="Aptos" panose="020B0004020202020204" pitchFamily="34" charset="0"/>
                <a:cs typeface="Arial" panose="020B0604020202020204" pitchFamily="34" charset="0"/>
              </a:rPr>
              <a:t> is a machine learning project built for a fictional Algerian yogurt company, </a:t>
            </a:r>
            <a:r>
              <a:rPr lang="en-GB" sz="1800" b="1" kern="100" dirty="0" err="1">
                <a:effectLst/>
                <a:latin typeface="Aptos" panose="020B0004020202020204" pitchFamily="34" charset="0"/>
                <a:ea typeface="Aptos" panose="020B0004020202020204" pitchFamily="34" charset="0"/>
                <a:cs typeface="Arial" panose="020B0604020202020204" pitchFamily="34" charset="0"/>
              </a:rPr>
              <a:t>Laitinelle</a:t>
            </a:r>
            <a:r>
              <a:rPr lang="en-GB" sz="1800" b="1" kern="100" dirty="0">
                <a:effectLst/>
                <a:latin typeface="Aptos" panose="020B0004020202020204" pitchFamily="34" charset="0"/>
                <a:ea typeface="Aptos" panose="020B0004020202020204" pitchFamily="34" charset="0"/>
                <a:cs typeface="Arial" panose="020B0604020202020204" pitchFamily="34" charset="0"/>
              </a:rPr>
              <a:t> Dairies™</a:t>
            </a:r>
            <a:r>
              <a:rPr lang="en-GB" sz="1800" b="1" kern="100" dirty="0">
                <a:latin typeface="Aptos" panose="020B0004020202020204" pitchFamily="34" charset="0"/>
                <a:ea typeface="Aptos" panose="020B0004020202020204" pitchFamily="34" charset="0"/>
                <a:cs typeface="Arial" panose="020B0604020202020204" pitchFamily="34" charset="0"/>
              </a:rPr>
              <a:t>. </a:t>
            </a:r>
            <a:r>
              <a:rPr lang="en-GB" sz="1800" kern="100" dirty="0">
                <a:effectLst/>
                <a:latin typeface="Aptos" panose="020B0004020202020204" pitchFamily="34" charset="0"/>
                <a:ea typeface="Aptos" panose="020B0004020202020204" pitchFamily="34" charset="0"/>
                <a:cs typeface="Arial" panose="020B0604020202020204" pitchFamily="34" charset="0"/>
              </a:rPr>
              <a:t>It delivers a robust sales forecasting pipeline using </a:t>
            </a:r>
            <a:r>
              <a:rPr lang="en-GB" sz="1800" b="1" kern="100" dirty="0">
                <a:effectLst/>
                <a:latin typeface="Aptos" panose="020B0004020202020204" pitchFamily="34" charset="0"/>
                <a:ea typeface="Aptos" panose="020B0004020202020204" pitchFamily="34" charset="0"/>
                <a:cs typeface="Arial" panose="020B0604020202020204" pitchFamily="34" charset="0"/>
              </a:rPr>
              <a:t>Prophet</a:t>
            </a:r>
            <a:r>
              <a:rPr lang="en-GB" sz="1800" kern="100" dirty="0">
                <a:effectLst/>
                <a:latin typeface="Aptos" panose="020B0004020202020204" pitchFamily="34" charset="0"/>
                <a:ea typeface="Aptos" panose="020B0004020202020204" pitchFamily="34" charset="0"/>
                <a:cs typeface="Arial" panose="020B0604020202020204" pitchFamily="34" charset="0"/>
              </a:rPr>
              <a:t> and a lightweight supply chain insight (reorder alerts) to optimize inventory. The project blends technical depth, business impact, and a vibrant narrative to showcase data-driven decision-making.</a:t>
            </a:r>
          </a:p>
        </p:txBody>
      </p:sp>
      <p:pic>
        <p:nvPicPr>
          <p:cNvPr id="6" name="Google Shape;133;p32">
            <a:extLst>
              <a:ext uri="{FF2B5EF4-FFF2-40B4-BE49-F238E27FC236}">
                <a16:creationId xmlns:a16="http://schemas.microsoft.com/office/drawing/2014/main" id="{E3778316-70D3-9374-770E-287B3D1F9BCA}"/>
              </a:ext>
            </a:extLst>
          </p:cNvPr>
          <p:cNvPicPr/>
          <p:nvPr/>
        </p:nvPicPr>
        <p:blipFill>
          <a:blip r:embed="rId2"/>
          <a:srcRect t="3297" b="3290"/>
          <a:stretch/>
        </p:blipFill>
        <p:spPr>
          <a:xfrm>
            <a:off x="0" y="0"/>
            <a:ext cx="3605561" cy="5143501"/>
          </a:xfrm>
          <a:prstGeom prst="ellipse">
            <a:avLst/>
          </a:prstGeom>
          <a:ln w="12700">
            <a:solidFill>
              <a:schemeClr val="tx2"/>
            </a:solidFill>
          </a:ln>
        </p:spPr>
      </p:pic>
    </p:spTree>
    <p:extLst>
      <p:ext uri="{BB962C8B-B14F-4D97-AF65-F5344CB8AC3E}">
        <p14:creationId xmlns:p14="http://schemas.microsoft.com/office/powerpoint/2010/main" val="1820030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6FB9D-C34B-8580-688C-A19522472A31}"/>
            </a:ext>
          </a:extLst>
        </p:cNvPr>
        <p:cNvGrpSpPr/>
        <p:nvPr/>
      </p:nvGrpSpPr>
      <p:grpSpPr>
        <a:xfrm>
          <a:off x="0" y="0"/>
          <a:ext cx="0" cy="0"/>
          <a:chOff x="0" y="0"/>
          <a:chExt cx="0" cy="0"/>
        </a:xfrm>
      </p:grpSpPr>
      <p:grpSp>
        <p:nvGrpSpPr>
          <p:cNvPr id="67" name="Google Shape;125;p25">
            <a:extLst>
              <a:ext uri="{FF2B5EF4-FFF2-40B4-BE49-F238E27FC236}">
                <a16:creationId xmlns:a16="http://schemas.microsoft.com/office/drawing/2014/main" id="{FBB7825F-82FE-57ED-136D-694FD8DF4ED1}"/>
              </a:ext>
            </a:extLst>
          </p:cNvPr>
          <p:cNvGrpSpPr/>
          <p:nvPr/>
        </p:nvGrpSpPr>
        <p:grpSpPr>
          <a:xfrm>
            <a:off x="-6120" y="360"/>
            <a:ext cx="9175320" cy="5245200"/>
            <a:chOff x="-6120" y="360"/>
            <a:chExt cx="9175320" cy="5245200"/>
          </a:xfrm>
        </p:grpSpPr>
        <p:cxnSp>
          <p:nvCxnSpPr>
            <p:cNvPr id="68" name="Google Shape;126;p25">
              <a:extLst>
                <a:ext uri="{FF2B5EF4-FFF2-40B4-BE49-F238E27FC236}">
                  <a16:creationId xmlns:a16="http://schemas.microsoft.com/office/drawing/2014/main" id="{E90B019C-40E2-8366-B0FA-3F0E50551A87}"/>
                </a:ext>
              </a:extLst>
            </p:cNvPr>
            <p:cNvCxnSpPr/>
            <p:nvPr/>
          </p:nvCxnSpPr>
          <p:spPr>
            <a:xfrm>
              <a:off x="5682960" y="360"/>
              <a:ext cx="360" cy="5245560"/>
            </a:xfrm>
            <a:prstGeom prst="straightConnector1">
              <a:avLst/>
            </a:prstGeom>
            <a:ln w="9525">
              <a:solidFill>
                <a:srgbClr val="A14342"/>
              </a:solidFill>
              <a:round/>
            </a:ln>
          </p:spPr>
        </p:cxnSp>
        <p:cxnSp>
          <p:nvCxnSpPr>
            <p:cNvPr id="69" name="Google Shape;127;p25">
              <a:extLst>
                <a:ext uri="{FF2B5EF4-FFF2-40B4-BE49-F238E27FC236}">
                  <a16:creationId xmlns:a16="http://schemas.microsoft.com/office/drawing/2014/main" id="{93C85B16-8D7C-4549-A11E-E8907A80C846}"/>
                </a:ext>
              </a:extLst>
            </p:cNvPr>
            <p:cNvCxnSpPr/>
            <p:nvPr/>
          </p:nvCxnSpPr>
          <p:spPr>
            <a:xfrm>
              <a:off x="8766720" y="360"/>
              <a:ext cx="360" cy="5245560"/>
            </a:xfrm>
            <a:prstGeom prst="straightConnector1">
              <a:avLst/>
            </a:prstGeom>
            <a:ln w="9525">
              <a:solidFill>
                <a:srgbClr val="A14342"/>
              </a:solidFill>
              <a:round/>
            </a:ln>
          </p:spPr>
        </p:cxnSp>
        <p:cxnSp>
          <p:nvCxnSpPr>
            <p:cNvPr id="70" name="Google Shape;128;p25">
              <a:extLst>
                <a:ext uri="{FF2B5EF4-FFF2-40B4-BE49-F238E27FC236}">
                  <a16:creationId xmlns:a16="http://schemas.microsoft.com/office/drawing/2014/main" id="{5AE67E50-2A3D-BE42-EFFC-C9AEC588DD57}"/>
                </a:ext>
              </a:extLst>
            </p:cNvPr>
            <p:cNvCxnSpPr/>
            <p:nvPr/>
          </p:nvCxnSpPr>
          <p:spPr>
            <a:xfrm>
              <a:off x="-6120" y="3843720"/>
              <a:ext cx="9175680" cy="360"/>
            </a:xfrm>
            <a:prstGeom prst="straightConnector1">
              <a:avLst/>
            </a:prstGeom>
            <a:ln w="9525">
              <a:solidFill>
                <a:srgbClr val="A14342"/>
              </a:solidFill>
              <a:round/>
            </a:ln>
          </p:spPr>
        </p:cxnSp>
      </p:grpSp>
      <p:sp>
        <p:nvSpPr>
          <p:cNvPr id="72" name="PlaceHolder 2">
            <a:extLst>
              <a:ext uri="{FF2B5EF4-FFF2-40B4-BE49-F238E27FC236}">
                <a16:creationId xmlns:a16="http://schemas.microsoft.com/office/drawing/2014/main" id="{CAE2D7DA-BB2E-0062-2B08-6C91FAA3D759}"/>
              </a:ext>
            </a:extLst>
          </p:cNvPr>
          <p:cNvSpPr>
            <a:spLocks noGrp="1"/>
          </p:cNvSpPr>
          <p:nvPr>
            <p:ph type="subTitle"/>
          </p:nvPr>
        </p:nvSpPr>
        <p:spPr>
          <a:xfrm>
            <a:off x="753753" y="3994182"/>
            <a:ext cx="4638240" cy="993410"/>
          </a:xfrm>
          <a:prstGeom prst="rect">
            <a:avLst/>
          </a:prstGeom>
          <a:solidFill>
            <a:schemeClr val="tx1">
              <a:lumMod val="25000"/>
              <a:lumOff val="75000"/>
            </a:schemeClr>
          </a:solidFill>
          <a:ln w="0">
            <a:noFill/>
          </a:ln>
        </p:spPr>
        <p:txBody>
          <a:bodyPr lIns="91440" tIns="91440" rIns="91440" bIns="91440" anchor="t">
            <a:noAutofit/>
          </a:bodyPr>
          <a:lstStyle/>
          <a:p>
            <a:pPr marL="0" marR="0" lvl="0" indent="0" algn="ctr" defTabSz="914400" rtl="0" eaLnBrk="1" fontAlgn="auto" latinLnBrk="0" hangingPunct="1">
              <a:lnSpc>
                <a:spcPct val="107000"/>
              </a:lnSpc>
              <a:spcBef>
                <a:spcPts val="0"/>
              </a:spcBef>
              <a:spcAft>
                <a:spcPts val="800"/>
              </a:spcAft>
              <a:buClrTx/>
              <a:buSzTx/>
              <a:buFontTx/>
              <a:buNone/>
              <a:tabLst>
                <a:tab pos="457200" algn="l"/>
              </a:tabLst>
              <a:defRPr/>
            </a:pPr>
            <a:r>
              <a:rPr kumimoji="0" lang="en-GB" sz="1500" b="1" i="0" u="sng" strike="noStrike" kern="100" cap="none" spc="0" normalizeH="0" baseline="0" noProof="0" dirty="0">
                <a:ln>
                  <a:noFill/>
                </a:ln>
                <a:solidFill>
                  <a:srgbClr val="332E2A"/>
                </a:solidFill>
                <a:effectLst/>
                <a:uLnTx/>
                <a:uFillTx/>
                <a:latin typeface="Aptos" panose="020B0004020202020204" pitchFamily="34" charset="0"/>
                <a:ea typeface="Aptos" panose="020B0004020202020204" pitchFamily="34" charset="0"/>
                <a:cs typeface="Arial" panose="020B0604020202020204" pitchFamily="34" charset="0"/>
              </a:rPr>
              <a:t>Project Constraints</a:t>
            </a:r>
            <a:endParaRPr kumimoji="0" lang="en-GB" sz="1500" b="0" i="0" u="none" strike="noStrike" kern="100" cap="none" spc="0" normalizeH="0" baseline="0" noProof="0" dirty="0">
              <a:ln>
                <a:noFill/>
              </a:ln>
              <a:solidFill>
                <a:srgbClr val="332E2A"/>
              </a:solidFill>
              <a:effectLst/>
              <a:uLnTx/>
              <a:uFillTx/>
              <a:latin typeface="Aptos" panose="020B0004020202020204" pitchFamily="34" charset="0"/>
              <a:ea typeface="Aptos" panose="020B000402020202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800"/>
              </a:spcAft>
              <a:buClrTx/>
              <a:buSzTx/>
              <a:buFontTx/>
              <a:buNone/>
              <a:tabLst>
                <a:tab pos="457200" algn="l"/>
              </a:tabLst>
              <a:defRPr/>
            </a:pPr>
            <a:r>
              <a:rPr kumimoji="0" lang="en-GB" sz="1500" b="0" i="0" u="none" strike="noStrike" kern="100" cap="none" spc="0" normalizeH="0" baseline="0" noProof="0" dirty="0">
                <a:ln>
                  <a:noFill/>
                </a:ln>
                <a:solidFill>
                  <a:srgbClr val="332E2A"/>
                </a:solidFill>
                <a:effectLst/>
                <a:uLnTx/>
                <a:uFillTx/>
                <a:latin typeface="Aptos" panose="020B0004020202020204" pitchFamily="34" charset="0"/>
                <a:ea typeface="Aptos" panose="020B0004020202020204" pitchFamily="34" charset="0"/>
                <a:cs typeface="Arial" panose="020B0604020202020204" pitchFamily="34" charset="0"/>
              </a:rPr>
              <a:t> Built with synthetic data, beginner-friendly tools, and a focus on clarity for a non-technical jury.</a:t>
            </a:r>
          </a:p>
        </p:txBody>
      </p:sp>
      <p:sp>
        <p:nvSpPr>
          <p:cNvPr id="73" name="Google Shape;131;p25">
            <a:extLst>
              <a:ext uri="{FF2B5EF4-FFF2-40B4-BE49-F238E27FC236}">
                <a16:creationId xmlns:a16="http://schemas.microsoft.com/office/drawing/2014/main" id="{E717F5FA-822E-C8F9-C33B-A15E6B69FFAA}"/>
              </a:ext>
            </a:extLst>
          </p:cNvPr>
          <p:cNvSpPr/>
          <p:nvPr/>
        </p:nvSpPr>
        <p:spPr>
          <a:xfrm>
            <a:off x="5683320" y="387720"/>
            <a:ext cx="3083400" cy="4755240"/>
          </a:xfrm>
          <a:prstGeom prst="round2SameRect">
            <a:avLst>
              <a:gd name="adj1" fmla="val 50000"/>
              <a:gd name="adj2" fmla="val 0"/>
            </a:avLst>
          </a:prstGeom>
          <a:blipFill>
            <a:blip r:embed="rId2">
              <a:extLst>
                <a:ext uri="{28A0092B-C50C-407E-A947-70E740481C1C}">
                  <a14:useLocalDpi xmlns:a14="http://schemas.microsoft.com/office/drawing/2010/main" val="0"/>
                </a:ext>
              </a:extLst>
            </a:blip>
            <a:stretch>
              <a:fillRect/>
            </a:stretch>
          </a:blipFill>
          <a:ln w="9525">
            <a:solidFill>
              <a:srgbClr val="A143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dirty="0">
              <a:solidFill>
                <a:srgbClr val="000000"/>
              </a:solidFill>
              <a:latin typeface="OpenSymbol"/>
            </a:endParaRPr>
          </a:p>
        </p:txBody>
      </p:sp>
      <p:sp>
        <p:nvSpPr>
          <p:cNvPr id="3" name="TextBox 2">
            <a:extLst>
              <a:ext uri="{FF2B5EF4-FFF2-40B4-BE49-F238E27FC236}">
                <a16:creationId xmlns:a16="http://schemas.microsoft.com/office/drawing/2014/main" id="{F62DF6DC-246F-0146-89A2-F18F0A951537}"/>
              </a:ext>
            </a:extLst>
          </p:cNvPr>
          <p:cNvSpPr txBox="1"/>
          <p:nvPr/>
        </p:nvSpPr>
        <p:spPr>
          <a:xfrm>
            <a:off x="816542" y="938330"/>
            <a:ext cx="4463938" cy="2409378"/>
          </a:xfrm>
          <a:prstGeom prst="rect">
            <a:avLst/>
          </a:prstGeom>
          <a:solidFill>
            <a:schemeClr val="tx2">
              <a:lumMod val="20000"/>
              <a:lumOff val="80000"/>
            </a:schemeClr>
          </a:solidFill>
          <a:ln>
            <a:solidFill>
              <a:schemeClr val="tx2">
                <a:lumMod val="40000"/>
                <a:lumOff val="60000"/>
              </a:schemeClr>
            </a:solidFill>
          </a:ln>
        </p:spPr>
        <p:txBody>
          <a:bodyPr wrap="square">
            <a:spAutoFit/>
          </a:bodyPr>
          <a:lstStyle/>
          <a:p>
            <a:pPr>
              <a:lnSpc>
                <a:spcPct val="107000"/>
              </a:lnSpc>
              <a:spcAft>
                <a:spcPts val="800"/>
              </a:spcAft>
              <a:buNone/>
            </a:pPr>
            <a:r>
              <a:rPr lang="en-GB" sz="1500" kern="100" dirty="0">
                <a:effectLst/>
                <a:latin typeface="Aptos" panose="020B0004020202020204" pitchFamily="34" charset="0"/>
                <a:ea typeface="Aptos" panose="020B0004020202020204" pitchFamily="34" charset="0"/>
                <a:cs typeface="Arial" panose="020B0604020202020204" pitchFamily="34" charset="0"/>
              </a:rPr>
              <a:t>In the dairy industry, where yogurt has a short shelf life, accurate demand forecasting and inventory management are critical. Overstocking leads to spoilage; understocking means lost sales.</a:t>
            </a:r>
          </a:p>
          <a:p>
            <a:pPr>
              <a:lnSpc>
                <a:spcPct val="107000"/>
              </a:lnSpc>
              <a:spcAft>
                <a:spcPts val="800"/>
              </a:spcAft>
              <a:buNone/>
            </a:pPr>
            <a:r>
              <a:rPr lang="en-GB" sz="1500" kern="100" dirty="0">
                <a:effectLst/>
                <a:latin typeface="Aptos" panose="020B0004020202020204" pitchFamily="34" charset="0"/>
                <a:ea typeface="Aptos" panose="020B0004020202020204" pitchFamily="34" charset="0"/>
                <a:cs typeface="Arial" panose="020B0604020202020204" pitchFamily="34" charset="0"/>
              </a:rPr>
              <a:t> </a:t>
            </a:r>
            <a:r>
              <a:rPr lang="en-GB" sz="1500" b="1" kern="100" dirty="0" err="1">
                <a:effectLst/>
                <a:latin typeface="Aptos" panose="020B0004020202020204" pitchFamily="34" charset="0"/>
                <a:ea typeface="Aptos" panose="020B0004020202020204" pitchFamily="34" charset="0"/>
                <a:cs typeface="Arial" panose="020B0604020202020204" pitchFamily="34" charset="0"/>
              </a:rPr>
              <a:t>SupplyProphet</a:t>
            </a:r>
            <a:r>
              <a:rPr lang="en-GB" sz="1500" b="1" kern="100" dirty="0">
                <a:effectLst/>
                <a:latin typeface="Aptos" panose="020B0004020202020204" pitchFamily="34" charset="0"/>
                <a:ea typeface="Aptos" panose="020B0004020202020204" pitchFamily="34" charset="0"/>
                <a:cs typeface="Arial" panose="020B0604020202020204" pitchFamily="34" charset="0"/>
              </a:rPr>
              <a:t>™</a:t>
            </a:r>
            <a:r>
              <a:rPr lang="en-GB" sz="1500" kern="100" dirty="0">
                <a:effectLst/>
                <a:latin typeface="Aptos" panose="020B0004020202020204" pitchFamily="34" charset="0"/>
                <a:ea typeface="Aptos" panose="020B0004020202020204" pitchFamily="34" charset="0"/>
                <a:cs typeface="Arial" panose="020B0604020202020204" pitchFamily="34" charset="0"/>
              </a:rPr>
              <a:t> simulates real-world challenges faced by Algerian businesses, offering a blueprint for cost savings and efficiency. It’s not just about yogurt—it’s about empowering data-driven decisions in perishable goods markets.</a:t>
            </a:r>
          </a:p>
        </p:txBody>
      </p:sp>
    </p:spTree>
    <p:extLst>
      <p:ext uri="{BB962C8B-B14F-4D97-AF65-F5344CB8AC3E}">
        <p14:creationId xmlns:p14="http://schemas.microsoft.com/office/powerpoint/2010/main" val="972272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4488819" y="133815"/>
            <a:ext cx="4134082" cy="1015628"/>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4000" b="1" strike="noStrike" spc="-1" dirty="0">
                <a:solidFill>
                  <a:schemeClr val="dk2"/>
                </a:solidFill>
                <a:latin typeface="Anybody"/>
                <a:ea typeface="Anybody"/>
              </a:rPr>
              <a:t>Brand Background</a:t>
            </a:r>
            <a:endParaRPr lang="fr-FR" sz="4000" b="1" strike="noStrike" spc="-1" dirty="0">
              <a:solidFill>
                <a:schemeClr val="dk1"/>
              </a:solidFill>
              <a:latin typeface="Arial"/>
            </a:endParaRPr>
          </a:p>
        </p:txBody>
      </p:sp>
      <p:sp>
        <p:nvSpPr>
          <p:cNvPr id="78" name="Google Shape;170;p29"/>
          <p:cNvSpPr/>
          <p:nvPr/>
        </p:nvSpPr>
        <p:spPr>
          <a:xfrm>
            <a:off x="628560" y="387720"/>
            <a:ext cx="3083400" cy="4755240"/>
          </a:xfrm>
          <a:prstGeom prst="round2SameRect">
            <a:avLst>
              <a:gd name="adj1" fmla="val 16667"/>
              <a:gd name="adj2" fmla="val 0"/>
            </a:avLst>
          </a:prstGeom>
          <a:blipFill rotWithShape="0">
            <a:blip r:embed="rId2"/>
            <a:srcRect/>
            <a:stretch/>
          </a:blipFill>
          <a:ln w="9525">
            <a:solidFill>
              <a:srgbClr val="A143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cxnSp>
        <p:nvCxnSpPr>
          <p:cNvPr id="79" name="Google Shape;171;p29"/>
          <p:cNvCxnSpPr/>
          <p:nvPr/>
        </p:nvCxnSpPr>
        <p:spPr>
          <a:xfrm>
            <a:off x="3712320" y="360"/>
            <a:ext cx="360" cy="5245560"/>
          </a:xfrm>
          <a:prstGeom prst="straightConnector1">
            <a:avLst/>
          </a:prstGeom>
          <a:ln w="9525">
            <a:solidFill>
              <a:srgbClr val="A14342"/>
            </a:solidFill>
            <a:round/>
          </a:ln>
        </p:spPr>
      </p:cxnSp>
      <p:sp>
        <p:nvSpPr>
          <p:cNvPr id="3" name="TextBox 2">
            <a:extLst>
              <a:ext uri="{FF2B5EF4-FFF2-40B4-BE49-F238E27FC236}">
                <a16:creationId xmlns:a16="http://schemas.microsoft.com/office/drawing/2014/main" id="{AB497709-5A68-A290-9D13-FDFD6046520C}"/>
              </a:ext>
            </a:extLst>
          </p:cNvPr>
          <p:cNvSpPr txBox="1"/>
          <p:nvPr/>
        </p:nvSpPr>
        <p:spPr>
          <a:xfrm>
            <a:off x="4073744" y="1369549"/>
            <a:ext cx="4964232" cy="3450304"/>
          </a:xfrm>
          <a:prstGeom prst="rect">
            <a:avLst/>
          </a:prstGeom>
          <a:solidFill>
            <a:schemeClr val="tx1">
              <a:lumMod val="25000"/>
              <a:lumOff val="75000"/>
            </a:schemeClr>
          </a:solidFill>
        </p:spPr>
        <p:txBody>
          <a:bodyPr wrap="square">
            <a:spAutoFit/>
          </a:bodyPr>
          <a:lstStyle/>
          <a:p>
            <a:pPr>
              <a:lnSpc>
                <a:spcPct val="107000"/>
              </a:lnSpc>
              <a:spcAft>
                <a:spcPts val="800"/>
              </a:spcAft>
              <a:buNone/>
            </a:pPr>
            <a:r>
              <a:rPr lang="en-GB" sz="1400" b="1" u="sng" kern="100" dirty="0" err="1">
                <a:effectLst/>
                <a:latin typeface="Aptos" panose="020B0004020202020204" pitchFamily="34" charset="0"/>
                <a:ea typeface="Aptos" panose="020B0004020202020204" pitchFamily="34" charset="0"/>
                <a:cs typeface="Arial" panose="020B0604020202020204" pitchFamily="34" charset="0"/>
              </a:rPr>
              <a:t>Laitinelle</a:t>
            </a:r>
            <a:r>
              <a:rPr lang="en-GB" sz="1400" b="1" u="sng" kern="100" dirty="0">
                <a:effectLst/>
                <a:latin typeface="Aptos" panose="020B0004020202020204" pitchFamily="34" charset="0"/>
                <a:ea typeface="Aptos" panose="020B0004020202020204" pitchFamily="34" charset="0"/>
                <a:cs typeface="Arial" panose="020B0604020202020204" pitchFamily="34" charset="0"/>
              </a:rPr>
              <a:t> Dairies™:</a:t>
            </a:r>
          </a:p>
          <a:p>
            <a:pPr>
              <a:lnSpc>
                <a:spcPct val="107000"/>
              </a:lnSpc>
              <a:spcAft>
                <a:spcPts val="800"/>
              </a:spcAft>
              <a:buNone/>
            </a:pPr>
            <a:r>
              <a:rPr lang="en-GB" sz="1400" kern="100" dirty="0">
                <a:latin typeface="Aptos" panose="020B0004020202020204" pitchFamily="34" charset="0"/>
                <a:ea typeface="Aptos" panose="020B0004020202020204" pitchFamily="34" charset="0"/>
                <a:cs typeface="Arial" panose="020B0604020202020204" pitchFamily="34" charset="0"/>
              </a:rPr>
              <a:t>W</a:t>
            </a:r>
            <a:r>
              <a:rPr lang="en-GB" sz="1400" kern="100" dirty="0">
                <a:effectLst/>
                <a:latin typeface="Aptos" panose="020B0004020202020204" pitchFamily="34" charset="0"/>
                <a:ea typeface="Aptos" panose="020B0004020202020204" pitchFamily="34" charset="0"/>
                <a:cs typeface="Arial" panose="020B0604020202020204" pitchFamily="34" charset="0"/>
              </a:rPr>
              <a:t>as founded in 2018, producing premium probiotic yogurts under the </a:t>
            </a:r>
            <a:r>
              <a:rPr lang="en-GB" sz="1400" i="1" kern="100" dirty="0">
                <a:effectLst/>
                <a:latin typeface="Aptos" panose="020B0004020202020204" pitchFamily="34" charset="0"/>
                <a:ea typeface="Aptos" panose="020B0004020202020204" pitchFamily="34" charset="0"/>
                <a:cs typeface="Arial" panose="020B0604020202020204" pitchFamily="34" charset="0"/>
              </a:rPr>
              <a:t>Yaourt </a:t>
            </a:r>
            <a:r>
              <a:rPr lang="en-GB" sz="1400" i="1" kern="100" dirty="0" err="1">
                <a:effectLst/>
                <a:latin typeface="Aptos" panose="020B0004020202020204" pitchFamily="34" charset="0"/>
                <a:ea typeface="Aptos" panose="020B0004020202020204" pitchFamily="34" charset="0"/>
                <a:cs typeface="Arial" panose="020B0604020202020204" pitchFamily="34" charset="0"/>
              </a:rPr>
              <a:t>Fraîcheur</a:t>
            </a:r>
            <a:r>
              <a:rPr lang="en-GB" sz="1400" i="1" kern="100" dirty="0">
                <a:effectLst/>
                <a:latin typeface="Aptos" panose="020B0004020202020204" pitchFamily="34" charset="0"/>
                <a:ea typeface="Aptos" panose="020B0004020202020204" pitchFamily="34" charset="0"/>
                <a:cs typeface="Arial" panose="020B0604020202020204" pitchFamily="34" charset="0"/>
              </a:rPr>
              <a:t> </a:t>
            </a:r>
            <a:r>
              <a:rPr lang="en-GB" sz="1400" i="1" kern="100" dirty="0" err="1">
                <a:effectLst/>
                <a:latin typeface="Aptos" panose="020B0004020202020204" pitchFamily="34" charset="0"/>
                <a:ea typeface="Aptos" panose="020B0004020202020204" pitchFamily="34" charset="0"/>
                <a:cs typeface="Arial" panose="020B0604020202020204" pitchFamily="34" charset="0"/>
              </a:rPr>
              <a:t>D’Eté</a:t>
            </a:r>
            <a:r>
              <a:rPr lang="en-GB" sz="1400" kern="100" dirty="0">
                <a:effectLst/>
                <a:latin typeface="Aptos" panose="020B0004020202020204" pitchFamily="34" charset="0"/>
                <a:ea typeface="Aptos" panose="020B0004020202020204" pitchFamily="34" charset="0"/>
                <a:cs typeface="Arial" panose="020B0604020202020204" pitchFamily="34" charset="0"/>
              </a:rPr>
              <a:t> line. Operating in urban </a:t>
            </a:r>
            <a:r>
              <a:rPr lang="en-GB" sz="1400" kern="100" dirty="0" err="1">
                <a:effectLst/>
                <a:latin typeface="Aptos" panose="020B0004020202020204" pitchFamily="34" charset="0"/>
                <a:ea typeface="Aptos" panose="020B0004020202020204" pitchFamily="34" charset="0"/>
                <a:cs typeface="Arial" panose="020B0604020202020204" pitchFamily="34" charset="0"/>
              </a:rPr>
              <a:t>centers</a:t>
            </a:r>
            <a:r>
              <a:rPr lang="en-GB" sz="1400" kern="100" dirty="0">
                <a:effectLst/>
                <a:latin typeface="Aptos" panose="020B0004020202020204" pitchFamily="34" charset="0"/>
                <a:ea typeface="Aptos" panose="020B0004020202020204" pitchFamily="34" charset="0"/>
                <a:cs typeface="Arial" panose="020B0604020202020204" pitchFamily="34" charset="0"/>
              </a:rPr>
              <a:t> (Algiers, Oran, Constantine, Blida), it’s a boutique brand with a Mediterranean soul.</a:t>
            </a:r>
          </a:p>
          <a:p>
            <a:pPr>
              <a:lnSpc>
                <a:spcPct val="107000"/>
              </a:lnSpc>
              <a:spcAft>
                <a:spcPts val="800"/>
              </a:spcAft>
              <a:buNone/>
            </a:pPr>
            <a:r>
              <a:rPr lang="en-GB" sz="1400" b="1" u="sng" kern="100" dirty="0">
                <a:latin typeface="Aptos" panose="020B0004020202020204" pitchFamily="34" charset="0"/>
                <a:ea typeface="Aptos" panose="020B0004020202020204" pitchFamily="34" charset="0"/>
                <a:cs typeface="Arial" panose="020B0604020202020204" pitchFamily="34" charset="0"/>
              </a:rPr>
              <a:t>Product: </a:t>
            </a:r>
          </a:p>
          <a:p>
            <a:pPr>
              <a:lnSpc>
                <a:spcPct val="107000"/>
              </a:lnSpc>
              <a:spcAft>
                <a:spcPts val="800"/>
              </a:spcAft>
              <a:buNone/>
            </a:pPr>
            <a:r>
              <a:rPr lang="en-GB" sz="1400" dirty="0">
                <a:effectLst/>
                <a:latin typeface="Aptos" panose="020B0004020202020204" pitchFamily="34" charset="0"/>
                <a:ea typeface="Aptos" panose="020B0004020202020204" pitchFamily="34" charset="0"/>
                <a:cs typeface="Arial" panose="020B0604020202020204" pitchFamily="34" charset="0"/>
              </a:rPr>
              <a:t>Luxurious probiotic yogurts in glass jars, infused with Mediterranean herbs (mint, basil).</a:t>
            </a:r>
            <a:endParaRPr lang="en-GB" sz="1400" kern="100" dirty="0">
              <a:latin typeface="Aptos" panose="020B0004020202020204" pitchFamily="34" charset="0"/>
              <a:ea typeface="Aptos" panose="020B0004020202020204" pitchFamily="34" charset="0"/>
              <a:cs typeface="Arial" panose="020B0604020202020204" pitchFamily="34" charset="0"/>
            </a:endParaRPr>
          </a:p>
          <a:p>
            <a:pPr>
              <a:lnSpc>
                <a:spcPct val="107000"/>
              </a:lnSpc>
              <a:spcAft>
                <a:spcPts val="800"/>
              </a:spcAft>
              <a:buNone/>
            </a:pPr>
            <a:r>
              <a:rPr lang="en-GB" sz="1400" b="1" u="sng" kern="100" dirty="0">
                <a:effectLst/>
                <a:latin typeface="Aptos" panose="020B0004020202020204" pitchFamily="34" charset="0"/>
                <a:ea typeface="Aptos" panose="020B0004020202020204" pitchFamily="34" charset="0"/>
                <a:cs typeface="Arial" panose="020B0604020202020204" pitchFamily="34" charset="0"/>
              </a:rPr>
              <a:t>CEO: Madame Zineb Belkacem</a:t>
            </a:r>
            <a:endParaRPr lang="en-GB" sz="1400" kern="100" dirty="0">
              <a:effectLst/>
              <a:latin typeface="Aptos" panose="020B0004020202020204" pitchFamily="34" charset="0"/>
              <a:ea typeface="Aptos" panose="020B0004020202020204" pitchFamily="34" charset="0"/>
              <a:cs typeface="Arial" panose="020B0604020202020204" pitchFamily="34" charset="0"/>
            </a:endParaRPr>
          </a:p>
          <a:p>
            <a:pPr lvl="0">
              <a:lnSpc>
                <a:spcPct val="107000"/>
              </a:lnSpc>
              <a:spcAft>
                <a:spcPts val="800"/>
              </a:spcAft>
              <a:buSzPts val="1000"/>
              <a:tabLst>
                <a:tab pos="457200" algn="l"/>
              </a:tabLst>
            </a:pPr>
            <a:r>
              <a:rPr lang="en-GB" sz="1400" dirty="0">
                <a:effectLst/>
                <a:latin typeface="Aptos" panose="020B0004020202020204" pitchFamily="34" charset="0"/>
                <a:ea typeface="Aptos" panose="020B0004020202020204" pitchFamily="34" charset="0"/>
                <a:cs typeface="Arial" panose="020B0604020202020204" pitchFamily="34" charset="0"/>
              </a:rPr>
              <a:t>an Algerian-French food scientist </a:t>
            </a:r>
            <a:r>
              <a:rPr lang="en-GB" sz="1400" kern="100" dirty="0">
                <a:effectLst/>
                <a:latin typeface="Aptos" panose="020B0004020202020204" pitchFamily="34" charset="0"/>
                <a:ea typeface="Aptos" panose="020B0004020202020204" pitchFamily="34" charset="0"/>
                <a:cs typeface="Arial" panose="020B0604020202020204" pitchFamily="34" charset="0"/>
              </a:rPr>
              <a:t>Trained in food science at Sorbonne, returned to Algeria to revolutionize dairy.</a:t>
            </a:r>
          </a:p>
          <a:p>
            <a:pPr>
              <a:lnSpc>
                <a:spcPct val="107000"/>
              </a:lnSpc>
              <a:spcAft>
                <a:spcPts val="800"/>
              </a:spcAft>
              <a:buNone/>
            </a:pPr>
            <a:endParaRPr lang="en-GB" sz="1300" kern="100" dirty="0">
              <a:effectLst/>
              <a:latin typeface="Aptos" panose="020B0004020202020204" pitchFamily="34" charset="0"/>
              <a:ea typeface="Aptos" panose="020B00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701658" y="-182918"/>
            <a:ext cx="4688099" cy="570638"/>
          </a:xfrm>
          <a:prstGeom prst="rect">
            <a:avLst/>
          </a:prstGeom>
          <a:noFill/>
          <a:ln w="0">
            <a:noFill/>
          </a:ln>
        </p:spPr>
        <p:txBody>
          <a:bodyPr lIns="91440" tIns="91440" rIns="91440" bIns="91440" anchor="t">
            <a:noAutofit/>
          </a:bodyPr>
          <a:lstStyle/>
          <a:p>
            <a:pPr indent="0">
              <a:lnSpc>
                <a:spcPct val="100000"/>
              </a:lnSpc>
              <a:buNone/>
              <a:tabLst>
                <a:tab pos="0" algn="l"/>
              </a:tabLst>
            </a:pPr>
            <a:r>
              <a:rPr lang="en" sz="4000" b="1" strike="noStrike" spc="-1" dirty="0">
                <a:solidFill>
                  <a:schemeClr val="dk2"/>
                </a:solidFill>
                <a:latin typeface="Anybody"/>
                <a:ea typeface="Anybody"/>
              </a:rPr>
              <a:t>Business Challenges</a:t>
            </a:r>
            <a:endParaRPr lang="fr-FR" sz="4000" b="1" strike="noStrike" spc="-1" dirty="0">
              <a:solidFill>
                <a:schemeClr val="dk1"/>
              </a:solidFill>
              <a:latin typeface="Arial"/>
            </a:endParaRPr>
          </a:p>
        </p:txBody>
      </p:sp>
      <p:sp>
        <p:nvSpPr>
          <p:cNvPr id="82" name="Google Shape;178;p30"/>
          <p:cNvSpPr/>
          <p:nvPr/>
        </p:nvSpPr>
        <p:spPr>
          <a:xfrm>
            <a:off x="5520600" y="387720"/>
            <a:ext cx="3083400" cy="4755240"/>
          </a:xfrm>
          <a:prstGeom prst="roundRect">
            <a:avLst>
              <a:gd name="adj" fmla="val 50000"/>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grpSp>
        <p:nvGrpSpPr>
          <p:cNvPr id="83" name="Google Shape;179;p30"/>
          <p:cNvGrpSpPr/>
          <p:nvPr/>
        </p:nvGrpSpPr>
        <p:grpSpPr>
          <a:xfrm>
            <a:off x="5520600" y="360"/>
            <a:ext cx="3083760" cy="5245200"/>
            <a:chOff x="5520600" y="360"/>
            <a:chExt cx="3083760" cy="5245200"/>
          </a:xfrm>
        </p:grpSpPr>
        <p:cxnSp>
          <p:nvCxnSpPr>
            <p:cNvPr id="84" name="Google Shape;180;p30"/>
            <p:cNvCxnSpPr/>
            <p:nvPr/>
          </p:nvCxnSpPr>
          <p:spPr>
            <a:xfrm>
              <a:off x="5520600" y="360"/>
              <a:ext cx="360" cy="5245560"/>
            </a:xfrm>
            <a:prstGeom prst="straightConnector1">
              <a:avLst/>
            </a:prstGeom>
            <a:ln w="9525">
              <a:solidFill>
                <a:srgbClr val="A14342"/>
              </a:solidFill>
              <a:round/>
            </a:ln>
          </p:spPr>
        </p:cxnSp>
        <p:cxnSp>
          <p:nvCxnSpPr>
            <p:cNvPr id="85" name="Google Shape;181;p30"/>
            <p:cNvCxnSpPr/>
            <p:nvPr/>
          </p:nvCxnSpPr>
          <p:spPr>
            <a:xfrm>
              <a:off x="8604360" y="360"/>
              <a:ext cx="360" cy="5245560"/>
            </a:xfrm>
            <a:prstGeom prst="straightConnector1">
              <a:avLst/>
            </a:prstGeom>
            <a:ln w="9525">
              <a:solidFill>
                <a:srgbClr val="A14342"/>
              </a:solidFill>
              <a:round/>
            </a:ln>
          </p:spPr>
        </p:cxnSp>
      </p:grpSp>
      <p:sp>
        <p:nvSpPr>
          <p:cNvPr id="3" name="TextBox 2">
            <a:extLst>
              <a:ext uri="{FF2B5EF4-FFF2-40B4-BE49-F238E27FC236}">
                <a16:creationId xmlns:a16="http://schemas.microsoft.com/office/drawing/2014/main" id="{763C7AD3-CD83-5BF6-91F8-4D3B6489BD64}"/>
              </a:ext>
            </a:extLst>
          </p:cNvPr>
          <p:cNvSpPr txBox="1"/>
          <p:nvPr/>
        </p:nvSpPr>
        <p:spPr>
          <a:xfrm>
            <a:off x="334536" y="660212"/>
            <a:ext cx="4594302" cy="2105128"/>
          </a:xfrm>
          <a:prstGeom prst="rect">
            <a:avLst/>
          </a:prstGeom>
          <a:solidFill>
            <a:schemeClr val="tx2">
              <a:lumMod val="20000"/>
              <a:lumOff val="80000"/>
            </a:schemeClr>
          </a:solidFill>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GB" sz="1300" b="1" kern="100" dirty="0">
                <a:effectLst/>
                <a:latin typeface="Aptos" panose="020B0004020202020204" pitchFamily="34" charset="0"/>
                <a:ea typeface="Aptos" panose="020B0004020202020204" pitchFamily="34" charset="0"/>
                <a:cs typeface="Arial" panose="020B0604020202020204" pitchFamily="34" charset="0"/>
              </a:rPr>
              <a:t>Demand Volatility</a:t>
            </a:r>
            <a:r>
              <a:rPr lang="en-GB" sz="1300" kern="100" dirty="0">
                <a:effectLst/>
                <a:latin typeface="Aptos" panose="020B0004020202020204" pitchFamily="34" charset="0"/>
                <a:ea typeface="Aptos" panose="020B0004020202020204" pitchFamily="34" charset="0"/>
                <a:cs typeface="Arial" panose="020B0604020202020204" pitchFamily="34" charset="0"/>
              </a:rPr>
              <a:t>: Sales fluctuate due to promotions, weather, and holidays.</a:t>
            </a:r>
          </a:p>
          <a:p>
            <a:pPr marL="342900" lvl="0" indent="-342900">
              <a:lnSpc>
                <a:spcPct val="107000"/>
              </a:lnSpc>
              <a:spcAft>
                <a:spcPts val="800"/>
              </a:spcAft>
              <a:buSzPts val="1000"/>
              <a:buFont typeface="Symbol" panose="05050102010706020507" pitchFamily="18" charset="2"/>
              <a:buChar char=""/>
              <a:tabLst>
                <a:tab pos="457200" algn="l"/>
              </a:tabLst>
            </a:pPr>
            <a:r>
              <a:rPr lang="en-GB" sz="1300" b="1" kern="100" dirty="0">
                <a:effectLst/>
                <a:latin typeface="Aptos" panose="020B0004020202020204" pitchFamily="34" charset="0"/>
                <a:ea typeface="Aptos" panose="020B0004020202020204" pitchFamily="34" charset="0"/>
                <a:cs typeface="Arial" panose="020B0604020202020204" pitchFamily="34" charset="0"/>
              </a:rPr>
              <a:t>Perishability</a:t>
            </a:r>
            <a:r>
              <a:rPr lang="en-GB" sz="1300" kern="100" dirty="0">
                <a:effectLst/>
                <a:latin typeface="Aptos" panose="020B0004020202020204" pitchFamily="34" charset="0"/>
                <a:ea typeface="Aptos" panose="020B0004020202020204" pitchFamily="34" charset="0"/>
                <a:cs typeface="Arial" panose="020B0604020202020204" pitchFamily="34" charset="0"/>
              </a:rPr>
              <a:t>: Yogurt’s short shelf life (14 days) demands precise inventory planning.</a:t>
            </a:r>
          </a:p>
          <a:p>
            <a:pPr marL="342900" lvl="0" indent="-342900">
              <a:lnSpc>
                <a:spcPct val="107000"/>
              </a:lnSpc>
              <a:spcAft>
                <a:spcPts val="800"/>
              </a:spcAft>
              <a:buSzPts val="1000"/>
              <a:buFont typeface="Symbol" panose="05050102010706020507" pitchFamily="18" charset="2"/>
              <a:buChar char=""/>
              <a:tabLst>
                <a:tab pos="457200" algn="l"/>
              </a:tabLst>
            </a:pPr>
            <a:r>
              <a:rPr lang="en-GB" sz="1300" b="1" kern="100" dirty="0">
                <a:effectLst/>
                <a:latin typeface="Aptos" panose="020B0004020202020204" pitchFamily="34" charset="0"/>
                <a:ea typeface="Aptos" panose="020B0004020202020204" pitchFamily="34" charset="0"/>
                <a:cs typeface="Arial" panose="020B0604020202020204" pitchFamily="34" charset="0"/>
              </a:rPr>
              <a:t>Logistics</a:t>
            </a:r>
            <a:r>
              <a:rPr lang="en-GB" sz="1300" kern="100" dirty="0">
                <a:effectLst/>
                <a:latin typeface="Aptos" panose="020B0004020202020204" pitchFamily="34" charset="0"/>
                <a:ea typeface="Aptos" panose="020B0004020202020204" pitchFamily="34" charset="0"/>
                <a:cs typeface="Arial" panose="020B0604020202020204" pitchFamily="34" charset="0"/>
              </a:rPr>
              <a:t>: Variable supplier lead times (2–7 days) complicate restocking.</a:t>
            </a:r>
          </a:p>
          <a:p>
            <a:pPr marL="342900" lvl="0" indent="-342900">
              <a:lnSpc>
                <a:spcPct val="107000"/>
              </a:lnSpc>
              <a:spcAft>
                <a:spcPts val="800"/>
              </a:spcAft>
              <a:buSzPts val="1000"/>
              <a:buFont typeface="Symbol" panose="05050102010706020507" pitchFamily="18" charset="2"/>
              <a:buChar char=""/>
              <a:tabLst>
                <a:tab pos="457200" algn="l"/>
              </a:tabLst>
            </a:pPr>
            <a:r>
              <a:rPr lang="en-GB" sz="1300" b="1" kern="100" dirty="0">
                <a:effectLst/>
                <a:latin typeface="Aptos" panose="020B0004020202020204" pitchFamily="34" charset="0"/>
                <a:ea typeface="Aptos" panose="020B0004020202020204" pitchFamily="34" charset="0"/>
                <a:cs typeface="Arial" panose="020B0604020202020204" pitchFamily="34" charset="0"/>
              </a:rPr>
              <a:t>Profitability</a:t>
            </a:r>
            <a:r>
              <a:rPr lang="en-GB" sz="1300" kern="100" dirty="0">
                <a:effectLst/>
                <a:latin typeface="Aptos" panose="020B0004020202020204" pitchFamily="34" charset="0"/>
                <a:ea typeface="Aptos" panose="020B0004020202020204" pitchFamily="34" charset="0"/>
                <a:cs typeface="Arial" panose="020B0604020202020204" pitchFamily="34" charset="0"/>
              </a:rPr>
              <a:t>: Balancing production costs with waste reduction.</a:t>
            </a:r>
          </a:p>
        </p:txBody>
      </p:sp>
      <p:sp>
        <p:nvSpPr>
          <p:cNvPr id="5" name="TextBox 4">
            <a:extLst>
              <a:ext uri="{FF2B5EF4-FFF2-40B4-BE49-F238E27FC236}">
                <a16:creationId xmlns:a16="http://schemas.microsoft.com/office/drawing/2014/main" id="{831F84DE-0178-E3B9-0749-1AF05C1FE7A7}"/>
              </a:ext>
            </a:extLst>
          </p:cNvPr>
          <p:cNvSpPr txBox="1"/>
          <p:nvPr/>
        </p:nvSpPr>
        <p:spPr>
          <a:xfrm>
            <a:off x="334536" y="2958628"/>
            <a:ext cx="4799046" cy="1891095"/>
          </a:xfrm>
          <a:prstGeom prst="rect">
            <a:avLst/>
          </a:prstGeom>
          <a:solidFill>
            <a:schemeClr val="bg2"/>
          </a:solidFill>
        </p:spPr>
        <p:txBody>
          <a:bodyPr wrap="square">
            <a:spAutoFit/>
          </a:bodyPr>
          <a:lstStyle/>
          <a:p>
            <a:pPr algn="ctr">
              <a:lnSpc>
                <a:spcPct val="107000"/>
              </a:lnSpc>
              <a:spcAft>
                <a:spcPts val="800"/>
              </a:spcAft>
              <a:buNone/>
              <a:tabLst>
                <a:tab pos="1737360" algn="l"/>
              </a:tabLst>
            </a:pPr>
            <a:r>
              <a:rPr lang="en-GB" sz="1300" b="1" u="sng" kern="100" dirty="0">
                <a:effectLst/>
                <a:latin typeface="Aptos" panose="020B0004020202020204" pitchFamily="34" charset="0"/>
                <a:ea typeface="Aptos" panose="020B0004020202020204" pitchFamily="34" charset="0"/>
                <a:cs typeface="Arial" panose="020B0604020202020204" pitchFamily="34" charset="0"/>
              </a:rPr>
              <a:t>Competitors (Fictional)</a:t>
            </a:r>
            <a:endParaRPr lang="en-GB" sz="1300" kern="100" dirty="0">
              <a:effectLst/>
              <a:latin typeface="Aptos" panose="020B0004020202020204" pitchFamily="34" charset="0"/>
              <a:ea typeface="Aptos" panose="020B0004020202020204" pitchFamily="34" charset="0"/>
              <a:cs typeface="Arial" panose="020B0604020202020204" pitchFamily="34" charset="0"/>
            </a:endParaRPr>
          </a:p>
          <a:p>
            <a:pPr>
              <a:lnSpc>
                <a:spcPct val="107000"/>
              </a:lnSpc>
              <a:spcAft>
                <a:spcPts val="800"/>
              </a:spcAft>
              <a:buNone/>
              <a:tabLst>
                <a:tab pos="1737360" algn="l"/>
              </a:tabLst>
            </a:pPr>
            <a:r>
              <a:rPr lang="en-GB" sz="1300" b="1" kern="100" dirty="0" err="1">
                <a:effectLst/>
                <a:latin typeface="Aptos" panose="020B0004020202020204" pitchFamily="34" charset="0"/>
                <a:ea typeface="Aptos" panose="020B0004020202020204" pitchFamily="34" charset="0"/>
                <a:cs typeface="Arial" panose="020B0604020202020204" pitchFamily="34" charset="0"/>
              </a:rPr>
              <a:t>Yoghurto</a:t>
            </a:r>
            <a:r>
              <a:rPr lang="en-GB" sz="1300" kern="100" dirty="0">
                <a:effectLst/>
                <a:latin typeface="Aptos" panose="020B0004020202020204" pitchFamily="34" charset="0"/>
                <a:ea typeface="Aptos" panose="020B0004020202020204" pitchFamily="34" charset="0"/>
                <a:cs typeface="Arial" panose="020B0604020202020204" pitchFamily="34" charset="0"/>
              </a:rPr>
              <a:t>: Mass-market brand, cheap but bland, dominates supermarkets.</a:t>
            </a:r>
          </a:p>
          <a:p>
            <a:pPr>
              <a:lnSpc>
                <a:spcPct val="107000"/>
              </a:lnSpc>
              <a:spcAft>
                <a:spcPts val="800"/>
              </a:spcAft>
              <a:buNone/>
              <a:tabLst>
                <a:tab pos="1737360" algn="l"/>
              </a:tabLst>
            </a:pPr>
            <a:r>
              <a:rPr lang="en-GB" sz="1300" b="1" kern="100" dirty="0" err="1">
                <a:effectLst/>
                <a:latin typeface="Aptos" panose="020B0004020202020204" pitchFamily="34" charset="0"/>
                <a:ea typeface="Aptos" panose="020B0004020202020204" pitchFamily="34" charset="0"/>
                <a:cs typeface="Arial" panose="020B0604020202020204" pitchFamily="34" charset="0"/>
              </a:rPr>
              <a:t>MédinaMilk</a:t>
            </a:r>
            <a:r>
              <a:rPr lang="en-GB" sz="1300" kern="100" dirty="0">
                <a:effectLst/>
                <a:latin typeface="Aptos" panose="020B0004020202020204" pitchFamily="34" charset="0"/>
                <a:ea typeface="Aptos" panose="020B0004020202020204" pitchFamily="34" charset="0"/>
                <a:cs typeface="Arial" panose="020B0604020202020204" pitchFamily="34" charset="0"/>
              </a:rPr>
              <a:t>: Artisanal rival, focuses on rural markets, less tech-savvy.</a:t>
            </a:r>
          </a:p>
          <a:p>
            <a:pPr>
              <a:lnSpc>
                <a:spcPct val="107000"/>
              </a:lnSpc>
              <a:spcAft>
                <a:spcPts val="800"/>
              </a:spcAft>
              <a:tabLst>
                <a:tab pos="1737360" algn="l"/>
              </a:tabLst>
            </a:pPr>
            <a:r>
              <a:rPr lang="en-GB" sz="1300" b="1" u="sng" kern="100" dirty="0" err="1">
                <a:effectLst/>
                <a:latin typeface="Aptos" panose="020B0004020202020204" pitchFamily="34" charset="0"/>
                <a:ea typeface="Aptos" panose="020B0004020202020204" pitchFamily="34" charset="0"/>
                <a:cs typeface="Arial" panose="020B0604020202020204" pitchFamily="34" charset="0"/>
              </a:rPr>
              <a:t>SupplyProphet</a:t>
            </a:r>
            <a:r>
              <a:rPr lang="en-GB" sz="1300" b="1" u="sng" kern="100" dirty="0">
                <a:effectLst/>
                <a:latin typeface="Aptos" panose="020B0004020202020204" pitchFamily="34" charset="0"/>
                <a:ea typeface="Aptos" panose="020B0004020202020204" pitchFamily="34" charset="0"/>
                <a:cs typeface="Arial" panose="020B0604020202020204" pitchFamily="34" charset="0"/>
              </a:rPr>
              <a:t>™</a:t>
            </a:r>
            <a:r>
              <a:rPr lang="en-GB" sz="1300" kern="100" dirty="0">
                <a:effectLst/>
                <a:latin typeface="Aptos" panose="020B0004020202020204" pitchFamily="34" charset="0"/>
                <a:ea typeface="Aptos" panose="020B0004020202020204" pitchFamily="34" charset="0"/>
                <a:cs typeface="Arial" panose="020B0604020202020204" pitchFamily="34" charset="0"/>
              </a:rPr>
              <a:t> gives </a:t>
            </a:r>
            <a:r>
              <a:rPr lang="en-GB" sz="1300" kern="100" dirty="0" err="1">
                <a:effectLst/>
                <a:latin typeface="Aptos" panose="020B0004020202020204" pitchFamily="34" charset="0"/>
                <a:ea typeface="Aptos" panose="020B0004020202020204" pitchFamily="34" charset="0"/>
                <a:cs typeface="Arial" panose="020B0604020202020204" pitchFamily="34" charset="0"/>
              </a:rPr>
              <a:t>Laitinelle</a:t>
            </a:r>
            <a:r>
              <a:rPr lang="en-GB" sz="1300" kern="100" dirty="0">
                <a:effectLst/>
                <a:latin typeface="Aptos" panose="020B0004020202020204" pitchFamily="34" charset="0"/>
                <a:ea typeface="Aptos" panose="020B0004020202020204" pitchFamily="34" charset="0"/>
                <a:cs typeface="Arial" panose="020B0604020202020204" pitchFamily="34" charset="0"/>
              </a:rPr>
              <a:t> an edge over </a:t>
            </a:r>
            <a:r>
              <a:rPr lang="en-GB" sz="1300" kern="100" dirty="0" err="1">
                <a:effectLst/>
                <a:latin typeface="Aptos" panose="020B0004020202020204" pitchFamily="34" charset="0"/>
                <a:ea typeface="Aptos" panose="020B0004020202020204" pitchFamily="34" charset="0"/>
                <a:cs typeface="Arial" panose="020B0604020202020204" pitchFamily="34" charset="0"/>
              </a:rPr>
              <a:t>Yoghurto’s</a:t>
            </a:r>
            <a:r>
              <a:rPr lang="en-GB" sz="1300" kern="100" dirty="0">
                <a:effectLst/>
                <a:latin typeface="Aptos" panose="020B0004020202020204" pitchFamily="34" charset="0"/>
                <a:ea typeface="Aptos" panose="020B0004020202020204" pitchFamily="34" charset="0"/>
                <a:cs typeface="Arial" panose="020B0604020202020204" pitchFamily="34" charset="0"/>
              </a:rPr>
              <a:t> volume-driven model and </a:t>
            </a:r>
            <a:r>
              <a:rPr lang="en-GB" sz="1300" kern="100" dirty="0" err="1">
                <a:effectLst/>
                <a:latin typeface="Aptos" panose="020B0004020202020204" pitchFamily="34" charset="0"/>
                <a:ea typeface="Aptos" panose="020B0004020202020204" pitchFamily="34" charset="0"/>
                <a:cs typeface="Arial" panose="020B0604020202020204" pitchFamily="34" charset="0"/>
              </a:rPr>
              <a:t>MédinaMilk’s</a:t>
            </a:r>
            <a:r>
              <a:rPr lang="en-GB" sz="1300" kern="100" dirty="0">
                <a:effectLst/>
                <a:latin typeface="Aptos" panose="020B0004020202020204" pitchFamily="34" charset="0"/>
                <a:ea typeface="Aptos" panose="020B0004020202020204" pitchFamily="34" charset="0"/>
                <a:cs typeface="Arial" panose="020B0604020202020204" pitchFamily="34" charset="0"/>
              </a:rPr>
              <a:t> outdated logistics.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4734495" y="-126380"/>
            <a:ext cx="3397741" cy="669822"/>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4000" b="1" strike="noStrike" spc="-1" dirty="0">
                <a:solidFill>
                  <a:schemeClr val="dk2"/>
                </a:solidFill>
                <a:latin typeface="Anybody"/>
                <a:ea typeface="Anybody"/>
              </a:rPr>
              <a:t>Dataset Insights</a:t>
            </a:r>
            <a:endParaRPr lang="fr-FR" sz="4000" b="1" strike="noStrike" spc="-1" dirty="0">
              <a:solidFill>
                <a:schemeClr val="dk1"/>
              </a:solidFill>
              <a:latin typeface="Arial"/>
            </a:endParaRPr>
          </a:p>
        </p:txBody>
      </p:sp>
      <p:cxnSp>
        <p:nvCxnSpPr>
          <p:cNvPr id="93" name="Google Shape;171;p29"/>
          <p:cNvCxnSpPr/>
          <p:nvPr/>
        </p:nvCxnSpPr>
        <p:spPr>
          <a:xfrm>
            <a:off x="3712320" y="360"/>
            <a:ext cx="360" cy="5245560"/>
          </a:xfrm>
          <a:prstGeom prst="straightConnector1">
            <a:avLst/>
          </a:prstGeom>
          <a:ln w="9525">
            <a:solidFill>
              <a:srgbClr val="A14342"/>
            </a:solidFill>
            <a:round/>
          </a:ln>
        </p:spPr>
      </p:cxnSp>
      <p:sp>
        <p:nvSpPr>
          <p:cNvPr id="2" name="Google Shape;178;p30">
            <a:extLst>
              <a:ext uri="{FF2B5EF4-FFF2-40B4-BE49-F238E27FC236}">
                <a16:creationId xmlns:a16="http://schemas.microsoft.com/office/drawing/2014/main" id="{C0A7B6E0-535F-6D5D-0183-1510499E172A}"/>
              </a:ext>
            </a:extLst>
          </p:cNvPr>
          <p:cNvSpPr/>
          <p:nvPr/>
        </p:nvSpPr>
        <p:spPr>
          <a:xfrm>
            <a:off x="619200" y="388260"/>
            <a:ext cx="3083400" cy="4755240"/>
          </a:xfrm>
          <a:prstGeom prst="roundRect">
            <a:avLst>
              <a:gd name="adj" fmla="val 50000"/>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3" name="TextBox 2">
            <a:extLst>
              <a:ext uri="{FF2B5EF4-FFF2-40B4-BE49-F238E27FC236}">
                <a16:creationId xmlns:a16="http://schemas.microsoft.com/office/drawing/2014/main" id="{D6E45071-81C8-61F7-7510-25EA123CB062}"/>
              </a:ext>
            </a:extLst>
          </p:cNvPr>
          <p:cNvSpPr txBox="1"/>
          <p:nvPr/>
        </p:nvSpPr>
        <p:spPr>
          <a:xfrm>
            <a:off x="4240292" y="1443458"/>
            <a:ext cx="4594302" cy="2359364"/>
          </a:xfrm>
          <a:prstGeom prst="rect">
            <a:avLst/>
          </a:prstGeom>
          <a:solidFill>
            <a:schemeClr val="bg2">
              <a:lumMod val="90000"/>
            </a:schemeClr>
          </a:solidFill>
        </p:spPr>
        <p:txBody>
          <a:bodyPr wrap="square">
            <a:spAutoFit/>
          </a:bodyPr>
          <a:lstStyle/>
          <a:p>
            <a:pPr>
              <a:lnSpc>
                <a:spcPct val="107000"/>
              </a:lnSpc>
              <a:spcAft>
                <a:spcPts val="800"/>
              </a:spcAft>
              <a:buNone/>
            </a:pPr>
            <a:r>
              <a:rPr lang="en-GB" sz="1800" kern="100" dirty="0">
                <a:effectLst/>
                <a:latin typeface="Aptos" panose="020B0004020202020204" pitchFamily="34" charset="0"/>
                <a:ea typeface="Aptos" panose="020B0004020202020204" pitchFamily="34" charset="0"/>
                <a:cs typeface="Arial" panose="020B0604020202020204" pitchFamily="34" charset="0"/>
              </a:rPr>
              <a:t>The project uses a </a:t>
            </a:r>
            <a:r>
              <a:rPr lang="en-GB" sz="1800" b="1" kern="100" dirty="0">
                <a:effectLst/>
                <a:latin typeface="Aptos" panose="020B0004020202020204" pitchFamily="34" charset="0"/>
                <a:ea typeface="Aptos" panose="020B0004020202020204" pitchFamily="34" charset="0"/>
                <a:cs typeface="Arial" panose="020B0604020202020204" pitchFamily="34" charset="0"/>
              </a:rPr>
              <a:t>synthetic dataset</a:t>
            </a:r>
            <a:r>
              <a:rPr lang="en-GB" sz="1800" kern="100" dirty="0">
                <a:effectLst/>
                <a:latin typeface="Aptos" panose="020B0004020202020204" pitchFamily="34" charset="0"/>
                <a:ea typeface="Aptos" panose="020B0004020202020204" pitchFamily="34" charset="0"/>
                <a:cs typeface="Arial" panose="020B0604020202020204" pitchFamily="34" charset="0"/>
              </a:rPr>
              <a:t> simulating daily sales and inventory data for </a:t>
            </a:r>
            <a:r>
              <a:rPr lang="en-GB" sz="1800" kern="100" dirty="0" err="1">
                <a:effectLst/>
                <a:latin typeface="Aptos" panose="020B0004020202020204" pitchFamily="34" charset="0"/>
                <a:ea typeface="Aptos" panose="020B0004020202020204" pitchFamily="34" charset="0"/>
                <a:cs typeface="Arial" panose="020B0604020202020204" pitchFamily="34" charset="0"/>
              </a:rPr>
              <a:t>Laitinelle</a:t>
            </a:r>
            <a:r>
              <a:rPr lang="en-GB" sz="1800" kern="100" dirty="0">
                <a:effectLst/>
                <a:latin typeface="Aptos" panose="020B0004020202020204" pitchFamily="34" charset="0"/>
                <a:ea typeface="Aptos" panose="020B0004020202020204" pitchFamily="34" charset="0"/>
                <a:cs typeface="Arial" panose="020B0604020202020204" pitchFamily="34" charset="0"/>
              </a:rPr>
              <a:t> (Jan 1–June 30, 2024). Generated with Python, it mimics real-world patterns while keeping the project accessible.</a:t>
            </a:r>
          </a:p>
          <a:p>
            <a:pPr>
              <a:lnSpc>
                <a:spcPct val="107000"/>
              </a:lnSpc>
              <a:spcAft>
                <a:spcPts val="800"/>
              </a:spcAft>
              <a:buNone/>
            </a:pPr>
            <a:r>
              <a:rPr lang="en-GB" sz="1800" kern="100" dirty="0">
                <a:effectLst/>
                <a:latin typeface="Aptos" panose="020B0004020202020204" pitchFamily="34" charset="0"/>
                <a:ea typeface="Aptos" panose="020B0004020202020204" pitchFamily="34" charset="0"/>
                <a:cs typeface="Arial" panose="020B0604020202020204" pitchFamily="34" charset="0"/>
              </a:rPr>
              <a:t> </a:t>
            </a:r>
          </a:p>
          <a:p>
            <a:pPr>
              <a:lnSpc>
                <a:spcPct val="107000"/>
              </a:lnSpc>
              <a:spcAft>
                <a:spcPts val="800"/>
              </a:spcAft>
            </a:pPr>
            <a:r>
              <a:rPr lang="en-GB" sz="1800" b="1" kern="100" dirty="0">
                <a:effectLst/>
                <a:latin typeface="Segoe UI Emoji" panose="020B0502040204020203" pitchFamily="34" charset="0"/>
                <a:ea typeface="Aptos" panose="020B0004020202020204" pitchFamily="34" charset="0"/>
                <a:cs typeface="Segoe UI Emoji" panose="020B0502040204020203" pitchFamily="34" charset="0"/>
              </a:rPr>
              <a:t>📁</a:t>
            </a:r>
            <a:r>
              <a:rPr lang="en-GB" sz="1800" b="1" kern="100" dirty="0">
                <a:effectLst/>
                <a:latin typeface="Aptos" panose="020B0004020202020204" pitchFamily="34" charset="0"/>
                <a:ea typeface="Aptos" panose="020B0004020202020204" pitchFamily="34" charset="0"/>
                <a:cs typeface="Arial" panose="020B0604020202020204" pitchFamily="34" charset="0"/>
              </a:rPr>
              <a:t> Dataset: latinelle_yogurt_data.csv</a:t>
            </a:r>
            <a:endParaRPr lang="en-GB" sz="1800" kern="100" dirty="0">
              <a:effectLst/>
              <a:latin typeface="Aptos" panose="020B0004020202020204" pitchFamily="34" charset="0"/>
              <a:ea typeface="Aptos" panose="020B00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832F286-09B5-84A0-97B7-5B425D69E3ED}"/>
              </a:ext>
            </a:extLst>
          </p:cNvPr>
          <p:cNvGraphicFramePr>
            <a:graphicFrameLocks noGrp="1"/>
          </p:cNvGraphicFramePr>
          <p:nvPr>
            <p:extLst>
              <p:ext uri="{D42A27DB-BD31-4B8C-83A1-F6EECF244321}">
                <p14:modId xmlns:p14="http://schemas.microsoft.com/office/powerpoint/2010/main" val="3759559944"/>
              </p:ext>
            </p:extLst>
          </p:nvPr>
        </p:nvGraphicFramePr>
        <p:xfrm>
          <a:off x="3880624" y="0"/>
          <a:ext cx="5263376" cy="5144044"/>
        </p:xfrm>
        <a:graphic>
          <a:graphicData uri="http://schemas.openxmlformats.org/drawingml/2006/table">
            <a:tbl>
              <a:tblPr firstRow="1" firstCol="1" bandRow="1">
                <a:tableStyleId>{5C22544A-7EE6-4342-B048-85BDC9FD1C3A}</a:tableStyleId>
              </a:tblPr>
              <a:tblGrid>
                <a:gridCol w="1315845">
                  <a:extLst>
                    <a:ext uri="{9D8B030D-6E8A-4147-A177-3AD203B41FA5}">
                      <a16:colId xmlns:a16="http://schemas.microsoft.com/office/drawing/2014/main" val="1856502349"/>
                    </a:ext>
                  </a:extLst>
                </a:gridCol>
                <a:gridCol w="957870">
                  <a:extLst>
                    <a:ext uri="{9D8B030D-6E8A-4147-A177-3AD203B41FA5}">
                      <a16:colId xmlns:a16="http://schemas.microsoft.com/office/drawing/2014/main" val="269426705"/>
                    </a:ext>
                  </a:extLst>
                </a:gridCol>
                <a:gridCol w="1673816">
                  <a:extLst>
                    <a:ext uri="{9D8B030D-6E8A-4147-A177-3AD203B41FA5}">
                      <a16:colId xmlns:a16="http://schemas.microsoft.com/office/drawing/2014/main" val="851655297"/>
                    </a:ext>
                  </a:extLst>
                </a:gridCol>
                <a:gridCol w="1315845">
                  <a:extLst>
                    <a:ext uri="{9D8B030D-6E8A-4147-A177-3AD203B41FA5}">
                      <a16:colId xmlns:a16="http://schemas.microsoft.com/office/drawing/2014/main" val="1289327715"/>
                    </a:ext>
                  </a:extLst>
                </a:gridCol>
              </a:tblGrid>
              <a:tr h="435872">
                <a:tc>
                  <a:txBody>
                    <a:bodyPr/>
                    <a:lstStyle/>
                    <a:p>
                      <a:pPr algn="ctr">
                        <a:lnSpc>
                          <a:spcPct val="107000"/>
                        </a:lnSpc>
                        <a:spcAft>
                          <a:spcPts val="800"/>
                        </a:spcAft>
                        <a:buNone/>
                      </a:pPr>
                      <a:r>
                        <a:rPr lang="en-GB" sz="1200" u="sng" kern="100" dirty="0">
                          <a:effectLst/>
                        </a:rPr>
                        <a:t>Column</a:t>
                      </a:r>
                      <a:endParaRPr lang="en-GB" sz="1200" u="sng"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u="sng" kern="100" dirty="0">
                          <a:effectLst/>
                        </a:rPr>
                        <a:t>Type</a:t>
                      </a:r>
                      <a:endParaRPr lang="en-GB" sz="1200" u="sng"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nSpc>
                          <a:spcPct val="107000"/>
                        </a:lnSpc>
                        <a:spcAft>
                          <a:spcPts val="800"/>
                        </a:spcAft>
                        <a:buNone/>
                      </a:pPr>
                      <a:r>
                        <a:rPr lang="en-GB" sz="1200" u="sng" kern="100" dirty="0">
                          <a:effectLst/>
                        </a:rPr>
                        <a:t>Description</a:t>
                      </a:r>
                      <a:endParaRPr lang="en-GB" sz="1200" u="sng"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u="sng" kern="100" dirty="0">
                          <a:effectLst/>
                        </a:rPr>
                        <a:t>Business Logic</a:t>
                      </a:r>
                      <a:endParaRPr lang="en-GB" sz="1200" u="sng"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extLst>
                  <a:ext uri="{0D108BD9-81ED-4DB2-BD59-A6C34878D82A}">
                    <a16:rowId xmlns:a16="http://schemas.microsoft.com/office/drawing/2014/main" val="1936827192"/>
                  </a:ext>
                </a:extLst>
              </a:tr>
              <a:tr h="651454">
                <a:tc>
                  <a:txBody>
                    <a:bodyPr/>
                    <a:lstStyle/>
                    <a:p>
                      <a:pPr algn="ctr">
                        <a:lnSpc>
                          <a:spcPct val="107000"/>
                        </a:lnSpc>
                        <a:spcAft>
                          <a:spcPts val="800"/>
                        </a:spcAft>
                        <a:buNone/>
                      </a:pPr>
                      <a:r>
                        <a:rPr lang="en-GB" sz="1200" kern="100" dirty="0">
                          <a:effectLst/>
                        </a:rPr>
                        <a:t>ds</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b="0" kern="100" dirty="0">
                          <a:effectLst/>
                        </a:rPr>
                        <a:t>Date</a:t>
                      </a:r>
                      <a:endParaRPr lang="en-GB" sz="1200" b="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kern="100" dirty="0">
                          <a:effectLst/>
                        </a:rPr>
                        <a:t>Date of sales entry (YYYY-MM-DD)</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b="0" kern="100" dirty="0">
                          <a:effectLst/>
                        </a:rPr>
                        <a:t>Tracks daily sales for time-series analysis.</a:t>
                      </a:r>
                      <a:endParaRPr lang="en-GB" sz="1200" b="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extLst>
                  <a:ext uri="{0D108BD9-81ED-4DB2-BD59-A6C34878D82A}">
                    <a16:rowId xmlns:a16="http://schemas.microsoft.com/office/drawing/2014/main" val="1290832479"/>
                  </a:ext>
                </a:extLst>
              </a:tr>
              <a:tr h="436158">
                <a:tc>
                  <a:txBody>
                    <a:bodyPr/>
                    <a:lstStyle/>
                    <a:p>
                      <a:pPr algn="ctr">
                        <a:lnSpc>
                          <a:spcPct val="107000"/>
                        </a:lnSpc>
                        <a:spcAft>
                          <a:spcPts val="800"/>
                        </a:spcAft>
                        <a:buNone/>
                      </a:pPr>
                      <a:r>
                        <a:rPr lang="en-GB" sz="1200" kern="100" dirty="0" err="1">
                          <a:effectLst/>
                        </a:rPr>
                        <a:t>units_sold</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kern="100" dirty="0">
                          <a:effectLst/>
                        </a:rPr>
                        <a:t>Integer</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kern="100">
                          <a:effectLst/>
                        </a:rPr>
                        <a:t>Number of yogurt units sold</a:t>
                      </a:r>
                      <a:endParaRPr lang="en-GB" sz="1200" kern="10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b="0" kern="100" dirty="0">
                          <a:effectLst/>
                        </a:rPr>
                        <a:t>Primary target for forecasting.</a:t>
                      </a:r>
                      <a:endParaRPr lang="en-GB" sz="1200" b="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extLst>
                  <a:ext uri="{0D108BD9-81ED-4DB2-BD59-A6C34878D82A}">
                    <a16:rowId xmlns:a16="http://schemas.microsoft.com/office/drawing/2014/main" val="1676303203"/>
                  </a:ext>
                </a:extLst>
              </a:tr>
              <a:tr h="651454">
                <a:tc>
                  <a:txBody>
                    <a:bodyPr/>
                    <a:lstStyle/>
                    <a:p>
                      <a:pPr algn="ctr">
                        <a:lnSpc>
                          <a:spcPct val="107000"/>
                        </a:lnSpc>
                        <a:spcAft>
                          <a:spcPts val="800"/>
                        </a:spcAft>
                        <a:buNone/>
                      </a:pPr>
                      <a:r>
                        <a:rPr lang="en-GB" sz="1200" kern="100" dirty="0" err="1">
                          <a:effectLst/>
                        </a:rPr>
                        <a:t>price_per_unit_dzd</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kern="100" dirty="0">
                          <a:effectLst/>
                        </a:rPr>
                        <a:t>Integer</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kern="100" dirty="0">
                          <a:effectLst/>
                        </a:rPr>
                        <a:t>Price per unit (100 DZD)</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b="0" kern="100" dirty="0">
                          <a:effectLst/>
                        </a:rPr>
                        <a:t>Fixed for simplicity; used to compute </a:t>
                      </a:r>
                      <a:r>
                        <a:rPr lang="en-GB" sz="1200" b="0" kern="100" dirty="0" err="1">
                          <a:effectLst/>
                        </a:rPr>
                        <a:t>sales_dzd</a:t>
                      </a:r>
                      <a:r>
                        <a:rPr lang="en-GB" sz="1200" b="0" kern="100" dirty="0">
                          <a:effectLst/>
                        </a:rPr>
                        <a:t>.</a:t>
                      </a:r>
                      <a:endParaRPr lang="en-GB" sz="1200" b="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extLst>
                  <a:ext uri="{0D108BD9-81ED-4DB2-BD59-A6C34878D82A}">
                    <a16:rowId xmlns:a16="http://schemas.microsoft.com/office/drawing/2014/main" val="3380842244"/>
                  </a:ext>
                </a:extLst>
              </a:tr>
              <a:tr h="558572">
                <a:tc>
                  <a:txBody>
                    <a:bodyPr/>
                    <a:lstStyle/>
                    <a:p>
                      <a:pPr algn="ctr">
                        <a:lnSpc>
                          <a:spcPct val="107000"/>
                        </a:lnSpc>
                        <a:spcAft>
                          <a:spcPts val="800"/>
                        </a:spcAft>
                        <a:buNone/>
                      </a:pPr>
                      <a:r>
                        <a:rPr lang="en-GB" sz="1200" kern="100" dirty="0" err="1">
                          <a:effectLst/>
                        </a:rPr>
                        <a:t>sales_dzd</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kern="100" dirty="0">
                          <a:effectLst/>
                        </a:rPr>
                        <a:t>Float</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kern="100" dirty="0">
                          <a:effectLst/>
                        </a:rPr>
                        <a:t>Total revenue (</a:t>
                      </a:r>
                      <a:r>
                        <a:rPr lang="en-GB" sz="1200" kern="100" dirty="0" err="1">
                          <a:effectLst/>
                        </a:rPr>
                        <a:t>units_sold</a:t>
                      </a:r>
                      <a:r>
                        <a:rPr lang="en-GB" sz="1200" kern="100" dirty="0">
                          <a:effectLst/>
                        </a:rPr>
                        <a:t> × </a:t>
                      </a:r>
                      <a:r>
                        <a:rPr lang="en-GB" sz="1200" kern="100" dirty="0" err="1">
                          <a:effectLst/>
                        </a:rPr>
                        <a:t>price_per_unit_dzd</a:t>
                      </a:r>
                      <a:r>
                        <a:rPr lang="en-GB" sz="1200" kern="100" dirty="0">
                          <a:effectLst/>
                        </a:rPr>
                        <a:t>)</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b="0" kern="100" dirty="0">
                          <a:effectLst/>
                        </a:rPr>
                        <a:t>Tracks financial impact.</a:t>
                      </a:r>
                      <a:endParaRPr lang="en-GB" sz="1200" b="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extLst>
                  <a:ext uri="{0D108BD9-81ED-4DB2-BD59-A6C34878D82A}">
                    <a16:rowId xmlns:a16="http://schemas.microsoft.com/office/drawing/2014/main" val="1224652685"/>
                  </a:ext>
                </a:extLst>
              </a:tr>
              <a:tr h="651454">
                <a:tc>
                  <a:txBody>
                    <a:bodyPr/>
                    <a:lstStyle/>
                    <a:p>
                      <a:pPr algn="ctr">
                        <a:lnSpc>
                          <a:spcPct val="107000"/>
                        </a:lnSpc>
                        <a:spcAft>
                          <a:spcPts val="800"/>
                        </a:spcAft>
                        <a:buNone/>
                      </a:pPr>
                      <a:r>
                        <a:rPr lang="en-GB" sz="1200" kern="100" dirty="0">
                          <a:effectLst/>
                        </a:rPr>
                        <a:t>promotion</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kern="100" dirty="0">
                          <a:effectLst/>
                        </a:rPr>
                        <a:t>Binary</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kern="100" dirty="0">
                          <a:effectLst/>
                        </a:rPr>
                        <a:t>1 if promotion active, 0 otherwise</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b="0" kern="100" dirty="0">
                          <a:effectLst/>
                        </a:rPr>
                        <a:t>Every 15th day, boosts sales by 30–70 units.</a:t>
                      </a:r>
                      <a:endParaRPr lang="en-GB" sz="1200" b="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extLst>
                  <a:ext uri="{0D108BD9-81ED-4DB2-BD59-A6C34878D82A}">
                    <a16:rowId xmlns:a16="http://schemas.microsoft.com/office/drawing/2014/main" val="1906369703"/>
                  </a:ext>
                </a:extLst>
              </a:tr>
              <a:tr h="743172">
                <a:tc>
                  <a:txBody>
                    <a:bodyPr/>
                    <a:lstStyle/>
                    <a:p>
                      <a:pPr algn="ctr">
                        <a:lnSpc>
                          <a:spcPct val="107000"/>
                        </a:lnSpc>
                        <a:spcAft>
                          <a:spcPts val="800"/>
                        </a:spcAft>
                        <a:buNone/>
                      </a:pPr>
                      <a:r>
                        <a:rPr lang="en-GB" sz="1200" kern="100" dirty="0" err="1">
                          <a:effectLst/>
                        </a:rPr>
                        <a:t>temperature_c</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kern="100" dirty="0">
                          <a:effectLst/>
                        </a:rPr>
                        <a:t>Float</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kern="100" dirty="0">
                          <a:effectLst/>
                        </a:rPr>
                        <a:t>Daily average temperature (°C)</a:t>
                      </a:r>
                      <a:endParaRPr lang="en-GB" sz="12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200" b="0" kern="100" dirty="0">
                          <a:effectLst/>
                        </a:rPr>
                        <a:t>Hot days (&gt;25°C) increase demand; cold days reduce it.</a:t>
                      </a:r>
                      <a:endParaRPr lang="en-GB" sz="1200" b="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extLst>
                  <a:ext uri="{0D108BD9-81ED-4DB2-BD59-A6C34878D82A}">
                    <a16:rowId xmlns:a16="http://schemas.microsoft.com/office/drawing/2014/main" val="1079474432"/>
                  </a:ext>
                </a:extLst>
              </a:tr>
              <a:tr h="937583">
                <a:tc>
                  <a:txBody>
                    <a:bodyPr/>
                    <a:lstStyle/>
                    <a:p>
                      <a:pPr>
                        <a:lnSpc>
                          <a:spcPct val="107000"/>
                        </a:lnSpc>
                        <a:spcAft>
                          <a:spcPts val="800"/>
                        </a:spcAft>
                        <a:buNone/>
                      </a:pPr>
                      <a:r>
                        <a:rPr lang="en-GB" sz="1300" kern="100" dirty="0" err="1">
                          <a:effectLst/>
                        </a:rPr>
                        <a:t>inventory_level</a:t>
                      </a:r>
                      <a:endParaRPr lang="en-GB" sz="13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300" kern="100" dirty="0">
                          <a:effectLst/>
                        </a:rPr>
                        <a:t>Integer</a:t>
                      </a:r>
                      <a:endParaRPr lang="en-GB" sz="130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300" kern="100">
                          <a:effectLst/>
                        </a:rPr>
                        <a:t>Stock on hand (units)</a:t>
                      </a:r>
                      <a:endParaRPr lang="en-GB" sz="1300" kern="10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tc>
                  <a:txBody>
                    <a:bodyPr/>
                    <a:lstStyle/>
                    <a:p>
                      <a:pPr algn="ctr">
                        <a:lnSpc>
                          <a:spcPct val="107000"/>
                        </a:lnSpc>
                        <a:spcAft>
                          <a:spcPts val="800"/>
                        </a:spcAft>
                        <a:buNone/>
                      </a:pPr>
                      <a:r>
                        <a:rPr lang="en-GB" sz="1300" b="0" kern="100" dirty="0">
                          <a:effectLst/>
                        </a:rPr>
                        <a:t>Simulates available stock; low levels trigger reorder alerts.</a:t>
                      </a:r>
                      <a:endParaRPr lang="en-GB" sz="1300" b="0" kern="100" dirty="0">
                        <a:effectLst/>
                        <a:latin typeface="Aptos" panose="020B0004020202020204" pitchFamily="34" charset="0"/>
                        <a:ea typeface="Aptos" panose="020B0004020202020204" pitchFamily="34" charset="0"/>
                        <a:cs typeface="Arial" panose="020B0604020202020204" pitchFamily="34" charset="0"/>
                      </a:endParaRPr>
                    </a:p>
                  </a:txBody>
                  <a:tcPr marL="6721" marR="6721" marT="6721" marB="6721" anchor="ctr"/>
                </a:tc>
                <a:extLst>
                  <a:ext uri="{0D108BD9-81ED-4DB2-BD59-A6C34878D82A}">
                    <a16:rowId xmlns:a16="http://schemas.microsoft.com/office/drawing/2014/main" val="308074074"/>
                  </a:ext>
                </a:extLst>
              </a:tr>
            </a:tbl>
          </a:graphicData>
        </a:graphic>
      </p:graphicFrame>
      <p:sp>
        <p:nvSpPr>
          <p:cNvPr id="10" name="TextBox 9">
            <a:extLst>
              <a:ext uri="{FF2B5EF4-FFF2-40B4-BE49-F238E27FC236}">
                <a16:creationId xmlns:a16="http://schemas.microsoft.com/office/drawing/2014/main" id="{EB8187D8-1361-CC4F-042B-0BD4FD8D3ED5}"/>
              </a:ext>
            </a:extLst>
          </p:cNvPr>
          <p:cNvSpPr txBox="1"/>
          <p:nvPr/>
        </p:nvSpPr>
        <p:spPr>
          <a:xfrm>
            <a:off x="96643" y="499833"/>
            <a:ext cx="3679904" cy="4321504"/>
          </a:xfrm>
          <a:prstGeom prst="rect">
            <a:avLst/>
          </a:prstGeom>
          <a:solidFill>
            <a:schemeClr val="bg1">
              <a:lumMod val="90000"/>
            </a:schemeClr>
          </a:solidFill>
        </p:spPr>
        <p:txBody>
          <a:bodyPr wrap="square">
            <a:spAutoFit/>
          </a:bodyPr>
          <a:lstStyle/>
          <a:p>
            <a:pPr marL="342900" lvl="0" indent="-342900" algn="ctr">
              <a:lnSpc>
                <a:spcPct val="107000"/>
              </a:lnSpc>
              <a:spcAft>
                <a:spcPts val="800"/>
              </a:spcAft>
              <a:buSzPts val="1000"/>
              <a:buFont typeface="Symbol" panose="05050102010706020507" pitchFamily="18" charset="2"/>
              <a:buChar char=""/>
              <a:tabLst>
                <a:tab pos="457200" algn="l"/>
              </a:tabLst>
            </a:pPr>
            <a:r>
              <a:rPr lang="en-GB" sz="1300" b="1" kern="100" dirty="0">
                <a:effectLst/>
                <a:latin typeface="Aptos" panose="020B0004020202020204" pitchFamily="34" charset="0"/>
                <a:ea typeface="Aptos" panose="020B0004020202020204" pitchFamily="34" charset="0"/>
                <a:cs typeface="Arial" panose="020B0604020202020204" pitchFamily="34" charset="0"/>
              </a:rPr>
              <a:t>Sales</a:t>
            </a:r>
            <a:r>
              <a:rPr lang="en-GB" sz="1300" kern="100" dirty="0">
                <a:effectLst/>
                <a:latin typeface="Aptos" panose="020B0004020202020204" pitchFamily="34" charset="0"/>
                <a:ea typeface="Aptos" panose="020B0004020202020204" pitchFamily="34" charset="0"/>
                <a:cs typeface="Arial" panose="020B0604020202020204" pitchFamily="34" charset="0"/>
              </a:rPr>
              <a:t>: </a:t>
            </a:r>
          </a:p>
          <a:p>
            <a:pPr lvl="0" algn="ctr">
              <a:lnSpc>
                <a:spcPct val="107000"/>
              </a:lnSpc>
              <a:spcAft>
                <a:spcPts val="800"/>
              </a:spcAft>
              <a:buSzPts val="1000"/>
              <a:tabLst>
                <a:tab pos="457200" algn="l"/>
              </a:tabLst>
            </a:pPr>
            <a:r>
              <a:rPr lang="en-GB" sz="1300" kern="100" dirty="0">
                <a:effectLst/>
                <a:latin typeface="Aptos" panose="020B0004020202020204" pitchFamily="34" charset="0"/>
                <a:ea typeface="Aptos" panose="020B0004020202020204" pitchFamily="34" charset="0"/>
                <a:cs typeface="Arial" panose="020B0604020202020204" pitchFamily="34" charset="0"/>
              </a:rPr>
              <a:t>Base sales (300 units) + seasonality (sine wave) + promotion effects + temperature impact + noise.</a:t>
            </a:r>
          </a:p>
          <a:p>
            <a:pPr lvl="0" algn="ctr">
              <a:lnSpc>
                <a:spcPct val="107000"/>
              </a:lnSpc>
              <a:spcAft>
                <a:spcPts val="800"/>
              </a:spcAft>
              <a:buSzPts val="1000"/>
              <a:tabLst>
                <a:tab pos="457200" algn="l"/>
              </a:tabLst>
            </a:pPr>
            <a:endParaRPr lang="en-GB" sz="1300" kern="1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ctr">
              <a:lnSpc>
                <a:spcPct val="107000"/>
              </a:lnSpc>
              <a:spcAft>
                <a:spcPts val="800"/>
              </a:spcAft>
              <a:buSzPts val="1000"/>
              <a:buFont typeface="Symbol" panose="05050102010706020507" pitchFamily="18" charset="2"/>
              <a:buChar char=""/>
              <a:tabLst>
                <a:tab pos="457200" algn="l"/>
              </a:tabLst>
            </a:pPr>
            <a:r>
              <a:rPr lang="en-GB" sz="1300" b="1" kern="100" dirty="0">
                <a:effectLst/>
                <a:latin typeface="Aptos" panose="020B0004020202020204" pitchFamily="34" charset="0"/>
                <a:ea typeface="Aptos" panose="020B0004020202020204" pitchFamily="34" charset="0"/>
                <a:cs typeface="Arial" panose="020B0604020202020204" pitchFamily="34" charset="0"/>
              </a:rPr>
              <a:t>Promotions</a:t>
            </a:r>
            <a:r>
              <a:rPr lang="en-GB" sz="1300" kern="100" dirty="0">
                <a:effectLst/>
                <a:latin typeface="Aptos" panose="020B0004020202020204" pitchFamily="34" charset="0"/>
                <a:ea typeface="Aptos" panose="020B0004020202020204" pitchFamily="34" charset="0"/>
                <a:cs typeface="Arial" panose="020B0604020202020204" pitchFamily="34" charset="0"/>
              </a:rPr>
              <a:t>: </a:t>
            </a:r>
          </a:p>
          <a:p>
            <a:pPr lvl="0" algn="ctr">
              <a:lnSpc>
                <a:spcPct val="107000"/>
              </a:lnSpc>
              <a:spcAft>
                <a:spcPts val="800"/>
              </a:spcAft>
              <a:buSzPts val="1000"/>
              <a:tabLst>
                <a:tab pos="457200" algn="l"/>
              </a:tabLst>
            </a:pPr>
            <a:r>
              <a:rPr lang="en-GB" sz="1300" kern="100" dirty="0">
                <a:effectLst/>
                <a:latin typeface="Aptos" panose="020B0004020202020204" pitchFamily="34" charset="0"/>
                <a:ea typeface="Aptos" panose="020B0004020202020204" pitchFamily="34" charset="0"/>
                <a:cs typeface="Arial" panose="020B0604020202020204" pitchFamily="34" charset="0"/>
              </a:rPr>
              <a:t>Applied every 15 days to simulate marketing campaigns.</a:t>
            </a:r>
          </a:p>
          <a:p>
            <a:pPr lvl="0" algn="ctr">
              <a:lnSpc>
                <a:spcPct val="107000"/>
              </a:lnSpc>
              <a:spcAft>
                <a:spcPts val="800"/>
              </a:spcAft>
              <a:buSzPts val="1000"/>
              <a:tabLst>
                <a:tab pos="457200" algn="l"/>
              </a:tabLst>
            </a:pPr>
            <a:endParaRPr lang="en-GB" sz="1300" kern="1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ctr">
              <a:lnSpc>
                <a:spcPct val="107000"/>
              </a:lnSpc>
              <a:spcAft>
                <a:spcPts val="800"/>
              </a:spcAft>
              <a:buSzPts val="1000"/>
              <a:buFont typeface="Symbol" panose="05050102010706020507" pitchFamily="18" charset="2"/>
              <a:buChar char=""/>
              <a:tabLst>
                <a:tab pos="457200" algn="l"/>
              </a:tabLst>
            </a:pPr>
            <a:r>
              <a:rPr lang="en-GB" sz="1300" b="1" kern="100" dirty="0">
                <a:effectLst/>
                <a:latin typeface="Aptos" panose="020B0004020202020204" pitchFamily="34" charset="0"/>
                <a:ea typeface="Aptos" panose="020B0004020202020204" pitchFamily="34" charset="0"/>
                <a:cs typeface="Arial" panose="020B0604020202020204" pitchFamily="34" charset="0"/>
              </a:rPr>
              <a:t>Temperature</a:t>
            </a:r>
            <a:r>
              <a:rPr lang="en-GB" sz="1300" kern="100" dirty="0">
                <a:effectLst/>
                <a:latin typeface="Aptos" panose="020B0004020202020204" pitchFamily="34" charset="0"/>
                <a:ea typeface="Aptos" panose="020B0004020202020204" pitchFamily="34" charset="0"/>
                <a:cs typeface="Arial" panose="020B0604020202020204" pitchFamily="34" charset="0"/>
              </a:rPr>
              <a:t>: </a:t>
            </a:r>
          </a:p>
          <a:p>
            <a:pPr lvl="0" algn="ctr">
              <a:lnSpc>
                <a:spcPct val="107000"/>
              </a:lnSpc>
              <a:spcAft>
                <a:spcPts val="800"/>
              </a:spcAft>
              <a:buSzPts val="1000"/>
              <a:tabLst>
                <a:tab pos="457200" algn="l"/>
              </a:tabLst>
            </a:pPr>
            <a:r>
              <a:rPr lang="en-GB" sz="1300" kern="100" dirty="0">
                <a:effectLst/>
                <a:latin typeface="Aptos" panose="020B0004020202020204" pitchFamily="34" charset="0"/>
                <a:ea typeface="Aptos" panose="020B0004020202020204" pitchFamily="34" charset="0"/>
                <a:cs typeface="Arial" panose="020B0604020202020204" pitchFamily="34" charset="0"/>
              </a:rPr>
              <a:t>Cyclic pattern (20–30°C) with noise, reflecting Algerian weather.</a:t>
            </a:r>
          </a:p>
          <a:p>
            <a:pPr lvl="0" algn="ctr">
              <a:lnSpc>
                <a:spcPct val="107000"/>
              </a:lnSpc>
              <a:spcAft>
                <a:spcPts val="800"/>
              </a:spcAft>
              <a:buSzPts val="1000"/>
              <a:tabLst>
                <a:tab pos="457200" algn="l"/>
              </a:tabLst>
            </a:pPr>
            <a:endParaRPr lang="en-GB" sz="1300" kern="1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ctr">
              <a:lnSpc>
                <a:spcPct val="107000"/>
              </a:lnSpc>
              <a:spcAft>
                <a:spcPts val="800"/>
              </a:spcAft>
              <a:buSzPts val="1000"/>
              <a:buFont typeface="Symbol" panose="05050102010706020507" pitchFamily="18" charset="2"/>
              <a:buChar char=""/>
              <a:tabLst>
                <a:tab pos="457200" algn="l"/>
              </a:tabLst>
            </a:pPr>
            <a:r>
              <a:rPr lang="en-GB" sz="1300" b="1" kern="100" dirty="0">
                <a:effectLst/>
                <a:latin typeface="Aptos" panose="020B0004020202020204" pitchFamily="34" charset="0"/>
                <a:ea typeface="Aptos" panose="020B0004020202020204" pitchFamily="34" charset="0"/>
                <a:cs typeface="Arial" panose="020B0604020202020204" pitchFamily="34" charset="0"/>
              </a:rPr>
              <a:t>Inventory</a:t>
            </a:r>
            <a:r>
              <a:rPr lang="en-GB" sz="1300" kern="100" dirty="0">
                <a:effectLst/>
                <a:latin typeface="Aptos" panose="020B0004020202020204" pitchFamily="34" charset="0"/>
                <a:ea typeface="Aptos" panose="020B0004020202020204" pitchFamily="34" charset="0"/>
                <a:cs typeface="Arial" panose="020B0604020202020204" pitchFamily="34" charset="0"/>
              </a:rPr>
              <a:t>: </a:t>
            </a:r>
          </a:p>
          <a:p>
            <a:pPr lvl="0" algn="ctr">
              <a:lnSpc>
                <a:spcPct val="107000"/>
              </a:lnSpc>
              <a:spcAft>
                <a:spcPts val="800"/>
              </a:spcAft>
              <a:buSzPts val="1000"/>
              <a:tabLst>
                <a:tab pos="457200" algn="l"/>
              </a:tabLst>
            </a:pPr>
            <a:r>
              <a:rPr lang="en-GB" sz="1300" kern="100" dirty="0">
                <a:effectLst/>
                <a:latin typeface="Aptos" panose="020B0004020202020204" pitchFamily="34" charset="0"/>
                <a:ea typeface="Aptos" panose="020B0004020202020204" pitchFamily="34" charset="0"/>
                <a:cs typeface="Arial" panose="020B0604020202020204" pitchFamily="34" charset="0"/>
              </a:rPr>
              <a:t>Simulated as 500 units ± normal noise, adjusted for realism.</a:t>
            </a:r>
          </a:p>
        </p:txBody>
      </p:sp>
    </p:spTree>
    <p:extLst>
      <p:ext uri="{BB962C8B-B14F-4D97-AF65-F5344CB8AC3E}">
        <p14:creationId xmlns:p14="http://schemas.microsoft.com/office/powerpoint/2010/main" val="2701323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14A18-F1BD-AE9A-FBA5-AF65A800E110}"/>
            </a:ext>
          </a:extLst>
        </p:cNvPr>
        <p:cNvGrpSpPr/>
        <p:nvPr/>
      </p:nvGrpSpPr>
      <p:grpSpPr>
        <a:xfrm>
          <a:off x="0" y="0"/>
          <a:ext cx="0" cy="0"/>
          <a:chOff x="0" y="0"/>
          <a:chExt cx="0" cy="0"/>
        </a:xfrm>
      </p:grpSpPr>
      <p:sp>
        <p:nvSpPr>
          <p:cNvPr id="80" name="PlaceHolder 1">
            <a:extLst>
              <a:ext uri="{FF2B5EF4-FFF2-40B4-BE49-F238E27FC236}">
                <a16:creationId xmlns:a16="http://schemas.microsoft.com/office/drawing/2014/main" id="{16B6AF0F-F2C7-00A0-7528-B8A80733B986}"/>
              </a:ext>
            </a:extLst>
          </p:cNvPr>
          <p:cNvSpPr>
            <a:spLocks noGrp="1"/>
          </p:cNvSpPr>
          <p:nvPr>
            <p:ph type="title"/>
          </p:nvPr>
        </p:nvSpPr>
        <p:spPr>
          <a:xfrm>
            <a:off x="231180" y="-182918"/>
            <a:ext cx="5095911" cy="570638"/>
          </a:xfrm>
          <a:prstGeom prst="rect">
            <a:avLst/>
          </a:prstGeom>
          <a:noFill/>
          <a:ln w="0">
            <a:noFill/>
          </a:ln>
        </p:spPr>
        <p:txBody>
          <a:bodyPr lIns="91440" tIns="91440" rIns="91440" bIns="91440" anchor="t">
            <a:noAutofit/>
          </a:bodyPr>
          <a:lstStyle/>
          <a:p>
            <a:pPr indent="0">
              <a:lnSpc>
                <a:spcPct val="100000"/>
              </a:lnSpc>
              <a:buNone/>
              <a:tabLst>
                <a:tab pos="0" algn="l"/>
              </a:tabLst>
            </a:pPr>
            <a:r>
              <a:rPr lang="en" sz="3500" b="1" strike="noStrike" spc="-1" dirty="0">
                <a:solidFill>
                  <a:schemeClr val="dk2"/>
                </a:solidFill>
                <a:latin typeface="Anybody"/>
                <a:ea typeface="Anybody"/>
              </a:rPr>
              <a:t>More about the features</a:t>
            </a:r>
            <a:endParaRPr lang="fr-FR" sz="3500" b="1" strike="noStrike" spc="-1" dirty="0">
              <a:solidFill>
                <a:schemeClr val="dk1"/>
              </a:solidFill>
              <a:latin typeface="Arial"/>
            </a:endParaRPr>
          </a:p>
        </p:txBody>
      </p:sp>
      <p:grpSp>
        <p:nvGrpSpPr>
          <p:cNvPr id="83" name="Google Shape;179;p30">
            <a:extLst>
              <a:ext uri="{FF2B5EF4-FFF2-40B4-BE49-F238E27FC236}">
                <a16:creationId xmlns:a16="http://schemas.microsoft.com/office/drawing/2014/main" id="{996F2A06-9F85-977D-F31C-54BB643055E2}"/>
              </a:ext>
            </a:extLst>
          </p:cNvPr>
          <p:cNvGrpSpPr/>
          <p:nvPr/>
        </p:nvGrpSpPr>
        <p:grpSpPr>
          <a:xfrm>
            <a:off x="5520600" y="360"/>
            <a:ext cx="3083760" cy="5245200"/>
            <a:chOff x="5520600" y="360"/>
            <a:chExt cx="3083760" cy="5245200"/>
          </a:xfrm>
        </p:grpSpPr>
        <p:cxnSp>
          <p:nvCxnSpPr>
            <p:cNvPr id="84" name="Google Shape;180;p30">
              <a:extLst>
                <a:ext uri="{FF2B5EF4-FFF2-40B4-BE49-F238E27FC236}">
                  <a16:creationId xmlns:a16="http://schemas.microsoft.com/office/drawing/2014/main" id="{3FB2FE65-87FD-4466-43DC-35E150124F71}"/>
                </a:ext>
              </a:extLst>
            </p:cNvPr>
            <p:cNvCxnSpPr/>
            <p:nvPr/>
          </p:nvCxnSpPr>
          <p:spPr>
            <a:xfrm>
              <a:off x="5520600" y="360"/>
              <a:ext cx="360" cy="5245560"/>
            </a:xfrm>
            <a:prstGeom prst="straightConnector1">
              <a:avLst/>
            </a:prstGeom>
            <a:ln w="9525">
              <a:solidFill>
                <a:srgbClr val="A14342"/>
              </a:solidFill>
              <a:round/>
            </a:ln>
          </p:spPr>
        </p:cxnSp>
        <p:cxnSp>
          <p:nvCxnSpPr>
            <p:cNvPr id="85" name="Google Shape;181;p30">
              <a:extLst>
                <a:ext uri="{FF2B5EF4-FFF2-40B4-BE49-F238E27FC236}">
                  <a16:creationId xmlns:a16="http://schemas.microsoft.com/office/drawing/2014/main" id="{7C5A5405-7B22-8F4E-4C4E-BF3622EDF763}"/>
                </a:ext>
              </a:extLst>
            </p:cNvPr>
            <p:cNvCxnSpPr/>
            <p:nvPr/>
          </p:nvCxnSpPr>
          <p:spPr>
            <a:xfrm>
              <a:off x="8604360" y="360"/>
              <a:ext cx="360" cy="5245560"/>
            </a:xfrm>
            <a:prstGeom prst="straightConnector1">
              <a:avLst/>
            </a:prstGeom>
            <a:ln w="9525">
              <a:solidFill>
                <a:srgbClr val="A14342"/>
              </a:solidFill>
              <a:round/>
            </a:ln>
          </p:spPr>
        </p:cxnSp>
      </p:grpSp>
      <p:sp>
        <p:nvSpPr>
          <p:cNvPr id="2" name="Google Shape;170;p29">
            <a:extLst>
              <a:ext uri="{FF2B5EF4-FFF2-40B4-BE49-F238E27FC236}">
                <a16:creationId xmlns:a16="http://schemas.microsoft.com/office/drawing/2014/main" id="{F625CEDE-FC8B-F0AB-D751-0AD6748D2E96}"/>
              </a:ext>
            </a:extLst>
          </p:cNvPr>
          <p:cNvSpPr/>
          <p:nvPr/>
        </p:nvSpPr>
        <p:spPr>
          <a:xfrm>
            <a:off x="5520600" y="387720"/>
            <a:ext cx="3083400" cy="4755240"/>
          </a:xfrm>
          <a:prstGeom prst="round2SameRect">
            <a:avLst>
              <a:gd name="adj1" fmla="val 16667"/>
              <a:gd name="adj2" fmla="val 0"/>
            </a:avLst>
          </a:prstGeom>
          <a:blipFill rotWithShape="0">
            <a:blip r:embed="rId2"/>
            <a:srcRect/>
            <a:stretch/>
          </a:blipFill>
          <a:ln w="9525">
            <a:solidFill>
              <a:srgbClr val="A1434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6" name="TextBox 5">
            <a:extLst>
              <a:ext uri="{FF2B5EF4-FFF2-40B4-BE49-F238E27FC236}">
                <a16:creationId xmlns:a16="http://schemas.microsoft.com/office/drawing/2014/main" id="{2CADE6A5-7C46-8547-89A9-5620C9C1EC49}"/>
              </a:ext>
            </a:extLst>
          </p:cNvPr>
          <p:cNvSpPr txBox="1"/>
          <p:nvPr/>
        </p:nvSpPr>
        <p:spPr>
          <a:xfrm>
            <a:off x="104799" y="488499"/>
            <a:ext cx="5095911" cy="4553682"/>
          </a:xfrm>
          <a:prstGeom prst="rect">
            <a:avLst/>
          </a:prstGeom>
          <a:solidFill>
            <a:schemeClr val="tx2">
              <a:lumMod val="20000"/>
              <a:lumOff val="80000"/>
            </a:schemeClr>
          </a:solidFill>
        </p:spPr>
        <p:txBody>
          <a:bodyPr wrap="square">
            <a:spAutoFit/>
          </a:bodyPr>
          <a:lstStyle/>
          <a:p>
            <a:pPr algn="ctr">
              <a:lnSpc>
                <a:spcPct val="107000"/>
              </a:lnSpc>
              <a:spcAft>
                <a:spcPts val="800"/>
              </a:spcAft>
              <a:buNone/>
              <a:tabLst>
                <a:tab pos="457200" algn="l"/>
              </a:tabLst>
            </a:pPr>
            <a:r>
              <a:rPr lang="en-GB" sz="1100" b="1" u="sng" kern="100" dirty="0">
                <a:effectLst/>
                <a:latin typeface="Aptos" panose="020B0004020202020204" pitchFamily="34" charset="0"/>
                <a:ea typeface="Aptos" panose="020B0004020202020204" pitchFamily="34" charset="0"/>
                <a:cs typeface="Arial" panose="020B0604020202020204" pitchFamily="34" charset="0"/>
              </a:rPr>
              <a:t>Temperature (</a:t>
            </a:r>
            <a:r>
              <a:rPr lang="en-GB" sz="1100" b="1" u="sng" kern="100" dirty="0" err="1">
                <a:effectLst/>
                <a:latin typeface="Aptos" panose="020B0004020202020204" pitchFamily="34" charset="0"/>
                <a:ea typeface="Aptos" panose="020B0004020202020204" pitchFamily="34" charset="0"/>
                <a:cs typeface="Arial" panose="020B0604020202020204" pitchFamily="34" charset="0"/>
              </a:rPr>
              <a:t>temperature_c</a:t>
            </a:r>
            <a:r>
              <a:rPr lang="en-GB" sz="1100" b="1" u="sng" kern="100" dirty="0">
                <a:effectLst/>
                <a:latin typeface="Aptos" panose="020B0004020202020204" pitchFamily="34" charset="0"/>
                <a:ea typeface="Aptos" panose="020B0004020202020204" pitchFamily="34" charset="0"/>
                <a:cs typeface="Arial" panose="020B0604020202020204" pitchFamily="34" charset="0"/>
              </a:rPr>
              <a:t>)</a:t>
            </a:r>
            <a:r>
              <a:rPr lang="en-GB" sz="1100" u="sng" kern="100" dirty="0">
                <a:effectLst/>
                <a:latin typeface="Aptos" panose="020B0004020202020204" pitchFamily="34" charset="0"/>
                <a:ea typeface="Aptos" panose="020B0004020202020204" pitchFamily="34" charset="0"/>
                <a:cs typeface="Arial" panose="020B0604020202020204" pitchFamily="34" charset="0"/>
              </a:rPr>
              <a:t>:</a:t>
            </a:r>
          </a:p>
          <a:p>
            <a:pPr algn="ctr">
              <a:lnSpc>
                <a:spcPct val="107000"/>
              </a:lnSpc>
              <a:spcAft>
                <a:spcPts val="800"/>
              </a:spcAft>
              <a:buNone/>
              <a:tabLst>
                <a:tab pos="4572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Hot days boost yogurt demand (refreshing snack); cold days reduce it.  A 1°C increase above 25°C raises sales by ~1.5 units.</a:t>
            </a:r>
          </a:p>
          <a:p>
            <a:pPr algn="ctr">
              <a:lnSpc>
                <a:spcPct val="107000"/>
              </a:lnSpc>
              <a:spcAft>
                <a:spcPts val="800"/>
              </a:spcAft>
              <a:buNone/>
              <a:tabLst>
                <a:tab pos="457200" algn="l"/>
              </a:tabLst>
            </a:pPr>
            <a:endParaRPr lang="en-GB" sz="11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7000"/>
              </a:lnSpc>
              <a:spcAft>
                <a:spcPts val="800"/>
              </a:spcAft>
              <a:buNone/>
              <a:tabLst>
                <a:tab pos="457200" algn="l"/>
              </a:tabLst>
            </a:pPr>
            <a:r>
              <a:rPr lang="en-GB" sz="1100" b="1" u="sng" kern="100" dirty="0">
                <a:effectLst/>
                <a:latin typeface="Aptos" panose="020B0004020202020204" pitchFamily="34" charset="0"/>
                <a:ea typeface="Aptos" panose="020B0004020202020204" pitchFamily="34" charset="0"/>
                <a:cs typeface="Arial" panose="020B0604020202020204" pitchFamily="34" charset="0"/>
              </a:rPr>
              <a:t>Promotions (promotion)</a:t>
            </a:r>
            <a:r>
              <a:rPr lang="en-GB" sz="1100" u="sng" kern="100" dirty="0">
                <a:effectLst/>
                <a:latin typeface="Aptos" panose="020B0004020202020204" pitchFamily="34" charset="0"/>
                <a:ea typeface="Aptos" panose="020B0004020202020204" pitchFamily="34" charset="0"/>
                <a:cs typeface="Arial" panose="020B0604020202020204" pitchFamily="34" charset="0"/>
              </a:rPr>
              <a:t>:</a:t>
            </a:r>
          </a:p>
          <a:p>
            <a:pPr algn="ctr">
              <a:lnSpc>
                <a:spcPct val="107000"/>
              </a:lnSpc>
              <a:spcAft>
                <a:spcPts val="800"/>
              </a:spcAft>
              <a:buNone/>
              <a:tabLst>
                <a:tab pos="4572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Marketing campaigns (e.g., discounts, ads) spike sales unpredictably.</a:t>
            </a:r>
            <a:r>
              <a:rPr lang="en-GB" sz="1100" kern="100" dirty="0">
                <a:latin typeface="Aptos" panose="020B0004020202020204" pitchFamily="34" charset="0"/>
                <a:ea typeface="Aptos" panose="020B0004020202020204" pitchFamily="34" charset="0"/>
                <a:cs typeface="Times New Roman" panose="02020603050405020304" pitchFamily="18" charset="0"/>
              </a:rPr>
              <a:t> </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Promotions add 30–70 units to daily sales every 15 days.</a:t>
            </a:r>
            <a:r>
              <a:rPr lang="en-GB" sz="1100" kern="100" dirty="0">
                <a:latin typeface="Aptos" panose="020B0004020202020204" pitchFamily="34" charset="0"/>
                <a:ea typeface="Aptos" panose="020B0004020202020204" pitchFamily="34" charset="0"/>
                <a:cs typeface="Times New Roman" panose="02020603050405020304" pitchFamily="18" charset="0"/>
              </a:rPr>
              <a:t> </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Promotions capture marketing effects, allowing </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Laitinelle</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 to measure campaign ROI.</a:t>
            </a:r>
          </a:p>
          <a:p>
            <a:pPr algn="ctr">
              <a:lnSpc>
                <a:spcPct val="107000"/>
              </a:lnSpc>
              <a:spcAft>
                <a:spcPts val="800"/>
              </a:spcAft>
              <a:buNone/>
              <a:tabLst>
                <a:tab pos="457200" algn="l"/>
              </a:tabLst>
            </a:pPr>
            <a:endParaRPr lang="en-GB" sz="1100" kern="100" dirty="0">
              <a:latin typeface="Aptos" panose="020B0004020202020204" pitchFamily="34" charset="0"/>
              <a:ea typeface="Aptos" panose="020B0004020202020204" pitchFamily="34" charset="0"/>
              <a:cs typeface="Arial" panose="020B0604020202020204" pitchFamily="34" charset="0"/>
            </a:endParaRPr>
          </a:p>
          <a:p>
            <a:pPr algn="ctr">
              <a:lnSpc>
                <a:spcPct val="107000"/>
              </a:lnSpc>
              <a:spcAft>
                <a:spcPts val="800"/>
              </a:spcAft>
              <a:buNone/>
              <a:tabLst>
                <a:tab pos="457200" algn="l"/>
              </a:tabLst>
            </a:pPr>
            <a:r>
              <a:rPr lang="en-GB" sz="1100" b="1" u="sng" kern="100" dirty="0">
                <a:effectLst/>
                <a:latin typeface="Aptos" panose="020B0004020202020204" pitchFamily="34" charset="0"/>
                <a:ea typeface="Aptos" panose="020B0004020202020204" pitchFamily="34" charset="0"/>
                <a:cs typeface="Arial" panose="020B0604020202020204" pitchFamily="34" charset="0"/>
              </a:rPr>
              <a:t>Seasonality (ds)</a:t>
            </a:r>
            <a:r>
              <a:rPr lang="en-GB" sz="1100" u="sng" kern="100" dirty="0">
                <a:effectLst/>
                <a:latin typeface="Aptos" panose="020B0004020202020204" pitchFamily="34" charset="0"/>
                <a:ea typeface="Aptos" panose="020B0004020202020204" pitchFamily="34" charset="0"/>
                <a:cs typeface="Arial" panose="020B0604020202020204" pitchFamily="34" charset="0"/>
              </a:rPr>
              <a:t>:</a:t>
            </a:r>
            <a:endParaRPr lang="en-GB" sz="1100" u="sng" kern="100" dirty="0">
              <a:latin typeface="Aptos" panose="020B0004020202020204" pitchFamily="34" charset="0"/>
              <a:ea typeface="Aptos" panose="020B0004020202020204" pitchFamily="34" charset="0"/>
              <a:cs typeface="Arial" panose="020B0604020202020204" pitchFamily="34" charset="0"/>
            </a:endParaRPr>
          </a:p>
          <a:p>
            <a:pPr algn="ctr">
              <a:lnSpc>
                <a:spcPct val="107000"/>
              </a:lnSpc>
              <a:spcAft>
                <a:spcPts val="800"/>
              </a:spcAft>
              <a:buNone/>
              <a:tabLst>
                <a:tab pos="4572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Sales follow weekly (weekend spikes) and monthly (holiday rushes) patterns.</a:t>
            </a:r>
            <a:r>
              <a:rPr lang="en-GB" sz="1100" kern="100" dirty="0">
                <a:latin typeface="Aptos" panose="020B0004020202020204" pitchFamily="34" charset="0"/>
                <a:ea typeface="Aptos" panose="020B0004020202020204" pitchFamily="34" charset="0"/>
                <a:cs typeface="Times New Roman" panose="02020603050405020304" pitchFamily="18" charset="0"/>
              </a:rPr>
              <a:t> </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Captured by Prophet’s yearly, weekly, and daily seasonality components.</a:t>
            </a:r>
            <a:r>
              <a:rPr lang="en-GB" sz="1100" kern="100" dirty="0">
                <a:latin typeface="Aptos" panose="020B0004020202020204" pitchFamily="34" charset="0"/>
                <a:ea typeface="Aptos" panose="020B0004020202020204" pitchFamily="34" charset="0"/>
                <a:cs typeface="Times New Roman" panose="02020603050405020304" pitchFamily="18" charset="0"/>
              </a:rPr>
              <a:t> </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Seasonality ensures our model adapts to recurring patterns, critical for long-term planning.</a:t>
            </a:r>
          </a:p>
          <a:p>
            <a:pPr algn="ctr">
              <a:lnSpc>
                <a:spcPct val="107000"/>
              </a:lnSpc>
              <a:spcAft>
                <a:spcPts val="800"/>
              </a:spcAft>
              <a:buNone/>
              <a:tabLst>
                <a:tab pos="457200" algn="l"/>
              </a:tabLst>
            </a:pPr>
            <a:endParaRPr lang="en-GB" sz="11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7000"/>
              </a:lnSpc>
              <a:spcAft>
                <a:spcPts val="800"/>
              </a:spcAft>
              <a:buNone/>
              <a:tabLst>
                <a:tab pos="457200" algn="l"/>
              </a:tabLst>
            </a:pPr>
            <a:r>
              <a:rPr lang="en-GB" sz="1100" b="1" u="sng" kern="100" dirty="0">
                <a:effectLst/>
                <a:latin typeface="Aptos" panose="020B0004020202020204" pitchFamily="34" charset="0"/>
                <a:ea typeface="Aptos" panose="020B0004020202020204" pitchFamily="34" charset="0"/>
                <a:cs typeface="Arial" panose="020B0604020202020204" pitchFamily="34" charset="0"/>
              </a:rPr>
              <a:t>Inventory (</a:t>
            </a:r>
            <a:r>
              <a:rPr lang="en-GB" sz="1100" b="1" u="sng" kern="100" dirty="0" err="1">
                <a:effectLst/>
                <a:latin typeface="Aptos" panose="020B0004020202020204" pitchFamily="34" charset="0"/>
                <a:ea typeface="Aptos" panose="020B0004020202020204" pitchFamily="34" charset="0"/>
                <a:cs typeface="Arial" panose="020B0604020202020204" pitchFamily="34" charset="0"/>
              </a:rPr>
              <a:t>inventory_level</a:t>
            </a:r>
            <a:r>
              <a:rPr lang="en-GB" sz="1100" b="1" u="sng" kern="100" dirty="0">
                <a:effectLst/>
                <a:latin typeface="Aptos" panose="020B0004020202020204" pitchFamily="34" charset="0"/>
                <a:ea typeface="Aptos" panose="020B0004020202020204" pitchFamily="34" charset="0"/>
                <a:cs typeface="Arial" panose="020B0604020202020204" pitchFamily="34" charset="0"/>
              </a:rPr>
              <a:t>)</a:t>
            </a:r>
            <a:r>
              <a:rPr lang="en-GB" sz="1100" u="sng" kern="100" dirty="0">
                <a:effectLst/>
                <a:latin typeface="Aptos" panose="020B0004020202020204" pitchFamily="34" charset="0"/>
                <a:ea typeface="Aptos" panose="020B0004020202020204" pitchFamily="34" charset="0"/>
                <a:cs typeface="Arial" panose="020B0604020202020204" pitchFamily="34" charset="0"/>
              </a:rPr>
              <a:t>:</a:t>
            </a:r>
          </a:p>
          <a:p>
            <a:pPr algn="ctr">
              <a:lnSpc>
                <a:spcPct val="107000"/>
              </a:lnSpc>
              <a:spcAft>
                <a:spcPts val="800"/>
              </a:spcAft>
              <a:buNone/>
              <a:tabLst>
                <a:tab pos="4572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Tracks stock on hand to prevent stockouts or overstocking. Low inventory triggers reorder alerts when below predicted demand. Inventory insights reduce waste and ensure product availability, directly impacting profits.</a:t>
            </a:r>
          </a:p>
        </p:txBody>
      </p:sp>
    </p:spTree>
    <p:extLst>
      <p:ext uri="{BB962C8B-B14F-4D97-AF65-F5344CB8AC3E}">
        <p14:creationId xmlns:p14="http://schemas.microsoft.com/office/powerpoint/2010/main" val="3820401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327665" y="-109721"/>
            <a:ext cx="2601389" cy="652414"/>
          </a:xfrm>
          <a:prstGeom prst="rect">
            <a:avLst/>
          </a:prstGeom>
          <a:noFill/>
          <a:ln w="0">
            <a:noFill/>
          </a:ln>
        </p:spPr>
        <p:txBody>
          <a:bodyPr lIns="91440" tIns="91440" rIns="91440" bIns="91440" anchor="t">
            <a:noAutofit/>
          </a:bodyPr>
          <a:lstStyle/>
          <a:p>
            <a:pPr>
              <a:lnSpc>
                <a:spcPct val="100000"/>
              </a:lnSpc>
              <a:tabLst>
                <a:tab pos="0" algn="l"/>
              </a:tabLst>
            </a:pPr>
            <a:r>
              <a:rPr lang="en-GB" sz="3200" b="1" u="sng" kern="100" dirty="0">
                <a:solidFill>
                  <a:schemeClr val="tx2"/>
                </a:solidFill>
                <a:effectLst/>
                <a:latin typeface="Aptos" panose="020B0004020202020204" pitchFamily="34" charset="0"/>
                <a:ea typeface="Aptos" panose="020B0004020202020204" pitchFamily="34" charset="0"/>
                <a:cs typeface="Arial" panose="020B0604020202020204" pitchFamily="34" charset="0"/>
              </a:rPr>
              <a:t>Methodology</a:t>
            </a:r>
            <a:endParaRPr lang="fr-FR" sz="3200" b="0" strike="noStrike" spc="-1" dirty="0">
              <a:solidFill>
                <a:schemeClr val="tx2"/>
              </a:solidFill>
              <a:latin typeface="Arial"/>
            </a:endParaRPr>
          </a:p>
        </p:txBody>
      </p:sp>
      <p:sp>
        <p:nvSpPr>
          <p:cNvPr id="3" name="TextBox 2">
            <a:extLst>
              <a:ext uri="{FF2B5EF4-FFF2-40B4-BE49-F238E27FC236}">
                <a16:creationId xmlns:a16="http://schemas.microsoft.com/office/drawing/2014/main" id="{D543445B-F07A-8170-8E83-A4DCA5F1434D}"/>
              </a:ext>
            </a:extLst>
          </p:cNvPr>
          <p:cNvSpPr txBox="1"/>
          <p:nvPr/>
        </p:nvSpPr>
        <p:spPr>
          <a:xfrm>
            <a:off x="401447" y="644320"/>
            <a:ext cx="3665031" cy="4499180"/>
          </a:xfrm>
          <a:prstGeom prst="rect">
            <a:avLst/>
          </a:prstGeom>
          <a:solidFill>
            <a:schemeClr val="accent1">
              <a:lumMod val="40000"/>
              <a:lumOff val="60000"/>
            </a:schemeClr>
          </a:solidFill>
        </p:spPr>
        <p:txBody>
          <a:bodyPr wrap="square">
            <a:spAutoFit/>
          </a:bodyPr>
          <a:lstStyle/>
          <a:p>
            <a:pPr>
              <a:lnSpc>
                <a:spcPct val="107000"/>
              </a:lnSpc>
              <a:spcAft>
                <a:spcPts val="800"/>
              </a:spcAft>
              <a:buNone/>
            </a:pPr>
            <a:r>
              <a:rPr lang="en-GB" sz="1100" b="1" kern="100" dirty="0">
                <a:effectLst/>
                <a:latin typeface="Aptos" panose="020B0004020202020204" pitchFamily="34" charset="0"/>
                <a:ea typeface="Aptos" panose="020B0004020202020204" pitchFamily="34" charset="0"/>
                <a:cs typeface="Arial" panose="020B0604020202020204" pitchFamily="34" charset="0"/>
              </a:rPr>
              <a:t>1. Sales Forecasting Pipeline</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Model</a:t>
            </a:r>
            <a:r>
              <a:rPr lang="en-GB" sz="1100" kern="100" dirty="0">
                <a:effectLst/>
                <a:latin typeface="Aptos" panose="020B0004020202020204" pitchFamily="34" charset="0"/>
                <a:ea typeface="Aptos" panose="020B0004020202020204" pitchFamily="34" charset="0"/>
                <a:cs typeface="Arial" panose="020B0604020202020204" pitchFamily="34" charset="0"/>
              </a:rPr>
              <a:t>: </a:t>
            </a:r>
          </a:p>
          <a:p>
            <a:pPr lvl="0">
              <a:lnSpc>
                <a:spcPct val="107000"/>
              </a:lnSpc>
              <a:spcAft>
                <a:spcPts val="800"/>
              </a:spcAft>
              <a:buSzPts val="1000"/>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Prophet</a:t>
            </a:r>
            <a:r>
              <a:rPr lang="en-GB" sz="1100" kern="100" dirty="0">
                <a:effectLst/>
                <a:latin typeface="Aptos" panose="020B0004020202020204" pitchFamily="34" charset="0"/>
                <a:ea typeface="Aptos" panose="020B0004020202020204" pitchFamily="34" charset="0"/>
                <a:cs typeface="Arial" panose="020B0604020202020204" pitchFamily="34" charset="0"/>
              </a:rPr>
              <a:t> (Facebook’s time-series forecasting tool).</a:t>
            </a:r>
          </a:p>
          <a:p>
            <a:pPr marL="342900" lvl="0" indent="-342900">
              <a:lnSpc>
                <a:spcPct val="107000"/>
              </a:lnSpc>
              <a:spcAft>
                <a:spcPts val="800"/>
              </a:spcAft>
              <a:buSzPts val="1000"/>
              <a:buFont typeface="Symbol" panose="05050102010706020507" pitchFamily="18" charset="2"/>
              <a:buChar char=""/>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Why Prophet?</a:t>
            </a:r>
            <a:r>
              <a:rPr lang="en-GB" sz="1100" kern="100" dirty="0">
                <a:effectLst/>
                <a:latin typeface="Aptos" panose="020B0004020202020204" pitchFamily="34" charset="0"/>
                <a:ea typeface="Aptos" panose="020B000402020202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Handles seasonality (yearly, weekly, daily) automatically.</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Supports external regressors (promotion, </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temperature_c</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Beginner-friendly with robust results.</a:t>
            </a:r>
          </a:p>
          <a:p>
            <a:pPr lvl="1">
              <a:lnSpc>
                <a:spcPct val="107000"/>
              </a:lnSpc>
              <a:spcAft>
                <a:spcPts val="800"/>
              </a:spcAft>
              <a:buSzPts val="1000"/>
              <a:tabLst>
                <a:tab pos="914400" algn="l"/>
              </a:tabLst>
            </a:pPr>
            <a:endParaRPr lang="en-GB"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Process</a:t>
            </a:r>
            <a:r>
              <a:rPr lang="en-GB" sz="1100" kern="100" dirty="0">
                <a:effectLst/>
                <a:latin typeface="Aptos" panose="020B0004020202020204" pitchFamily="34" charset="0"/>
                <a:ea typeface="Aptos" panose="020B000402020202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Train on Jan–June 2024 data.</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Forecast 30 days ahead (July 1–30, 2024).</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Evaluate with RMSE and visual inspection.</a:t>
            </a:r>
          </a:p>
          <a:p>
            <a:pPr lvl="1">
              <a:lnSpc>
                <a:spcPct val="107000"/>
              </a:lnSpc>
              <a:spcAft>
                <a:spcPts val="800"/>
              </a:spcAft>
              <a:buSzPts val="1000"/>
              <a:tabLst>
                <a:tab pos="914400" algn="l"/>
              </a:tabLst>
            </a:pPr>
            <a:endParaRPr lang="en-GB"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Output</a:t>
            </a:r>
            <a:r>
              <a:rPr lang="en-GB" sz="1100" kern="100" dirty="0">
                <a:effectLst/>
                <a:latin typeface="Aptos" panose="020B0004020202020204" pitchFamily="34" charset="0"/>
                <a:ea typeface="Aptos" panose="020B0004020202020204" pitchFamily="34" charset="0"/>
                <a:cs typeface="Arial" panose="020B0604020202020204" pitchFamily="34" charset="0"/>
              </a:rPr>
              <a:t>: Predicted </a:t>
            </a:r>
            <a:r>
              <a:rPr lang="en-GB" sz="1100" kern="100" dirty="0" err="1">
                <a:effectLst/>
                <a:latin typeface="Aptos" panose="020B0004020202020204" pitchFamily="34" charset="0"/>
                <a:ea typeface="Aptos" panose="020B0004020202020204" pitchFamily="34" charset="0"/>
                <a:cs typeface="Arial" panose="020B0604020202020204" pitchFamily="34" charset="0"/>
              </a:rPr>
              <a:t>units_sold</a:t>
            </a:r>
            <a:r>
              <a:rPr lang="en-GB" sz="1100" kern="100" dirty="0">
                <a:effectLst/>
                <a:latin typeface="Aptos" panose="020B0004020202020204" pitchFamily="34" charset="0"/>
                <a:ea typeface="Aptos" panose="020B0004020202020204" pitchFamily="34" charset="0"/>
                <a:cs typeface="Arial" panose="020B0604020202020204" pitchFamily="34" charset="0"/>
              </a:rPr>
              <a:t> (</a:t>
            </a:r>
            <a:r>
              <a:rPr lang="en-GB" sz="1100" kern="100" dirty="0" err="1">
                <a:effectLst/>
                <a:latin typeface="Aptos" panose="020B0004020202020204" pitchFamily="34" charset="0"/>
                <a:ea typeface="Aptos" panose="020B0004020202020204" pitchFamily="34" charset="0"/>
                <a:cs typeface="Arial" panose="020B0604020202020204" pitchFamily="34" charset="0"/>
              </a:rPr>
              <a:t>yhat</a:t>
            </a:r>
            <a:r>
              <a:rPr lang="en-GB" sz="1100" kern="100" dirty="0">
                <a:effectLst/>
                <a:latin typeface="Aptos" panose="020B0004020202020204" pitchFamily="34" charset="0"/>
                <a:ea typeface="Aptos" panose="020B0004020202020204" pitchFamily="34" charset="0"/>
                <a:cs typeface="Arial" panose="020B0604020202020204" pitchFamily="34" charset="0"/>
              </a:rPr>
              <a:t>) with confidence intervals.</a:t>
            </a:r>
          </a:p>
        </p:txBody>
      </p:sp>
      <p:sp>
        <p:nvSpPr>
          <p:cNvPr id="5" name="TextBox 4">
            <a:extLst>
              <a:ext uri="{FF2B5EF4-FFF2-40B4-BE49-F238E27FC236}">
                <a16:creationId xmlns:a16="http://schemas.microsoft.com/office/drawing/2014/main" id="{AC4AB1E5-AAF9-BC13-8935-8B2FFB4E8457}"/>
              </a:ext>
            </a:extLst>
          </p:cNvPr>
          <p:cNvSpPr txBox="1"/>
          <p:nvPr/>
        </p:nvSpPr>
        <p:spPr>
          <a:xfrm>
            <a:off x="5575610" y="1614300"/>
            <a:ext cx="3568389" cy="2410468"/>
          </a:xfrm>
          <a:prstGeom prst="rect">
            <a:avLst/>
          </a:prstGeom>
          <a:solidFill>
            <a:schemeClr val="tx2">
              <a:lumMod val="20000"/>
              <a:lumOff val="80000"/>
            </a:schemeClr>
          </a:solidFill>
        </p:spPr>
        <p:txBody>
          <a:bodyPr wrap="square">
            <a:spAutoFit/>
          </a:bodyPr>
          <a:lstStyle/>
          <a:p>
            <a:pPr>
              <a:lnSpc>
                <a:spcPct val="107000"/>
              </a:lnSpc>
              <a:spcAft>
                <a:spcPts val="800"/>
              </a:spcAft>
              <a:buNone/>
            </a:pPr>
            <a:r>
              <a:rPr lang="en-GB" sz="1100" b="1" kern="100" dirty="0">
                <a:effectLst/>
                <a:latin typeface="Aptos" panose="020B0004020202020204" pitchFamily="34" charset="0"/>
                <a:ea typeface="Aptos" panose="020B0004020202020204" pitchFamily="34" charset="0"/>
                <a:cs typeface="Arial" panose="020B0604020202020204" pitchFamily="34" charset="0"/>
              </a:rPr>
              <a:t>2. Supply Chain Insight</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Model</a:t>
            </a:r>
            <a:r>
              <a:rPr lang="en-GB" sz="1100" kern="100" dirty="0">
                <a:effectLst/>
                <a:latin typeface="Aptos" panose="020B0004020202020204" pitchFamily="34" charset="0"/>
                <a:ea typeface="Aptos" panose="020B0004020202020204" pitchFamily="34" charset="0"/>
                <a:cs typeface="Arial" panose="020B0604020202020204" pitchFamily="34" charset="0"/>
              </a:rPr>
              <a:t>: Rule-based logic (no ML to save time).</a:t>
            </a:r>
          </a:p>
          <a:p>
            <a:pPr marL="342900" lvl="0" indent="-342900">
              <a:lnSpc>
                <a:spcPct val="107000"/>
              </a:lnSpc>
              <a:spcAft>
                <a:spcPts val="800"/>
              </a:spcAft>
              <a:buSzPts val="1000"/>
              <a:buFont typeface="Symbol" panose="05050102010706020507" pitchFamily="18" charset="2"/>
              <a:buChar char=""/>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Logic</a:t>
            </a:r>
            <a:r>
              <a:rPr lang="en-GB" sz="1100" kern="100" dirty="0">
                <a:effectLst/>
                <a:latin typeface="Aptos" panose="020B0004020202020204" pitchFamily="34" charset="0"/>
                <a:ea typeface="Aptos" panose="020B000402020202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Calculate </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reorder_quantity</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 = </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predicted_units_sold</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 - </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inventory_level</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 + buffer (buffer = 50 units).</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Flag </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reorder_alert</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 if </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inventory_level</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 &lt; </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predicted_units_sold</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Output</a:t>
            </a:r>
            <a:r>
              <a:rPr lang="en-GB" sz="1100" kern="100" dirty="0">
                <a:effectLst/>
                <a:latin typeface="Aptos" panose="020B0004020202020204" pitchFamily="34" charset="0"/>
                <a:ea typeface="Aptos" panose="020B0004020202020204" pitchFamily="34" charset="0"/>
                <a:cs typeface="Arial" panose="020B0604020202020204" pitchFamily="34" charset="0"/>
              </a:rPr>
              <a:t>: Reorder quantities and alerts to guide restocking.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62F20B-2992-D062-70DF-C4885D7F01B5}"/>
              </a:ext>
            </a:extLst>
          </p:cNvPr>
          <p:cNvSpPr txBox="1"/>
          <p:nvPr/>
        </p:nvSpPr>
        <p:spPr>
          <a:xfrm>
            <a:off x="2111298" y="-88022"/>
            <a:ext cx="5196467" cy="584775"/>
          </a:xfrm>
          <a:prstGeom prst="rect">
            <a:avLst/>
          </a:prstGeom>
          <a:noFill/>
        </p:spPr>
        <p:txBody>
          <a:bodyPr wrap="square">
            <a:spAutoFit/>
          </a:bodyPr>
          <a:lstStyle/>
          <a:p>
            <a:r>
              <a:rPr lang="en-GB" sz="3200" b="1" dirty="0">
                <a:solidFill>
                  <a:schemeClr val="tx2"/>
                </a:solidFill>
                <a:effectLst/>
                <a:latin typeface="Aptos" panose="020B0004020202020204" pitchFamily="34" charset="0"/>
              </a:rPr>
              <a:t>Dataset Creation - Content</a:t>
            </a:r>
          </a:p>
        </p:txBody>
      </p:sp>
      <p:pic>
        <p:nvPicPr>
          <p:cNvPr id="5" name="Picture 4" descr="A person in green apron standing next to a table with several cups&#10;&#10;AI-generated content may be incorrect.">
            <a:extLst>
              <a:ext uri="{FF2B5EF4-FFF2-40B4-BE49-F238E27FC236}">
                <a16:creationId xmlns:a16="http://schemas.microsoft.com/office/drawing/2014/main" id="{E750CDBF-EA8A-2162-AE05-9B96D344FE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79141"/>
            <a:ext cx="4381426" cy="4764359"/>
          </a:xfrm>
          <a:prstGeom prst="rtTriangle">
            <a:avLst/>
          </a:prstGeom>
          <a:ln w="19050">
            <a:solidFill>
              <a:schemeClr val="tx2"/>
            </a:solidFill>
          </a:ln>
        </p:spPr>
      </p:pic>
      <p:sp>
        <p:nvSpPr>
          <p:cNvPr id="9" name="TextBox 8">
            <a:extLst>
              <a:ext uri="{FF2B5EF4-FFF2-40B4-BE49-F238E27FC236}">
                <a16:creationId xmlns:a16="http://schemas.microsoft.com/office/drawing/2014/main" id="{E7805E3C-93A4-AE13-BB96-C4B2AB439CE1}"/>
              </a:ext>
            </a:extLst>
          </p:cNvPr>
          <p:cNvSpPr txBox="1"/>
          <p:nvPr/>
        </p:nvSpPr>
        <p:spPr>
          <a:xfrm>
            <a:off x="4073913" y="637661"/>
            <a:ext cx="5003180" cy="3970318"/>
          </a:xfrm>
          <a:prstGeom prst="rect">
            <a:avLst/>
          </a:prstGeom>
          <a:solidFill>
            <a:schemeClr val="bg1">
              <a:lumMod val="90000"/>
            </a:schemeClr>
          </a:solidFill>
        </p:spPr>
        <p:txBody>
          <a:bodyPr wrap="square">
            <a:spAutoFit/>
          </a:bodyPr>
          <a:lstStyle/>
          <a:p>
            <a:pPr algn="ctr"/>
            <a:r>
              <a:rPr lang="en-GB" b="1" dirty="0"/>
              <a:t>Synthetic Data: </a:t>
            </a:r>
          </a:p>
          <a:p>
            <a:pPr algn="ctr"/>
            <a:r>
              <a:rPr lang="en-GB" dirty="0"/>
              <a:t>Jan 1–June 30, 2024 (181 days)</a:t>
            </a:r>
          </a:p>
          <a:p>
            <a:pPr algn="ctr">
              <a:buFont typeface="Arial" panose="020B0604020202020204" pitchFamily="34" charset="0"/>
              <a:buChar char="•"/>
            </a:pPr>
            <a:endParaRPr lang="en-GB" dirty="0"/>
          </a:p>
          <a:p>
            <a:pPr algn="ctr"/>
            <a:r>
              <a:rPr lang="en-GB" b="1" dirty="0"/>
              <a:t>Columns: </a:t>
            </a:r>
          </a:p>
          <a:p>
            <a:pPr algn="ctr"/>
            <a:r>
              <a:rPr lang="en-GB" dirty="0"/>
              <a:t>ds, </a:t>
            </a:r>
            <a:r>
              <a:rPr lang="en-GB" dirty="0" err="1"/>
              <a:t>units_sold</a:t>
            </a:r>
            <a:r>
              <a:rPr lang="en-GB" dirty="0"/>
              <a:t>, </a:t>
            </a:r>
            <a:r>
              <a:rPr lang="en-GB" dirty="0" err="1"/>
              <a:t>sales_dzd</a:t>
            </a:r>
            <a:r>
              <a:rPr lang="en-GB" dirty="0"/>
              <a:t>, promotion, </a:t>
            </a:r>
            <a:r>
              <a:rPr lang="en-GB" dirty="0" err="1"/>
              <a:t>temperature_c</a:t>
            </a:r>
            <a:r>
              <a:rPr lang="en-GB" dirty="0"/>
              <a:t>, </a:t>
            </a:r>
            <a:r>
              <a:rPr lang="en-GB" dirty="0" err="1"/>
              <a:t>inventory_level</a:t>
            </a:r>
            <a:endParaRPr lang="en-GB" dirty="0"/>
          </a:p>
          <a:p>
            <a:pPr algn="ctr"/>
            <a:endParaRPr lang="en-GB" dirty="0"/>
          </a:p>
          <a:p>
            <a:pPr algn="ctr"/>
            <a:r>
              <a:rPr lang="en-GB" b="1" dirty="0"/>
              <a:t>Logic: </a:t>
            </a:r>
            <a:endParaRPr lang="en-GB" dirty="0"/>
          </a:p>
          <a:p>
            <a:pPr lvl="1"/>
            <a:r>
              <a:rPr lang="en-GB" dirty="0"/>
              <a:t>Base sales: 300 units + seasonality + noise</a:t>
            </a:r>
          </a:p>
          <a:p>
            <a:pPr lvl="1"/>
            <a:r>
              <a:rPr lang="en-GB" dirty="0"/>
              <a:t>Promotions: +30–70 units every 15 days</a:t>
            </a:r>
          </a:p>
          <a:p>
            <a:pPr lvl="1"/>
            <a:r>
              <a:rPr lang="en-GB" dirty="0"/>
              <a:t>Temperature: 1.5 units/°C above 25°C</a:t>
            </a:r>
          </a:p>
          <a:p>
            <a:pPr algn="ctr"/>
            <a:endParaRPr lang="en-GB" dirty="0"/>
          </a:p>
          <a:p>
            <a:pPr algn="ctr"/>
            <a:r>
              <a:rPr lang="en-GB" dirty="0"/>
              <a:t>File: latinelle_yogurt_data.csv</a:t>
            </a:r>
          </a:p>
        </p:txBody>
      </p:sp>
    </p:spTree>
    <p:extLst>
      <p:ext uri="{BB962C8B-B14F-4D97-AF65-F5344CB8AC3E}">
        <p14:creationId xmlns:p14="http://schemas.microsoft.com/office/powerpoint/2010/main" val="4000118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40B06-E602-4FEC-DFEF-11B0A63BCC9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98CDED0-28CB-86E7-760D-9FA43F082535}"/>
              </a:ext>
            </a:extLst>
          </p:cNvPr>
          <p:cNvSpPr txBox="1"/>
          <p:nvPr/>
        </p:nvSpPr>
        <p:spPr>
          <a:xfrm>
            <a:off x="2111298" y="-88022"/>
            <a:ext cx="5196467" cy="584775"/>
          </a:xfrm>
          <a:prstGeom prst="rect">
            <a:avLst/>
          </a:prstGeom>
          <a:noFill/>
        </p:spPr>
        <p:txBody>
          <a:bodyPr wrap="square">
            <a:spAutoFit/>
          </a:bodyPr>
          <a:lstStyle/>
          <a:p>
            <a:r>
              <a:rPr lang="en-GB" sz="3200" b="1" dirty="0">
                <a:solidFill>
                  <a:schemeClr val="tx2"/>
                </a:solidFill>
                <a:effectLst/>
                <a:latin typeface="Aptos" panose="020B0004020202020204" pitchFamily="34" charset="0"/>
              </a:rPr>
              <a:t>Dataset Creation - Analysis</a:t>
            </a:r>
          </a:p>
        </p:txBody>
      </p:sp>
      <p:pic>
        <p:nvPicPr>
          <p:cNvPr id="5" name="Picture 4" descr="A person in green apron standing next to a table with several cups&#10;&#10;AI-generated content may be incorrect.">
            <a:extLst>
              <a:ext uri="{FF2B5EF4-FFF2-40B4-BE49-F238E27FC236}">
                <a16:creationId xmlns:a16="http://schemas.microsoft.com/office/drawing/2014/main" id="{71A75FC1-3B82-76DC-8971-F6DE9A6D83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4762574" y="379141"/>
            <a:ext cx="4381426" cy="4764359"/>
          </a:xfrm>
          <a:prstGeom prst="rtTriangle">
            <a:avLst/>
          </a:prstGeom>
          <a:ln w="19050">
            <a:solidFill>
              <a:schemeClr val="tx2"/>
            </a:solidFill>
          </a:ln>
        </p:spPr>
      </p:pic>
      <p:sp>
        <p:nvSpPr>
          <p:cNvPr id="9" name="TextBox 8">
            <a:extLst>
              <a:ext uri="{FF2B5EF4-FFF2-40B4-BE49-F238E27FC236}">
                <a16:creationId xmlns:a16="http://schemas.microsoft.com/office/drawing/2014/main" id="{DADC9BD3-AF3E-68E6-7128-C2B59432C040}"/>
              </a:ext>
            </a:extLst>
          </p:cNvPr>
          <p:cNvSpPr txBox="1"/>
          <p:nvPr/>
        </p:nvSpPr>
        <p:spPr>
          <a:xfrm>
            <a:off x="256479" y="557969"/>
            <a:ext cx="4453052" cy="4524315"/>
          </a:xfrm>
          <a:prstGeom prst="rect">
            <a:avLst/>
          </a:prstGeom>
          <a:solidFill>
            <a:schemeClr val="bg1">
              <a:lumMod val="90000"/>
            </a:schemeClr>
          </a:solidFill>
        </p:spPr>
        <p:txBody>
          <a:bodyPr wrap="square">
            <a:spAutoFit/>
          </a:bodyPr>
          <a:lstStyle/>
          <a:p>
            <a:pPr algn="ctr"/>
            <a:r>
              <a:rPr lang="en-GB" dirty="0"/>
              <a:t>From latinelle_yogurt_data.csv, sales peak on promotion days (e.g., Jan 15: 368 units vs. Jan 14: 312 units). </a:t>
            </a:r>
          </a:p>
          <a:p>
            <a:pPr algn="ctr"/>
            <a:endParaRPr lang="en-GB" dirty="0"/>
          </a:p>
          <a:p>
            <a:pPr algn="ctr"/>
            <a:r>
              <a:rPr lang="en-GB" dirty="0"/>
              <a:t>Temperature ranges 15–35°C, with sales jumping from 310 units at 20°C to 340 units at 30°C on average.</a:t>
            </a:r>
          </a:p>
          <a:p>
            <a:pPr algn="ctr"/>
            <a:endParaRPr lang="en-GB" dirty="0"/>
          </a:p>
          <a:p>
            <a:pPr algn="ctr"/>
            <a:r>
              <a:rPr lang="en-GB" dirty="0"/>
              <a:t>After the fix, </a:t>
            </a:r>
            <a:r>
              <a:rPr lang="en-GB" dirty="0" err="1"/>
              <a:t>inventory_level</a:t>
            </a:r>
            <a:r>
              <a:rPr lang="en-GB" dirty="0"/>
              <a:t> averages 300 ± 50 units (e.g., June 1: 287 units.), compared to the old 500 ± 50 (e.g.,</a:t>
            </a:r>
          </a:p>
          <a:p>
            <a:pPr algn="ctr"/>
            <a:endParaRPr lang="en-GB" dirty="0"/>
          </a:p>
          <a:p>
            <a:pPr algn="ctr"/>
            <a:r>
              <a:rPr lang="en-GB" dirty="0"/>
              <a:t>Seasonality shows a clear weekly pattern:</a:t>
            </a:r>
          </a:p>
          <a:p>
            <a:pPr algn="ctr"/>
            <a:r>
              <a:rPr lang="en-GB" dirty="0"/>
              <a:t> Sundays dip to ~280 units, while Fridays hit ~330 units, reflecting weekend demand swings.</a:t>
            </a:r>
          </a:p>
        </p:txBody>
      </p:sp>
    </p:spTree>
    <p:extLst>
      <p:ext uri="{BB962C8B-B14F-4D97-AF65-F5344CB8AC3E}">
        <p14:creationId xmlns:p14="http://schemas.microsoft.com/office/powerpoint/2010/main" val="1192925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408CFAA-1554-3DDB-1BF6-E20D0C57C46D}"/>
              </a:ext>
            </a:extLst>
          </p:cNvPr>
          <p:cNvSpPr txBox="1"/>
          <p:nvPr/>
        </p:nvSpPr>
        <p:spPr>
          <a:xfrm>
            <a:off x="252761" y="-88022"/>
            <a:ext cx="8720254" cy="584775"/>
          </a:xfrm>
          <a:prstGeom prst="rect">
            <a:avLst/>
          </a:prstGeom>
          <a:noFill/>
        </p:spPr>
        <p:txBody>
          <a:bodyPr wrap="square">
            <a:spAutoFit/>
          </a:bodyPr>
          <a:lstStyle/>
          <a:p>
            <a:r>
              <a:rPr lang="en-GB" sz="3200" b="1" dirty="0">
                <a:solidFill>
                  <a:schemeClr val="tx2"/>
                </a:solidFill>
                <a:latin typeface="Aptos" panose="020B0004020202020204" pitchFamily="34" charset="0"/>
              </a:rPr>
              <a:t>Sales Forecasting with Prophet – Content:</a:t>
            </a:r>
          </a:p>
        </p:txBody>
      </p:sp>
      <p:pic>
        <p:nvPicPr>
          <p:cNvPr id="9" name="Picture 8" descr="A glowing ball on a table&#10;&#10;AI-generated content may be incorrect.">
            <a:extLst>
              <a:ext uri="{FF2B5EF4-FFF2-40B4-BE49-F238E27FC236}">
                <a16:creationId xmlns:a16="http://schemas.microsoft.com/office/drawing/2014/main" id="{627DB8F2-3AF6-8A93-4824-32F3429672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94011"/>
            <a:ext cx="4626362" cy="4749490"/>
          </a:xfrm>
          <a:prstGeom prst="rtTriangle">
            <a:avLst/>
          </a:prstGeom>
          <a:ln w="19050">
            <a:solidFill>
              <a:schemeClr val="tx2"/>
            </a:solidFill>
          </a:ln>
        </p:spPr>
      </p:pic>
      <p:sp>
        <p:nvSpPr>
          <p:cNvPr id="12" name="TextBox 11">
            <a:extLst>
              <a:ext uri="{FF2B5EF4-FFF2-40B4-BE49-F238E27FC236}">
                <a16:creationId xmlns:a16="http://schemas.microsoft.com/office/drawing/2014/main" id="{F6EAC2AE-2C09-959D-AD06-541C83DB2960}"/>
              </a:ext>
            </a:extLst>
          </p:cNvPr>
          <p:cNvSpPr txBox="1"/>
          <p:nvPr/>
        </p:nvSpPr>
        <p:spPr>
          <a:xfrm>
            <a:off x="4184029" y="817125"/>
            <a:ext cx="4761571" cy="3509249"/>
          </a:xfrm>
          <a:prstGeom prst="rect">
            <a:avLst/>
          </a:prstGeom>
          <a:solidFill>
            <a:schemeClr val="tx2">
              <a:lumMod val="20000"/>
              <a:lumOff val="80000"/>
            </a:schemeClr>
          </a:solidFill>
        </p:spPr>
        <p:txBody>
          <a:bodyPr wrap="square">
            <a:spAutoFit/>
          </a:bodyPr>
          <a:lstStyle/>
          <a:p>
            <a:pPr algn="ctr"/>
            <a:r>
              <a:rPr lang="en-GB" b="1" dirty="0"/>
              <a:t>Model: </a:t>
            </a:r>
          </a:p>
          <a:p>
            <a:pPr algn="ctr"/>
            <a:r>
              <a:rPr lang="en-GB" dirty="0"/>
              <a:t>Prophet (Facebook’s time-series tool)</a:t>
            </a:r>
          </a:p>
          <a:p>
            <a:pPr algn="ctr"/>
            <a:r>
              <a:rPr lang="en-GB" b="1" dirty="0"/>
              <a:t>Features: </a:t>
            </a:r>
          </a:p>
          <a:p>
            <a:pPr algn="ctr"/>
            <a:r>
              <a:rPr lang="en-GB" dirty="0" err="1"/>
              <a:t>units_sold</a:t>
            </a:r>
            <a:r>
              <a:rPr lang="en-GB" dirty="0"/>
              <a:t> (target), promotion, </a:t>
            </a:r>
            <a:r>
              <a:rPr lang="en-GB" dirty="0" err="1"/>
              <a:t>temperature_c</a:t>
            </a:r>
            <a:r>
              <a:rPr lang="en-GB" dirty="0"/>
              <a:t> as regressors</a:t>
            </a:r>
          </a:p>
          <a:p>
            <a:pPr algn="ctr"/>
            <a:r>
              <a:rPr lang="en-GB" b="1" dirty="0"/>
              <a:t>Process: </a:t>
            </a:r>
          </a:p>
          <a:p>
            <a:pPr algn="ctr"/>
            <a:r>
              <a:rPr lang="en-GB" dirty="0"/>
              <a:t>Train Jan–June 2024; Forecast 30 days (July 2024)</a:t>
            </a:r>
          </a:p>
          <a:p>
            <a:pPr algn="ctr"/>
            <a:r>
              <a:rPr lang="en-GB" b="1" dirty="0"/>
              <a:t>Accuracy: </a:t>
            </a:r>
          </a:p>
          <a:p>
            <a:pPr algn="ctr"/>
            <a:r>
              <a:rPr lang="en-GB" dirty="0"/>
              <a:t>RMSE ~24.7 units</a:t>
            </a:r>
          </a:p>
          <a:p>
            <a:pPr algn="ctr"/>
            <a:r>
              <a:rPr lang="en-GB" b="1" dirty="0"/>
              <a:t>File: </a:t>
            </a:r>
          </a:p>
          <a:p>
            <a:pPr algn="ctr"/>
            <a:r>
              <a:rPr lang="en-GB" dirty="0" err="1"/>
              <a:t>sales_model.pkl</a:t>
            </a:r>
            <a:r>
              <a:rPr lang="en-GB" dirty="0"/>
              <a:t>, sales_forecast.csv</a:t>
            </a:r>
          </a:p>
        </p:txBody>
      </p:sp>
    </p:spTree>
    <p:extLst>
      <p:ext uri="{BB962C8B-B14F-4D97-AF65-F5344CB8AC3E}">
        <p14:creationId xmlns:p14="http://schemas.microsoft.com/office/powerpoint/2010/main" val="1072237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91209-CF23-1FB6-4224-7D926ECEB38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60A9FA8-F7C7-E713-28F6-112D00A5BDD4}"/>
              </a:ext>
            </a:extLst>
          </p:cNvPr>
          <p:cNvSpPr txBox="1"/>
          <p:nvPr/>
        </p:nvSpPr>
        <p:spPr>
          <a:xfrm>
            <a:off x="252761" y="-88022"/>
            <a:ext cx="8720254" cy="584775"/>
          </a:xfrm>
          <a:prstGeom prst="rect">
            <a:avLst/>
          </a:prstGeom>
          <a:noFill/>
        </p:spPr>
        <p:txBody>
          <a:bodyPr wrap="square">
            <a:spAutoFit/>
          </a:bodyPr>
          <a:lstStyle/>
          <a:p>
            <a:r>
              <a:rPr lang="en-GB" sz="3200" b="1" dirty="0">
                <a:solidFill>
                  <a:schemeClr val="tx2"/>
                </a:solidFill>
                <a:latin typeface="Aptos" panose="020B0004020202020204" pitchFamily="34" charset="0"/>
              </a:rPr>
              <a:t>Sales Forecasting with Prophet – Analysis:</a:t>
            </a:r>
          </a:p>
        </p:txBody>
      </p:sp>
      <p:pic>
        <p:nvPicPr>
          <p:cNvPr id="9" name="Picture 8" descr="A glowing ball on a table&#10;&#10;AI-generated content may be incorrect.">
            <a:extLst>
              <a:ext uri="{FF2B5EF4-FFF2-40B4-BE49-F238E27FC236}">
                <a16:creationId xmlns:a16="http://schemas.microsoft.com/office/drawing/2014/main" id="{91A16437-089C-05F8-859F-B153046C83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4517638" y="394010"/>
            <a:ext cx="4626362" cy="4749490"/>
          </a:xfrm>
          <a:prstGeom prst="rtTriangle">
            <a:avLst/>
          </a:prstGeom>
          <a:ln w="19050">
            <a:solidFill>
              <a:schemeClr val="tx2"/>
            </a:solidFill>
          </a:ln>
        </p:spPr>
      </p:pic>
      <p:sp>
        <p:nvSpPr>
          <p:cNvPr id="12" name="TextBox 11">
            <a:extLst>
              <a:ext uri="{FF2B5EF4-FFF2-40B4-BE49-F238E27FC236}">
                <a16:creationId xmlns:a16="http://schemas.microsoft.com/office/drawing/2014/main" id="{031D8FE0-79D1-1482-A305-B764854F70D0}"/>
              </a:ext>
            </a:extLst>
          </p:cNvPr>
          <p:cNvSpPr txBox="1"/>
          <p:nvPr/>
        </p:nvSpPr>
        <p:spPr>
          <a:xfrm>
            <a:off x="148682" y="2825107"/>
            <a:ext cx="5642516" cy="923330"/>
          </a:xfrm>
          <a:prstGeom prst="rect">
            <a:avLst/>
          </a:prstGeom>
          <a:solidFill>
            <a:schemeClr val="tx2">
              <a:lumMod val="20000"/>
              <a:lumOff val="80000"/>
            </a:schemeClr>
          </a:solidFill>
        </p:spPr>
        <p:txBody>
          <a:bodyPr wrap="square">
            <a:spAutoFit/>
          </a:bodyPr>
          <a:lstStyle/>
          <a:p>
            <a:pPr algn="ctr"/>
            <a:r>
              <a:rPr lang="en-GB" dirty="0"/>
              <a:t>Temperature effect is clear: a 28°C day in July forecasts 335 units, while a 22°C day drops to 320 units, reflecting the +1.5 units/°C trend.</a:t>
            </a:r>
          </a:p>
        </p:txBody>
      </p:sp>
      <p:sp>
        <p:nvSpPr>
          <p:cNvPr id="6" name="TextBox 5">
            <a:extLst>
              <a:ext uri="{FF2B5EF4-FFF2-40B4-BE49-F238E27FC236}">
                <a16:creationId xmlns:a16="http://schemas.microsoft.com/office/drawing/2014/main" id="{6313BBB0-C318-00AC-CC56-9412C20C0DB6}"/>
              </a:ext>
            </a:extLst>
          </p:cNvPr>
          <p:cNvSpPr txBox="1"/>
          <p:nvPr/>
        </p:nvSpPr>
        <p:spPr>
          <a:xfrm>
            <a:off x="125220" y="532394"/>
            <a:ext cx="7597698" cy="1200329"/>
          </a:xfrm>
          <a:prstGeom prst="rect">
            <a:avLst/>
          </a:prstGeom>
          <a:solidFill>
            <a:schemeClr val="tx2">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32E2A"/>
                </a:solidFill>
                <a:effectLst/>
                <a:uLnTx/>
                <a:uFillTx/>
                <a:latin typeface="Arial"/>
                <a:ea typeface="+mn-ea"/>
                <a:cs typeface="+mn-cs"/>
              </a:rPr>
              <a:t>From sales_forecast.csv, Prophet predicts July 1, 2024, at 325 units (</a:t>
            </a:r>
            <a:r>
              <a:rPr kumimoji="0" lang="en-GB" sz="1800" b="0" i="0" u="none" strike="noStrike" kern="1200" cap="none" spc="0" normalizeH="0" baseline="0" noProof="0" dirty="0" err="1">
                <a:ln>
                  <a:noFill/>
                </a:ln>
                <a:solidFill>
                  <a:srgbClr val="332E2A"/>
                </a:solidFill>
                <a:effectLst/>
                <a:uLnTx/>
                <a:uFillTx/>
                <a:latin typeface="Arial"/>
                <a:ea typeface="+mn-ea"/>
                <a:cs typeface="+mn-cs"/>
              </a:rPr>
              <a:t>yhat</a:t>
            </a:r>
            <a:r>
              <a:rPr kumimoji="0" lang="en-GB" sz="1800" b="0" i="0" u="none" strike="noStrike" kern="1200" cap="none" spc="0" normalizeH="0" baseline="0" noProof="0" dirty="0">
                <a:ln>
                  <a:noFill/>
                </a:ln>
                <a:solidFill>
                  <a:srgbClr val="332E2A"/>
                </a:solidFill>
                <a:effectLst/>
                <a:uLnTx/>
                <a:uFillTx/>
                <a:latin typeface="Arial"/>
                <a:ea typeface="+mn-ea"/>
                <a:cs typeface="+mn-cs"/>
              </a:rPr>
              <a:t>), with a confidence interval of 302–348 units (</a:t>
            </a:r>
            <a:r>
              <a:rPr kumimoji="0" lang="en-GB" sz="1800" b="0" i="0" u="none" strike="noStrike" kern="1200" cap="none" spc="0" normalizeH="0" baseline="0" noProof="0" dirty="0" err="1">
                <a:ln>
                  <a:noFill/>
                </a:ln>
                <a:solidFill>
                  <a:srgbClr val="332E2A"/>
                </a:solidFill>
                <a:effectLst/>
                <a:uLnTx/>
                <a:uFillTx/>
                <a:latin typeface="Arial"/>
                <a:ea typeface="+mn-ea"/>
                <a:cs typeface="+mn-cs"/>
              </a:rPr>
              <a:t>yhat_lower</a:t>
            </a:r>
            <a:r>
              <a:rPr kumimoji="0" lang="en-GB" sz="1800" b="0" i="0" u="none" strike="noStrike" kern="1200" cap="none" spc="0" normalizeH="0" baseline="0" noProof="0" dirty="0">
                <a:ln>
                  <a:noFill/>
                </a:ln>
                <a:solidFill>
                  <a:srgbClr val="332E2A"/>
                </a:solidFill>
                <a:effectLst/>
                <a:uLnTx/>
                <a:uFillTx/>
                <a:latin typeface="Arial"/>
                <a:ea typeface="+mn-ea"/>
                <a:cs typeface="+mn-cs"/>
              </a:rPr>
              <a:t> to </a:t>
            </a:r>
            <a:r>
              <a:rPr kumimoji="0" lang="en-GB" sz="1800" b="0" i="0" u="none" strike="noStrike" kern="1200" cap="none" spc="0" normalizeH="0" baseline="0" noProof="0" dirty="0" err="1">
                <a:ln>
                  <a:noFill/>
                </a:ln>
                <a:solidFill>
                  <a:srgbClr val="332E2A"/>
                </a:solidFill>
                <a:effectLst/>
                <a:uLnTx/>
                <a:uFillTx/>
                <a:latin typeface="Arial"/>
                <a:ea typeface="+mn-ea"/>
                <a:cs typeface="+mn-cs"/>
              </a:rPr>
              <a:t>yhat_upper</a:t>
            </a:r>
            <a:r>
              <a:rPr kumimoji="0" lang="en-GB" sz="1800" b="0" i="0" u="none" strike="noStrike" kern="1200" cap="none" spc="0" normalizeH="0" baseline="0" noProof="0" dirty="0">
                <a:ln>
                  <a:noFill/>
                </a:ln>
                <a:solidFill>
                  <a:srgbClr val="332E2A"/>
                </a:solidFill>
                <a:effectLst/>
                <a:uLnTx/>
                <a:uFillTx/>
                <a:latin typeface="Arial"/>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32E2A"/>
                </a:solidFill>
                <a:effectLst/>
                <a:uLnTx/>
                <a:uFillTx/>
                <a:latin typeface="Arial"/>
                <a:ea typeface="+mn-ea"/>
                <a:cs typeface="+mn-cs"/>
              </a:rPr>
              <a:t>Actual sales (June 30: 318 units) align closely.</a:t>
            </a:r>
          </a:p>
        </p:txBody>
      </p:sp>
      <p:sp>
        <p:nvSpPr>
          <p:cNvPr id="8" name="TextBox 7">
            <a:extLst>
              <a:ext uri="{FF2B5EF4-FFF2-40B4-BE49-F238E27FC236}">
                <a16:creationId xmlns:a16="http://schemas.microsoft.com/office/drawing/2014/main" id="{286B489A-9329-8706-9C82-89934355C048}"/>
              </a:ext>
            </a:extLst>
          </p:cNvPr>
          <p:cNvSpPr txBox="1"/>
          <p:nvPr/>
        </p:nvSpPr>
        <p:spPr>
          <a:xfrm>
            <a:off x="102917" y="1817250"/>
            <a:ext cx="6727902" cy="923330"/>
          </a:xfrm>
          <a:prstGeom prst="rect">
            <a:avLst/>
          </a:prstGeom>
          <a:solidFill>
            <a:schemeClr val="tx2">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Promotions add 30–70 units: July 15 forecast jumps to 385 units due to a scheduled promo, matching historical patterns (e.g., June 15: 390 units).</a:t>
            </a:r>
            <a:endParaRPr kumimoji="0" lang="en-GB" sz="1800" b="0" i="0" u="none" strike="noStrike" kern="1200" cap="none" spc="0" normalizeH="0" baseline="0" noProof="0" dirty="0">
              <a:ln>
                <a:noFill/>
              </a:ln>
              <a:solidFill>
                <a:srgbClr val="332E2A"/>
              </a:solidFill>
              <a:effectLst/>
              <a:uLnTx/>
              <a:uFillTx/>
              <a:latin typeface="Arial"/>
              <a:ea typeface="+mn-ea"/>
              <a:cs typeface="+mn-cs"/>
            </a:endParaRPr>
          </a:p>
        </p:txBody>
      </p:sp>
      <p:sp>
        <p:nvSpPr>
          <p:cNvPr id="10" name="TextBox 9">
            <a:extLst>
              <a:ext uri="{FF2B5EF4-FFF2-40B4-BE49-F238E27FC236}">
                <a16:creationId xmlns:a16="http://schemas.microsoft.com/office/drawing/2014/main" id="{5A190905-7291-487E-3C9B-AC420F3067ED}"/>
              </a:ext>
            </a:extLst>
          </p:cNvPr>
          <p:cNvSpPr txBox="1"/>
          <p:nvPr/>
        </p:nvSpPr>
        <p:spPr>
          <a:xfrm>
            <a:off x="148682" y="3845804"/>
            <a:ext cx="4423318" cy="1200329"/>
          </a:xfrm>
          <a:prstGeom prst="rect">
            <a:avLst/>
          </a:prstGeom>
          <a:solidFill>
            <a:schemeClr val="tx2">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RMSE of 24.7 (calculated in Sales-</a:t>
            </a:r>
            <a:r>
              <a:rPr lang="en-GB" dirty="0" err="1"/>
              <a:t>Forecasting.ipynb</a:t>
            </a:r>
            <a:r>
              <a:rPr lang="en-GB" dirty="0"/>
              <a:t>) shows strong accuracy, with errors mostly on promo days due to variability.</a:t>
            </a:r>
            <a:endParaRPr kumimoji="0" lang="en-GB" sz="1800" b="0" i="0" u="none" strike="noStrike" kern="1200" cap="none" spc="0" normalizeH="0" baseline="0" noProof="0" dirty="0">
              <a:ln>
                <a:noFill/>
              </a:ln>
              <a:solidFill>
                <a:srgbClr val="332E2A"/>
              </a:solidFill>
              <a:effectLst/>
              <a:uLnTx/>
              <a:uFillTx/>
              <a:latin typeface="Arial"/>
              <a:ea typeface="+mn-ea"/>
              <a:cs typeface="+mn-cs"/>
            </a:endParaRPr>
          </a:p>
        </p:txBody>
      </p:sp>
    </p:spTree>
    <p:extLst>
      <p:ext uri="{BB962C8B-B14F-4D97-AF65-F5344CB8AC3E}">
        <p14:creationId xmlns:p14="http://schemas.microsoft.com/office/powerpoint/2010/main" val="4274573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ADBC2-4FB0-4051-3668-31E88A4CE7E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6631C2E-8688-4C33-1DA7-0FD193973484}"/>
              </a:ext>
            </a:extLst>
          </p:cNvPr>
          <p:cNvSpPr txBox="1"/>
          <p:nvPr/>
        </p:nvSpPr>
        <p:spPr>
          <a:xfrm>
            <a:off x="1464528" y="-108615"/>
            <a:ext cx="7107043" cy="584775"/>
          </a:xfrm>
          <a:prstGeom prst="rect">
            <a:avLst/>
          </a:prstGeom>
          <a:noFill/>
        </p:spPr>
        <p:txBody>
          <a:bodyPr wrap="square">
            <a:spAutoFit/>
          </a:bodyPr>
          <a:lstStyle/>
          <a:p>
            <a:r>
              <a:rPr lang="en-GB" sz="3200" b="1" dirty="0">
                <a:solidFill>
                  <a:schemeClr val="tx2"/>
                </a:solidFill>
                <a:latin typeface="Aptos" panose="020B0004020202020204" pitchFamily="34" charset="0"/>
              </a:rPr>
              <a:t>Supply Chain Insights - Content</a:t>
            </a:r>
          </a:p>
        </p:txBody>
      </p:sp>
      <p:pic>
        <p:nvPicPr>
          <p:cNvPr id="9" name="Picture 8">
            <a:extLst>
              <a:ext uri="{FF2B5EF4-FFF2-40B4-BE49-F238E27FC236}">
                <a16:creationId xmlns:a16="http://schemas.microsoft.com/office/drawing/2014/main" id="{E7184B27-3CEA-80E2-2DD7-CA6B1A8D3942}"/>
              </a:ext>
            </a:extLst>
          </p:cNvPr>
          <p:cNvPicPr>
            <a:picLocks noChangeAspect="1"/>
          </p:cNvPicPr>
          <p:nvPr/>
        </p:nvPicPr>
        <p:blipFill>
          <a:blip r:embed="rId2">
            <a:extLst>
              <a:ext uri="{28A0092B-C50C-407E-A947-70E740481C1C}">
                <a14:useLocalDpi xmlns:a14="http://schemas.microsoft.com/office/drawing/2010/main" val="0"/>
              </a:ext>
            </a:extLst>
          </a:blip>
          <a:srcRect t="15780" b="15780"/>
          <a:stretch/>
        </p:blipFill>
        <p:spPr>
          <a:xfrm>
            <a:off x="0" y="394011"/>
            <a:ext cx="4626362" cy="4749490"/>
          </a:xfrm>
          <a:prstGeom prst="rtTriangle">
            <a:avLst/>
          </a:prstGeom>
          <a:ln w="19050">
            <a:solidFill>
              <a:schemeClr val="tx2"/>
            </a:solidFill>
          </a:ln>
        </p:spPr>
      </p:pic>
      <p:sp>
        <p:nvSpPr>
          <p:cNvPr id="12" name="TextBox 11">
            <a:extLst>
              <a:ext uri="{FF2B5EF4-FFF2-40B4-BE49-F238E27FC236}">
                <a16:creationId xmlns:a16="http://schemas.microsoft.com/office/drawing/2014/main" id="{8B50032F-3A50-79BA-E817-262F1D49090A}"/>
              </a:ext>
            </a:extLst>
          </p:cNvPr>
          <p:cNvSpPr txBox="1"/>
          <p:nvPr/>
        </p:nvSpPr>
        <p:spPr>
          <a:xfrm>
            <a:off x="3330499" y="2768755"/>
            <a:ext cx="5642516" cy="646331"/>
          </a:xfrm>
          <a:prstGeom prst="rect">
            <a:avLst/>
          </a:prstGeom>
          <a:solidFill>
            <a:schemeClr val="tx2">
              <a:lumMod val="20000"/>
              <a:lumOff val="80000"/>
            </a:schemeClr>
          </a:solidFill>
        </p:spPr>
        <p:txBody>
          <a:bodyPr wrap="square">
            <a:spAutoFit/>
          </a:bodyPr>
          <a:lstStyle/>
          <a:p>
            <a:pPr algn="ctr"/>
            <a:r>
              <a:rPr lang="en-GB" b="1" dirty="0"/>
              <a:t>Fix: </a:t>
            </a:r>
          </a:p>
          <a:p>
            <a:pPr algn="ctr"/>
            <a:r>
              <a:rPr lang="en-GB" dirty="0"/>
              <a:t>Adjusted inventory base to 300 units from 500</a:t>
            </a:r>
          </a:p>
        </p:txBody>
      </p:sp>
      <p:sp>
        <p:nvSpPr>
          <p:cNvPr id="6" name="TextBox 5">
            <a:extLst>
              <a:ext uri="{FF2B5EF4-FFF2-40B4-BE49-F238E27FC236}">
                <a16:creationId xmlns:a16="http://schemas.microsoft.com/office/drawing/2014/main" id="{A6BF1706-C453-8EC9-5007-15BA87AA5144}"/>
              </a:ext>
            </a:extLst>
          </p:cNvPr>
          <p:cNvSpPr txBox="1"/>
          <p:nvPr/>
        </p:nvSpPr>
        <p:spPr>
          <a:xfrm>
            <a:off x="1345582" y="891431"/>
            <a:ext cx="7597698" cy="646331"/>
          </a:xfrm>
          <a:prstGeom prst="rect">
            <a:avLst/>
          </a:prstGeom>
          <a:solidFill>
            <a:schemeClr val="tx2">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332E2A"/>
                </a:solidFill>
                <a:effectLst/>
                <a:uLnTx/>
                <a:uFillTx/>
                <a:latin typeface="Arial"/>
                <a:ea typeface="+mn-ea"/>
                <a:cs typeface="+mn-cs"/>
              </a:rPr>
              <a:t>Logic: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32E2A"/>
                </a:solidFill>
                <a:effectLst/>
                <a:uLnTx/>
                <a:uFillTx/>
                <a:latin typeface="Arial"/>
                <a:ea typeface="+mn-ea"/>
                <a:cs typeface="+mn-cs"/>
              </a:rPr>
              <a:t>Reorder if </a:t>
            </a:r>
            <a:r>
              <a:rPr kumimoji="0" lang="en-GB" sz="1800" b="0" i="0" u="none" strike="noStrike" kern="1200" cap="none" spc="0" normalizeH="0" baseline="0" noProof="0" dirty="0" err="1">
                <a:ln>
                  <a:noFill/>
                </a:ln>
                <a:solidFill>
                  <a:srgbClr val="332E2A"/>
                </a:solidFill>
                <a:effectLst/>
                <a:uLnTx/>
                <a:uFillTx/>
                <a:latin typeface="Arial"/>
                <a:ea typeface="+mn-ea"/>
                <a:cs typeface="+mn-cs"/>
              </a:rPr>
              <a:t>inventory_level</a:t>
            </a:r>
            <a:r>
              <a:rPr kumimoji="0" lang="en-GB" sz="1800" b="0" i="0" u="none" strike="noStrike" kern="1200" cap="none" spc="0" normalizeH="0" baseline="0" noProof="0" dirty="0">
                <a:ln>
                  <a:noFill/>
                </a:ln>
                <a:solidFill>
                  <a:srgbClr val="332E2A"/>
                </a:solidFill>
                <a:effectLst/>
                <a:uLnTx/>
                <a:uFillTx/>
                <a:latin typeface="Arial"/>
                <a:ea typeface="+mn-ea"/>
                <a:cs typeface="+mn-cs"/>
              </a:rPr>
              <a:t> &lt; </a:t>
            </a:r>
            <a:r>
              <a:rPr kumimoji="0" lang="en-GB" sz="1800" b="0" i="0" u="none" strike="noStrike" kern="1200" cap="none" spc="0" normalizeH="0" baseline="0" noProof="0" dirty="0" err="1">
                <a:ln>
                  <a:noFill/>
                </a:ln>
                <a:solidFill>
                  <a:srgbClr val="332E2A"/>
                </a:solidFill>
                <a:effectLst/>
                <a:uLnTx/>
                <a:uFillTx/>
                <a:latin typeface="Arial"/>
                <a:ea typeface="+mn-ea"/>
                <a:cs typeface="+mn-cs"/>
              </a:rPr>
              <a:t>predicted_units_sold</a:t>
            </a:r>
            <a:r>
              <a:rPr kumimoji="0" lang="en-GB" sz="1800" b="0" i="0" u="none" strike="noStrike" kern="1200" cap="none" spc="0" normalizeH="0" baseline="0" noProof="0" dirty="0">
                <a:ln>
                  <a:noFill/>
                </a:ln>
                <a:solidFill>
                  <a:srgbClr val="332E2A"/>
                </a:solidFill>
                <a:effectLst/>
                <a:uLnTx/>
                <a:uFillTx/>
                <a:latin typeface="Arial"/>
                <a:ea typeface="+mn-ea"/>
                <a:cs typeface="+mn-cs"/>
              </a:rPr>
              <a:t> + 50-unit buffer</a:t>
            </a:r>
          </a:p>
        </p:txBody>
      </p:sp>
      <p:sp>
        <p:nvSpPr>
          <p:cNvPr id="8" name="TextBox 7">
            <a:extLst>
              <a:ext uri="{FF2B5EF4-FFF2-40B4-BE49-F238E27FC236}">
                <a16:creationId xmlns:a16="http://schemas.microsoft.com/office/drawing/2014/main" id="{818E0E89-00E5-7245-84C4-9DD129A9FA8B}"/>
              </a:ext>
            </a:extLst>
          </p:cNvPr>
          <p:cNvSpPr txBox="1"/>
          <p:nvPr/>
        </p:nvSpPr>
        <p:spPr>
          <a:xfrm>
            <a:off x="2245113" y="1789075"/>
            <a:ext cx="6727902" cy="646331"/>
          </a:xfrm>
          <a:prstGeom prst="rect">
            <a:avLst/>
          </a:prstGeom>
          <a:solidFill>
            <a:schemeClr val="tx2">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332E2A"/>
                </a:solidFill>
                <a:effectLst/>
                <a:uLnTx/>
                <a:uFillTx/>
                <a:latin typeface="Arial"/>
                <a:ea typeface="+mn-ea"/>
                <a:cs typeface="+mn-cs"/>
              </a:rPr>
              <a:t>Alerts: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32E2A"/>
                </a:solidFill>
                <a:effectLst/>
                <a:uLnTx/>
                <a:uFillTx/>
                <a:latin typeface="Arial"/>
                <a:ea typeface="+mn-ea"/>
                <a:cs typeface="+mn-cs"/>
              </a:rPr>
              <a:t>12 low-stock days in July 2024</a:t>
            </a:r>
          </a:p>
        </p:txBody>
      </p:sp>
      <p:sp>
        <p:nvSpPr>
          <p:cNvPr id="10" name="TextBox 9">
            <a:extLst>
              <a:ext uri="{FF2B5EF4-FFF2-40B4-BE49-F238E27FC236}">
                <a16:creationId xmlns:a16="http://schemas.microsoft.com/office/drawing/2014/main" id="{79330C56-C277-BF23-870C-9970CBA9C591}"/>
              </a:ext>
            </a:extLst>
          </p:cNvPr>
          <p:cNvSpPr txBox="1"/>
          <p:nvPr/>
        </p:nvSpPr>
        <p:spPr>
          <a:xfrm>
            <a:off x="4519962" y="3748437"/>
            <a:ext cx="4423318" cy="923330"/>
          </a:xfrm>
          <a:prstGeom prst="rect">
            <a:avLst/>
          </a:prstGeom>
          <a:solidFill>
            <a:schemeClr val="tx2">
              <a:lumMod val="20000"/>
              <a:lumOff val="80000"/>
            </a:schemeClr>
          </a:solidFill>
        </p:spPr>
        <p:txBody>
          <a:bodyPr wrap="square">
            <a:spAutoFit/>
          </a:bodyPr>
          <a:lstStyle/>
          <a:p>
            <a:pPr algn="ctr"/>
            <a:r>
              <a:rPr lang="en-GB" b="1" dirty="0"/>
              <a:t>Files: </a:t>
            </a:r>
          </a:p>
          <a:p>
            <a:pPr algn="ctr"/>
            <a:r>
              <a:rPr lang="en-GB" dirty="0"/>
              <a:t>supply_chain_insights.csv reorder_alerts.html</a:t>
            </a:r>
          </a:p>
        </p:txBody>
      </p:sp>
    </p:spTree>
    <p:extLst>
      <p:ext uri="{BB962C8B-B14F-4D97-AF65-F5344CB8AC3E}">
        <p14:creationId xmlns:p14="http://schemas.microsoft.com/office/powerpoint/2010/main" val="828102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ADC10-800C-28E1-013A-B40DC666CE7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FDC0530-C768-71AD-6860-9467FB92D21C}"/>
              </a:ext>
            </a:extLst>
          </p:cNvPr>
          <p:cNvSpPr txBox="1"/>
          <p:nvPr/>
        </p:nvSpPr>
        <p:spPr>
          <a:xfrm>
            <a:off x="1464528" y="-108615"/>
            <a:ext cx="7107043" cy="584775"/>
          </a:xfrm>
          <a:prstGeom prst="rect">
            <a:avLst/>
          </a:prstGeom>
          <a:noFill/>
        </p:spPr>
        <p:txBody>
          <a:bodyPr wrap="square">
            <a:spAutoFit/>
          </a:bodyPr>
          <a:lstStyle/>
          <a:p>
            <a:r>
              <a:rPr lang="en-GB" sz="3200" b="1" dirty="0">
                <a:solidFill>
                  <a:schemeClr val="tx2"/>
                </a:solidFill>
                <a:latin typeface="Aptos" panose="020B0004020202020204" pitchFamily="34" charset="0"/>
              </a:rPr>
              <a:t>Supply Chain Insights - Analysis</a:t>
            </a:r>
          </a:p>
        </p:txBody>
      </p:sp>
      <p:pic>
        <p:nvPicPr>
          <p:cNvPr id="9" name="Picture 8">
            <a:extLst>
              <a:ext uri="{FF2B5EF4-FFF2-40B4-BE49-F238E27FC236}">
                <a16:creationId xmlns:a16="http://schemas.microsoft.com/office/drawing/2014/main" id="{EF760D9C-8D8B-AEBE-F00B-D5A579F1ACD7}"/>
              </a:ext>
            </a:extLst>
          </p:cNvPr>
          <p:cNvPicPr>
            <a:picLocks noChangeAspect="1"/>
          </p:cNvPicPr>
          <p:nvPr/>
        </p:nvPicPr>
        <p:blipFill>
          <a:blip r:embed="rId2">
            <a:extLst>
              <a:ext uri="{28A0092B-C50C-407E-A947-70E740481C1C}">
                <a14:useLocalDpi xmlns:a14="http://schemas.microsoft.com/office/drawing/2010/main" val="0"/>
              </a:ext>
            </a:extLst>
          </a:blip>
          <a:srcRect t="15780" b="15780"/>
          <a:stretch/>
        </p:blipFill>
        <p:spPr>
          <a:xfrm flipH="1">
            <a:off x="4517638" y="394010"/>
            <a:ext cx="4626362" cy="4749490"/>
          </a:xfrm>
          <a:prstGeom prst="rtTriangle">
            <a:avLst/>
          </a:prstGeom>
          <a:ln w="19050">
            <a:solidFill>
              <a:schemeClr val="tx2"/>
            </a:solidFill>
          </a:ln>
        </p:spPr>
      </p:pic>
      <p:sp>
        <p:nvSpPr>
          <p:cNvPr id="12" name="TextBox 11">
            <a:extLst>
              <a:ext uri="{FF2B5EF4-FFF2-40B4-BE49-F238E27FC236}">
                <a16:creationId xmlns:a16="http://schemas.microsoft.com/office/drawing/2014/main" id="{1FCC4048-150E-6ED9-B062-95ADD462F962}"/>
              </a:ext>
            </a:extLst>
          </p:cNvPr>
          <p:cNvSpPr txBox="1"/>
          <p:nvPr/>
        </p:nvSpPr>
        <p:spPr>
          <a:xfrm>
            <a:off x="81774" y="2571750"/>
            <a:ext cx="5181602" cy="1768309"/>
          </a:xfrm>
          <a:prstGeom prst="rect">
            <a:avLst/>
          </a:prstGeom>
          <a:solidFill>
            <a:schemeClr val="tx2">
              <a:lumMod val="20000"/>
              <a:lumOff val="80000"/>
            </a:schemeClr>
          </a:solidFill>
        </p:spPr>
        <p:txBody>
          <a:bodyPr wrap="square">
            <a:spAutoFit/>
          </a:bodyPr>
          <a:lstStyle/>
          <a:p>
            <a:pPr algn="ctr"/>
            <a:r>
              <a:rPr lang="en-GB" dirty="0"/>
              <a:t>reorder_alerts.html scatter plot shows alerts clustering mid-month (July 5–15), aligning with promo spikes (e.g., July 15 inventory drops to 260 vs. 385 predicted). Average reorder quantity is 85 units, ensuring a safe buffer for </a:t>
            </a:r>
            <a:r>
              <a:rPr lang="en-GB" dirty="0" err="1"/>
              <a:t>Laitinelle’s</a:t>
            </a:r>
            <a:r>
              <a:rPr lang="en-GB" dirty="0"/>
              <a:t> 2–7 day lead times.</a:t>
            </a:r>
          </a:p>
        </p:txBody>
      </p:sp>
      <p:sp>
        <p:nvSpPr>
          <p:cNvPr id="6" name="TextBox 5">
            <a:extLst>
              <a:ext uri="{FF2B5EF4-FFF2-40B4-BE49-F238E27FC236}">
                <a16:creationId xmlns:a16="http://schemas.microsoft.com/office/drawing/2014/main" id="{471CDBC3-1DAF-E621-DA15-651507AD0CFF}"/>
              </a:ext>
            </a:extLst>
          </p:cNvPr>
          <p:cNvSpPr txBox="1"/>
          <p:nvPr/>
        </p:nvSpPr>
        <p:spPr>
          <a:xfrm>
            <a:off x="81774" y="476160"/>
            <a:ext cx="8028880" cy="923330"/>
          </a:xfrm>
          <a:prstGeom prst="rect">
            <a:avLst/>
          </a:prstGeom>
          <a:solidFill>
            <a:schemeClr val="tx2">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i="0" u="none" strike="noStrike" kern="1200" cap="none" spc="0" normalizeH="0" baseline="0" noProof="0" dirty="0">
                <a:ln>
                  <a:noFill/>
                </a:ln>
                <a:solidFill>
                  <a:srgbClr val="332E2A"/>
                </a:solidFill>
                <a:effectLst/>
                <a:uLnTx/>
                <a:uFillTx/>
                <a:latin typeface="Arial"/>
                <a:ea typeface="+mn-ea"/>
                <a:cs typeface="+mn-cs"/>
              </a:rPr>
              <a:t>From supply_chain_insights.csv, 12 reorder alerts triggered in July 2024 (e.g., July 5: inventory 280, predicted 340, </a:t>
            </a:r>
            <a:r>
              <a:rPr kumimoji="0" lang="en-GB" sz="1800" i="0" u="none" strike="noStrike" kern="1200" cap="none" spc="0" normalizeH="0" baseline="0" noProof="0" dirty="0" err="1">
                <a:ln>
                  <a:noFill/>
                </a:ln>
                <a:solidFill>
                  <a:srgbClr val="332E2A"/>
                </a:solidFill>
                <a:effectLst/>
                <a:uLnTx/>
                <a:uFillTx/>
                <a:latin typeface="Arial"/>
                <a:ea typeface="+mn-ea"/>
                <a:cs typeface="+mn-cs"/>
              </a:rPr>
              <a:t>reorder_alert</a:t>
            </a:r>
            <a:r>
              <a:rPr kumimoji="0" lang="en-GB" sz="1800" i="0" u="none" strike="noStrike" kern="1200" cap="none" spc="0" normalizeH="0" baseline="0" noProof="0" dirty="0">
                <a:ln>
                  <a:noFill/>
                </a:ln>
                <a:solidFill>
                  <a:srgbClr val="332E2A"/>
                </a:solidFill>
                <a:effectLst/>
                <a:uLnTx/>
                <a:uFillTx/>
                <a:latin typeface="Arial"/>
                <a:ea typeface="+mn-ea"/>
                <a:cs typeface="+mn-cs"/>
              </a:rPr>
              <a:t> = True, </a:t>
            </a:r>
            <a:r>
              <a:rPr kumimoji="0" lang="en-GB" sz="1800" i="0" u="none" strike="noStrike" kern="1200" cap="none" spc="0" normalizeH="0" baseline="0" noProof="0" dirty="0" err="1">
                <a:ln>
                  <a:noFill/>
                </a:ln>
                <a:solidFill>
                  <a:srgbClr val="332E2A"/>
                </a:solidFill>
                <a:effectLst/>
                <a:uLnTx/>
                <a:uFillTx/>
                <a:latin typeface="Arial"/>
                <a:ea typeface="+mn-ea"/>
                <a:cs typeface="+mn-cs"/>
              </a:rPr>
              <a:t>reorder_quantity</a:t>
            </a:r>
            <a:r>
              <a:rPr kumimoji="0" lang="en-GB" sz="1800" i="0" u="none" strike="noStrike" kern="1200" cap="none" spc="0" normalizeH="0" baseline="0" noProof="0" dirty="0">
                <a:ln>
                  <a:noFill/>
                </a:ln>
                <a:solidFill>
                  <a:srgbClr val="332E2A"/>
                </a:solidFill>
                <a:effectLst/>
                <a:uLnTx/>
                <a:uFillTx/>
                <a:latin typeface="Arial"/>
                <a:ea typeface="+mn-ea"/>
                <a:cs typeface="+mn-cs"/>
              </a:rPr>
              <a:t> = 110 units).</a:t>
            </a:r>
          </a:p>
        </p:txBody>
      </p:sp>
      <p:sp>
        <p:nvSpPr>
          <p:cNvPr id="8" name="TextBox 7">
            <a:extLst>
              <a:ext uri="{FF2B5EF4-FFF2-40B4-BE49-F238E27FC236}">
                <a16:creationId xmlns:a16="http://schemas.microsoft.com/office/drawing/2014/main" id="{C1414ABC-35E3-F0E7-E798-47F9CBCC84DB}"/>
              </a:ext>
            </a:extLst>
          </p:cNvPr>
          <p:cNvSpPr txBox="1"/>
          <p:nvPr/>
        </p:nvSpPr>
        <p:spPr>
          <a:xfrm>
            <a:off x="81774" y="1512790"/>
            <a:ext cx="6989259" cy="945659"/>
          </a:xfrm>
          <a:prstGeom prst="rect">
            <a:avLst/>
          </a:prstGeom>
          <a:solidFill>
            <a:schemeClr val="tx2">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i="0" u="none" strike="noStrike" kern="1200" cap="none" spc="0" normalizeH="0" baseline="0" noProof="0" dirty="0">
                <a:ln>
                  <a:noFill/>
                </a:ln>
                <a:solidFill>
                  <a:srgbClr val="332E2A"/>
                </a:solidFill>
                <a:effectLst/>
                <a:uLnTx/>
                <a:uFillTx/>
                <a:latin typeface="Arial"/>
                <a:ea typeface="+mn-ea"/>
                <a:cs typeface="+mn-cs"/>
              </a:rPr>
              <a:t>Before the fix (old_supply_chain_insights.csv), all alerts were False due to high inventory (e.g., July 5: inventory 510, predicted 340). Post-fix, alerts now reflect realistic stock levels.</a:t>
            </a:r>
          </a:p>
        </p:txBody>
      </p:sp>
      <p:sp>
        <p:nvSpPr>
          <p:cNvPr id="10" name="TextBox 9">
            <a:extLst>
              <a:ext uri="{FF2B5EF4-FFF2-40B4-BE49-F238E27FC236}">
                <a16:creationId xmlns:a16="http://schemas.microsoft.com/office/drawing/2014/main" id="{03CFAFD7-B3E3-11E3-FDE7-D77D1483F0AA}"/>
              </a:ext>
            </a:extLst>
          </p:cNvPr>
          <p:cNvSpPr txBox="1"/>
          <p:nvPr/>
        </p:nvSpPr>
        <p:spPr>
          <a:xfrm>
            <a:off x="148682" y="4426324"/>
            <a:ext cx="4423318" cy="646331"/>
          </a:xfrm>
          <a:prstGeom prst="rect">
            <a:avLst/>
          </a:prstGeom>
          <a:solidFill>
            <a:schemeClr val="tx2">
              <a:lumMod val="20000"/>
              <a:lumOff val="80000"/>
            </a:schemeClr>
          </a:solidFill>
        </p:spPr>
        <p:txBody>
          <a:bodyPr wrap="square">
            <a:spAutoFit/>
          </a:bodyPr>
          <a:lstStyle/>
          <a:p>
            <a:pPr algn="ctr"/>
            <a:r>
              <a:rPr lang="en-GB" b="1" dirty="0"/>
              <a:t>Files: </a:t>
            </a:r>
            <a:r>
              <a:rPr lang="en-GB" dirty="0"/>
              <a:t>supply_chain_insights.csv reorder_alerts.html</a:t>
            </a:r>
          </a:p>
        </p:txBody>
      </p:sp>
    </p:spTree>
    <p:extLst>
      <p:ext uri="{BB962C8B-B14F-4D97-AF65-F5344CB8AC3E}">
        <p14:creationId xmlns:p14="http://schemas.microsoft.com/office/powerpoint/2010/main" val="124699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D8A23D-FD8E-1993-342D-959372587FCE}"/>
              </a:ext>
            </a:extLst>
          </p:cNvPr>
          <p:cNvSpPr txBox="1"/>
          <p:nvPr/>
        </p:nvSpPr>
        <p:spPr>
          <a:xfrm>
            <a:off x="2955073" y="-117759"/>
            <a:ext cx="3233854" cy="646331"/>
          </a:xfrm>
          <a:prstGeom prst="rect">
            <a:avLst/>
          </a:prstGeom>
          <a:noFill/>
        </p:spPr>
        <p:txBody>
          <a:bodyPr wrap="square">
            <a:spAutoFit/>
          </a:bodyPr>
          <a:lstStyle/>
          <a:p>
            <a:r>
              <a:rPr lang="en-GB" sz="3600" b="1" dirty="0">
                <a:solidFill>
                  <a:schemeClr val="tx2"/>
                </a:solidFill>
                <a:effectLst/>
                <a:latin typeface="Aptos" panose="020B0004020202020204" pitchFamily="34" charset="0"/>
              </a:rPr>
              <a:t>Key Analyses</a:t>
            </a:r>
          </a:p>
        </p:txBody>
      </p:sp>
      <p:sp>
        <p:nvSpPr>
          <p:cNvPr id="5" name="TextBox 4">
            <a:extLst>
              <a:ext uri="{FF2B5EF4-FFF2-40B4-BE49-F238E27FC236}">
                <a16:creationId xmlns:a16="http://schemas.microsoft.com/office/drawing/2014/main" id="{FCA1F30A-89A2-6E3A-3A2A-780250AD694D}"/>
              </a:ext>
            </a:extLst>
          </p:cNvPr>
          <p:cNvSpPr txBox="1"/>
          <p:nvPr/>
        </p:nvSpPr>
        <p:spPr>
          <a:xfrm>
            <a:off x="126382" y="448091"/>
            <a:ext cx="3337932" cy="4524315"/>
          </a:xfrm>
          <a:prstGeom prst="rect">
            <a:avLst/>
          </a:prstGeom>
          <a:solidFill>
            <a:schemeClr val="bg2"/>
          </a:solidFill>
        </p:spPr>
        <p:txBody>
          <a:bodyPr wrap="square">
            <a:spAutoFit/>
          </a:bodyPr>
          <a:lstStyle/>
          <a:p>
            <a:r>
              <a:rPr lang="en-GB" dirty="0"/>
              <a:t>Temperature: +1.5 units/°C above 25°C</a:t>
            </a:r>
          </a:p>
          <a:p>
            <a:endParaRPr lang="en-GB" dirty="0"/>
          </a:p>
          <a:p>
            <a:endParaRPr lang="en-GB" dirty="0"/>
          </a:p>
          <a:p>
            <a:endParaRPr lang="en-GB" dirty="0"/>
          </a:p>
          <a:p>
            <a:endParaRPr lang="en-GB" dirty="0"/>
          </a:p>
          <a:p>
            <a:r>
              <a:rPr lang="en-GB" dirty="0"/>
              <a:t>Promotions: +30–70 units on campaign days</a:t>
            </a:r>
          </a:p>
          <a:p>
            <a:endParaRPr lang="en-GB" dirty="0"/>
          </a:p>
          <a:p>
            <a:endParaRPr lang="en-GB" dirty="0"/>
          </a:p>
          <a:p>
            <a:endParaRPr lang="en-GB" dirty="0"/>
          </a:p>
          <a:p>
            <a:r>
              <a:rPr lang="en-GB" dirty="0"/>
              <a:t>Confidence: ±20–30 units</a:t>
            </a:r>
          </a:p>
          <a:p>
            <a:endParaRPr lang="en-GB" dirty="0"/>
          </a:p>
          <a:p>
            <a:pPr>
              <a:buFont typeface="Arial" panose="020B0604020202020204" pitchFamily="34" charset="0"/>
              <a:buChar char="•"/>
            </a:pPr>
            <a:endParaRPr lang="en-GB" dirty="0"/>
          </a:p>
          <a:p>
            <a:endParaRPr lang="en-GB" dirty="0"/>
          </a:p>
          <a:p>
            <a:pPr>
              <a:buFont typeface="Arial" panose="020B0604020202020204" pitchFamily="34" charset="0"/>
              <a:buChar char="•"/>
            </a:pPr>
            <a:r>
              <a:rPr lang="en-GB" b="1" u="sng" dirty="0"/>
              <a:t>File: Analysis-</a:t>
            </a:r>
            <a:r>
              <a:rPr lang="en-GB" b="1" u="sng" dirty="0" err="1"/>
              <a:t>Charts.ipynb</a:t>
            </a:r>
            <a:endParaRPr lang="en-GB" b="1" u="sng" dirty="0"/>
          </a:p>
        </p:txBody>
      </p:sp>
      <p:sp>
        <p:nvSpPr>
          <p:cNvPr id="7" name="TextBox 6">
            <a:extLst>
              <a:ext uri="{FF2B5EF4-FFF2-40B4-BE49-F238E27FC236}">
                <a16:creationId xmlns:a16="http://schemas.microsoft.com/office/drawing/2014/main" id="{707CF18F-4D3F-7926-CBAE-E64AD6A932DC}"/>
              </a:ext>
            </a:extLst>
          </p:cNvPr>
          <p:cNvSpPr txBox="1"/>
          <p:nvPr/>
        </p:nvSpPr>
        <p:spPr>
          <a:xfrm>
            <a:off x="3560955" y="448091"/>
            <a:ext cx="5456663" cy="4524315"/>
          </a:xfrm>
          <a:prstGeom prst="rect">
            <a:avLst/>
          </a:prstGeom>
          <a:solidFill>
            <a:schemeClr val="accent1">
              <a:lumMod val="40000"/>
              <a:lumOff val="60000"/>
            </a:schemeClr>
          </a:solidFill>
        </p:spPr>
        <p:txBody>
          <a:bodyPr wrap="square">
            <a:spAutoFit/>
          </a:bodyPr>
          <a:lstStyle/>
          <a:p>
            <a:pPr algn="ctr"/>
            <a:r>
              <a:rPr lang="en-GB" dirty="0"/>
              <a:t>temperature_impact.png scatter plot shows a clear trend: at 15°C, sales average 295 units; at 35°C, they hit 340 units, confirming the +1.5 units/°C effect. A cluster at 30°C shows 330–350 units, driven by summer heat.</a:t>
            </a:r>
          </a:p>
          <a:p>
            <a:pPr algn="ctr"/>
            <a:endParaRPr lang="en-GB" dirty="0"/>
          </a:p>
          <a:p>
            <a:pPr algn="ctr"/>
            <a:r>
              <a:rPr lang="en-GB" dirty="0"/>
              <a:t>promotion_effects.png box plot reveals promo days median at 365 units vs. 305 units non-promo, with outliers on promo days reaching 400 units (e.g., May 15). Non-promo days rarely exceed 340 units.</a:t>
            </a:r>
          </a:p>
          <a:p>
            <a:pPr algn="ctr"/>
            <a:endParaRPr lang="en-GB" dirty="0"/>
          </a:p>
          <a:p>
            <a:pPr algn="ctr"/>
            <a:r>
              <a:rPr lang="en-GB" dirty="0"/>
              <a:t>confidence_intervals.png shows July forecasts with a tight ±25-unit band on average (e.g., July 10: 330 units, 305–355 range), indicating reliable predictions, though promo days widen to ±35 units due to variability.</a:t>
            </a:r>
          </a:p>
        </p:txBody>
      </p:sp>
      <p:sp>
        <p:nvSpPr>
          <p:cNvPr id="9" name="TextBox 8">
            <a:extLst>
              <a:ext uri="{FF2B5EF4-FFF2-40B4-BE49-F238E27FC236}">
                <a16:creationId xmlns:a16="http://schemas.microsoft.com/office/drawing/2014/main" id="{9E9727FD-A58F-8121-7427-AD451E9409FF}"/>
              </a:ext>
            </a:extLst>
          </p:cNvPr>
          <p:cNvSpPr txBox="1"/>
          <p:nvPr/>
        </p:nvSpPr>
        <p:spPr>
          <a:xfrm>
            <a:off x="6188927" y="78759"/>
            <a:ext cx="1970048" cy="369332"/>
          </a:xfrm>
          <a:prstGeom prst="rect">
            <a:avLst/>
          </a:prstGeom>
          <a:noFill/>
        </p:spPr>
        <p:txBody>
          <a:bodyPr wrap="square">
            <a:spAutoFit/>
          </a:bodyPr>
          <a:lstStyle/>
          <a:p>
            <a:pPr algn="ctr">
              <a:buNone/>
            </a:pPr>
            <a:r>
              <a:rPr lang="en-GB" b="1" dirty="0">
                <a:effectLst/>
              </a:rPr>
              <a:t>Analysis:</a:t>
            </a:r>
          </a:p>
        </p:txBody>
      </p:sp>
      <p:sp>
        <p:nvSpPr>
          <p:cNvPr id="11" name="TextBox 10">
            <a:extLst>
              <a:ext uri="{FF2B5EF4-FFF2-40B4-BE49-F238E27FC236}">
                <a16:creationId xmlns:a16="http://schemas.microsoft.com/office/drawing/2014/main" id="{6859FBE5-F582-CF7C-4C6C-2284D49A91DC}"/>
              </a:ext>
            </a:extLst>
          </p:cNvPr>
          <p:cNvSpPr txBox="1"/>
          <p:nvPr/>
        </p:nvSpPr>
        <p:spPr>
          <a:xfrm>
            <a:off x="542692" y="20740"/>
            <a:ext cx="2319454" cy="369332"/>
          </a:xfrm>
          <a:prstGeom prst="rect">
            <a:avLst/>
          </a:prstGeom>
          <a:noFill/>
        </p:spPr>
        <p:txBody>
          <a:bodyPr wrap="square">
            <a:spAutoFit/>
          </a:bodyPr>
          <a:lstStyle/>
          <a:p>
            <a:pPr>
              <a:buNone/>
            </a:pPr>
            <a:r>
              <a:rPr lang="en-GB" b="1" dirty="0">
                <a:effectLst/>
              </a:rPr>
              <a:t>Content</a:t>
            </a:r>
            <a:r>
              <a:rPr lang="en-GB" dirty="0">
                <a:effectLst/>
              </a:rPr>
              <a:t>:</a:t>
            </a:r>
          </a:p>
        </p:txBody>
      </p:sp>
      <p:grpSp>
        <p:nvGrpSpPr>
          <p:cNvPr id="14" name="Group 13">
            <a:extLst>
              <a:ext uri="{FF2B5EF4-FFF2-40B4-BE49-F238E27FC236}">
                <a16:creationId xmlns:a16="http://schemas.microsoft.com/office/drawing/2014/main" id="{B8F0F8E8-F3E5-6DFC-A3D5-BCC7053857E6}"/>
              </a:ext>
            </a:extLst>
          </p:cNvPr>
          <p:cNvGrpSpPr/>
          <p:nvPr/>
        </p:nvGrpSpPr>
        <p:grpSpPr>
          <a:xfrm>
            <a:off x="2981025" y="854851"/>
            <a:ext cx="745920" cy="418320"/>
            <a:chOff x="2981025" y="854851"/>
            <a:chExt cx="745920" cy="418320"/>
          </a:xfrm>
        </p:grpSpPr>
        <mc:AlternateContent xmlns:mc="http://schemas.openxmlformats.org/markup-compatibility/2006">
          <mc:Choice xmlns:p14="http://schemas.microsoft.com/office/powerpoint/2010/main" Requires="p14">
            <p:contentPart p14:bwMode="auto" r:id="rId2">
              <p14:nvContentPartPr>
                <p14:cNvPr id="12" name="Ink 11">
                  <a:extLst>
                    <a:ext uri="{FF2B5EF4-FFF2-40B4-BE49-F238E27FC236}">
                      <a16:creationId xmlns:a16="http://schemas.microsoft.com/office/drawing/2014/main" id="{A7550385-6726-5657-0AE5-BBDF9D4B3FFC}"/>
                    </a:ext>
                  </a:extLst>
                </p14:cNvPr>
                <p14:cNvContentPartPr/>
                <p14:nvPr/>
              </p14:nvContentPartPr>
              <p14:xfrm>
                <a:off x="2981025" y="1039171"/>
                <a:ext cx="551160" cy="53640"/>
              </p14:xfrm>
            </p:contentPart>
          </mc:Choice>
          <mc:Fallback>
            <p:pic>
              <p:nvPicPr>
                <p:cNvPr id="12" name="Ink 11">
                  <a:extLst>
                    <a:ext uri="{FF2B5EF4-FFF2-40B4-BE49-F238E27FC236}">
                      <a16:creationId xmlns:a16="http://schemas.microsoft.com/office/drawing/2014/main" id="{A7550385-6726-5657-0AE5-BBDF9D4B3FFC}"/>
                    </a:ext>
                  </a:extLst>
                </p:cNvPr>
                <p:cNvPicPr/>
                <p:nvPr/>
              </p:nvPicPr>
              <p:blipFill>
                <a:blip r:embed="rId3"/>
                <a:stretch>
                  <a:fillRect/>
                </a:stretch>
              </p:blipFill>
              <p:spPr>
                <a:xfrm>
                  <a:off x="2918025" y="976531"/>
                  <a:ext cx="67680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3" name="Ink 12">
                  <a:extLst>
                    <a:ext uri="{FF2B5EF4-FFF2-40B4-BE49-F238E27FC236}">
                      <a16:creationId xmlns:a16="http://schemas.microsoft.com/office/drawing/2014/main" id="{BF3EB0F0-AE12-B3C1-AB12-37D9BE0E876D}"/>
                    </a:ext>
                  </a:extLst>
                </p14:cNvPr>
                <p14:cNvContentPartPr/>
                <p14:nvPr/>
              </p14:nvContentPartPr>
              <p14:xfrm>
                <a:off x="3494025" y="854851"/>
                <a:ext cx="232920" cy="418320"/>
              </p14:xfrm>
            </p:contentPart>
          </mc:Choice>
          <mc:Fallback>
            <p:pic>
              <p:nvPicPr>
                <p:cNvPr id="13" name="Ink 12">
                  <a:extLst>
                    <a:ext uri="{FF2B5EF4-FFF2-40B4-BE49-F238E27FC236}">
                      <a16:creationId xmlns:a16="http://schemas.microsoft.com/office/drawing/2014/main" id="{BF3EB0F0-AE12-B3C1-AB12-37D9BE0E876D}"/>
                    </a:ext>
                  </a:extLst>
                </p:cNvPr>
                <p:cNvPicPr/>
                <p:nvPr/>
              </p:nvPicPr>
              <p:blipFill>
                <a:blip r:embed="rId5"/>
                <a:stretch>
                  <a:fillRect/>
                </a:stretch>
              </p:blipFill>
              <p:spPr>
                <a:xfrm>
                  <a:off x="3431385" y="791851"/>
                  <a:ext cx="358560" cy="543960"/>
                </a:xfrm>
                <a:prstGeom prst="rect">
                  <a:avLst/>
                </a:prstGeom>
              </p:spPr>
            </p:pic>
          </mc:Fallback>
        </mc:AlternateContent>
      </p:grpSp>
      <p:grpSp>
        <p:nvGrpSpPr>
          <p:cNvPr id="17" name="Group 16">
            <a:extLst>
              <a:ext uri="{FF2B5EF4-FFF2-40B4-BE49-F238E27FC236}">
                <a16:creationId xmlns:a16="http://schemas.microsoft.com/office/drawing/2014/main" id="{FAA76392-F304-0F67-7C17-CE1B41FB9CB7}"/>
              </a:ext>
            </a:extLst>
          </p:cNvPr>
          <p:cNvGrpSpPr/>
          <p:nvPr/>
        </p:nvGrpSpPr>
        <p:grpSpPr>
          <a:xfrm>
            <a:off x="3025665" y="2601571"/>
            <a:ext cx="729720" cy="423360"/>
            <a:chOff x="3025665" y="2601571"/>
            <a:chExt cx="729720" cy="423360"/>
          </a:xfrm>
        </p:grpSpPr>
        <mc:AlternateContent xmlns:mc="http://schemas.openxmlformats.org/markup-compatibility/2006">
          <mc:Choice xmlns:p14="http://schemas.microsoft.com/office/powerpoint/2010/main" Requires="p14">
            <p:contentPart p14:bwMode="auto" r:id="rId6">
              <p14:nvContentPartPr>
                <p14:cNvPr id="15" name="Ink 14">
                  <a:extLst>
                    <a:ext uri="{FF2B5EF4-FFF2-40B4-BE49-F238E27FC236}">
                      <a16:creationId xmlns:a16="http://schemas.microsoft.com/office/drawing/2014/main" id="{6F7C5126-776F-D55C-5F18-1945EBB43C9F}"/>
                    </a:ext>
                  </a:extLst>
                </p14:cNvPr>
                <p14:cNvContentPartPr/>
                <p14:nvPr/>
              </p14:nvContentPartPr>
              <p14:xfrm>
                <a:off x="3025665" y="2802451"/>
                <a:ext cx="610560" cy="360"/>
              </p14:xfrm>
            </p:contentPart>
          </mc:Choice>
          <mc:Fallback>
            <p:pic>
              <p:nvPicPr>
                <p:cNvPr id="15" name="Ink 14">
                  <a:extLst>
                    <a:ext uri="{FF2B5EF4-FFF2-40B4-BE49-F238E27FC236}">
                      <a16:creationId xmlns:a16="http://schemas.microsoft.com/office/drawing/2014/main" id="{6F7C5126-776F-D55C-5F18-1945EBB43C9F}"/>
                    </a:ext>
                  </a:extLst>
                </p:cNvPr>
                <p:cNvPicPr/>
                <p:nvPr/>
              </p:nvPicPr>
              <p:blipFill>
                <a:blip r:embed="rId7"/>
                <a:stretch>
                  <a:fillRect/>
                </a:stretch>
              </p:blipFill>
              <p:spPr>
                <a:xfrm>
                  <a:off x="2962665" y="2739811"/>
                  <a:ext cx="7362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6" name="Ink 15">
                  <a:extLst>
                    <a:ext uri="{FF2B5EF4-FFF2-40B4-BE49-F238E27FC236}">
                      <a16:creationId xmlns:a16="http://schemas.microsoft.com/office/drawing/2014/main" id="{A671B07A-C9FD-0FA9-963F-941A16230E2C}"/>
                    </a:ext>
                  </a:extLst>
                </p14:cNvPr>
                <p14:cNvContentPartPr/>
                <p14:nvPr/>
              </p14:nvContentPartPr>
              <p14:xfrm>
                <a:off x="3612825" y="2601571"/>
                <a:ext cx="142560" cy="423360"/>
              </p14:xfrm>
            </p:contentPart>
          </mc:Choice>
          <mc:Fallback>
            <p:pic>
              <p:nvPicPr>
                <p:cNvPr id="16" name="Ink 15">
                  <a:extLst>
                    <a:ext uri="{FF2B5EF4-FFF2-40B4-BE49-F238E27FC236}">
                      <a16:creationId xmlns:a16="http://schemas.microsoft.com/office/drawing/2014/main" id="{A671B07A-C9FD-0FA9-963F-941A16230E2C}"/>
                    </a:ext>
                  </a:extLst>
                </p:cNvPr>
                <p:cNvPicPr/>
                <p:nvPr/>
              </p:nvPicPr>
              <p:blipFill>
                <a:blip r:embed="rId9"/>
                <a:stretch>
                  <a:fillRect/>
                </a:stretch>
              </p:blipFill>
              <p:spPr>
                <a:xfrm>
                  <a:off x="3549825" y="2538931"/>
                  <a:ext cx="268200" cy="549000"/>
                </a:xfrm>
                <a:prstGeom prst="rect">
                  <a:avLst/>
                </a:prstGeom>
              </p:spPr>
            </p:pic>
          </mc:Fallback>
        </mc:AlternateContent>
      </p:grpSp>
      <p:grpSp>
        <p:nvGrpSpPr>
          <p:cNvPr id="20" name="Group 19">
            <a:extLst>
              <a:ext uri="{FF2B5EF4-FFF2-40B4-BE49-F238E27FC236}">
                <a16:creationId xmlns:a16="http://schemas.microsoft.com/office/drawing/2014/main" id="{861FCFB3-B841-C016-3DF8-A872EF108123}"/>
              </a:ext>
            </a:extLst>
          </p:cNvPr>
          <p:cNvGrpSpPr/>
          <p:nvPr/>
        </p:nvGrpSpPr>
        <p:grpSpPr>
          <a:xfrm>
            <a:off x="3055545" y="4021771"/>
            <a:ext cx="595440" cy="331920"/>
            <a:chOff x="3055545" y="4021771"/>
            <a:chExt cx="595440" cy="331920"/>
          </a:xfrm>
        </p:grpSpPr>
        <mc:AlternateContent xmlns:mc="http://schemas.openxmlformats.org/markup-compatibility/2006">
          <mc:Choice xmlns:p14="http://schemas.microsoft.com/office/powerpoint/2010/main" Requires="p14">
            <p:contentPart p14:bwMode="auto" r:id="rId10">
              <p14:nvContentPartPr>
                <p14:cNvPr id="18" name="Ink 17">
                  <a:extLst>
                    <a:ext uri="{FF2B5EF4-FFF2-40B4-BE49-F238E27FC236}">
                      <a16:creationId xmlns:a16="http://schemas.microsoft.com/office/drawing/2014/main" id="{52455EE3-7D0F-CD0A-2908-75DD93990DDA}"/>
                    </a:ext>
                  </a:extLst>
                </p14:cNvPr>
                <p14:cNvContentPartPr/>
                <p14:nvPr/>
              </p14:nvContentPartPr>
              <p14:xfrm>
                <a:off x="3055545" y="4088731"/>
                <a:ext cx="553320" cy="117720"/>
              </p14:xfrm>
            </p:contentPart>
          </mc:Choice>
          <mc:Fallback>
            <p:pic>
              <p:nvPicPr>
                <p:cNvPr id="18" name="Ink 17">
                  <a:extLst>
                    <a:ext uri="{FF2B5EF4-FFF2-40B4-BE49-F238E27FC236}">
                      <a16:creationId xmlns:a16="http://schemas.microsoft.com/office/drawing/2014/main" id="{52455EE3-7D0F-CD0A-2908-75DD93990DDA}"/>
                    </a:ext>
                  </a:extLst>
                </p:cNvPr>
                <p:cNvPicPr/>
                <p:nvPr/>
              </p:nvPicPr>
              <p:blipFill>
                <a:blip r:embed="rId11"/>
                <a:stretch>
                  <a:fillRect/>
                </a:stretch>
              </p:blipFill>
              <p:spPr>
                <a:xfrm>
                  <a:off x="2992545" y="4026091"/>
                  <a:ext cx="67896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9" name="Ink 18">
                  <a:extLst>
                    <a:ext uri="{FF2B5EF4-FFF2-40B4-BE49-F238E27FC236}">
                      <a16:creationId xmlns:a16="http://schemas.microsoft.com/office/drawing/2014/main" id="{E88AE96E-B490-6BBC-2F51-20055D0EC8FD}"/>
                    </a:ext>
                  </a:extLst>
                </p14:cNvPr>
                <p14:cNvContentPartPr/>
                <p14:nvPr/>
              </p14:nvContentPartPr>
              <p14:xfrm>
                <a:off x="3485745" y="4021771"/>
                <a:ext cx="165240" cy="331920"/>
              </p14:xfrm>
            </p:contentPart>
          </mc:Choice>
          <mc:Fallback>
            <p:pic>
              <p:nvPicPr>
                <p:cNvPr id="19" name="Ink 18">
                  <a:extLst>
                    <a:ext uri="{FF2B5EF4-FFF2-40B4-BE49-F238E27FC236}">
                      <a16:creationId xmlns:a16="http://schemas.microsoft.com/office/drawing/2014/main" id="{E88AE96E-B490-6BBC-2F51-20055D0EC8FD}"/>
                    </a:ext>
                  </a:extLst>
                </p:cNvPr>
                <p:cNvPicPr/>
                <p:nvPr/>
              </p:nvPicPr>
              <p:blipFill>
                <a:blip r:embed="rId13"/>
                <a:stretch>
                  <a:fillRect/>
                </a:stretch>
              </p:blipFill>
              <p:spPr>
                <a:xfrm>
                  <a:off x="3423105" y="3958771"/>
                  <a:ext cx="290880" cy="457560"/>
                </a:xfrm>
                <a:prstGeom prst="rect">
                  <a:avLst/>
                </a:prstGeom>
              </p:spPr>
            </p:pic>
          </mc:Fallback>
        </mc:AlternateContent>
      </p:grpSp>
    </p:spTree>
    <p:extLst>
      <p:ext uri="{BB962C8B-B14F-4D97-AF65-F5344CB8AC3E}">
        <p14:creationId xmlns:p14="http://schemas.microsoft.com/office/powerpoint/2010/main" val="2382798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19596-EC39-F934-CC80-C78934A5EE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5D6AEA-C5DF-4877-2F3A-78099AB6F6EA}"/>
              </a:ext>
            </a:extLst>
          </p:cNvPr>
          <p:cNvSpPr txBox="1"/>
          <p:nvPr/>
        </p:nvSpPr>
        <p:spPr>
          <a:xfrm>
            <a:off x="2274848" y="-132514"/>
            <a:ext cx="4140822" cy="646331"/>
          </a:xfrm>
          <a:prstGeom prst="rect">
            <a:avLst/>
          </a:prstGeom>
          <a:noFill/>
        </p:spPr>
        <p:txBody>
          <a:bodyPr wrap="square">
            <a:spAutoFit/>
          </a:bodyPr>
          <a:lstStyle/>
          <a:p>
            <a:r>
              <a:rPr lang="en-GB" sz="3600" b="1" dirty="0">
                <a:solidFill>
                  <a:schemeClr val="tx2"/>
                </a:solidFill>
                <a:effectLst/>
                <a:latin typeface="Aptos" panose="020B0004020202020204" pitchFamily="34" charset="0"/>
              </a:rPr>
              <a:t>What-If Scenarios</a:t>
            </a:r>
          </a:p>
        </p:txBody>
      </p:sp>
      <p:sp>
        <p:nvSpPr>
          <p:cNvPr id="5" name="TextBox 4">
            <a:extLst>
              <a:ext uri="{FF2B5EF4-FFF2-40B4-BE49-F238E27FC236}">
                <a16:creationId xmlns:a16="http://schemas.microsoft.com/office/drawing/2014/main" id="{9AD8B390-1D59-749C-AB1D-712F48EB319E}"/>
              </a:ext>
            </a:extLst>
          </p:cNvPr>
          <p:cNvSpPr txBox="1"/>
          <p:nvPr/>
        </p:nvSpPr>
        <p:spPr>
          <a:xfrm>
            <a:off x="6125625" y="513817"/>
            <a:ext cx="2984921" cy="4493538"/>
          </a:xfrm>
          <a:prstGeom prst="rect">
            <a:avLst/>
          </a:prstGeom>
          <a:solidFill>
            <a:schemeClr val="bg2"/>
          </a:solidFill>
        </p:spPr>
        <p:txBody>
          <a:bodyPr wrap="square">
            <a:spAutoFit/>
          </a:bodyPr>
          <a:lstStyle/>
          <a:p>
            <a:r>
              <a:rPr lang="en-GB" dirty="0"/>
              <a:t>Price Drop (10%): Revenue drops 10% (inelastic)</a:t>
            </a:r>
          </a:p>
          <a:p>
            <a:endParaRPr lang="en-GB" dirty="0"/>
          </a:p>
          <a:p>
            <a:endParaRPr lang="en-GB" dirty="0"/>
          </a:p>
          <a:p>
            <a:endParaRPr lang="en-GB" dirty="0"/>
          </a:p>
          <a:p>
            <a:endParaRPr lang="en-GB" dirty="0"/>
          </a:p>
          <a:p>
            <a:r>
              <a:rPr lang="en-GB" dirty="0"/>
              <a:t>Marketing Boost: +60–140 units, lifts sales 10–15%</a:t>
            </a:r>
          </a:p>
          <a:p>
            <a:endParaRPr lang="en-GB" dirty="0"/>
          </a:p>
          <a:p>
            <a:endParaRPr lang="en-GB" dirty="0"/>
          </a:p>
          <a:p>
            <a:endParaRPr lang="en-GB" dirty="0"/>
          </a:p>
          <a:p>
            <a:r>
              <a:rPr lang="en-GB" dirty="0"/>
              <a:t>Strategic Flexibility for </a:t>
            </a:r>
            <a:r>
              <a:rPr lang="en-GB" dirty="0" err="1"/>
              <a:t>Laitinelle</a:t>
            </a:r>
            <a:endParaRPr lang="en-GB" dirty="0"/>
          </a:p>
          <a:p>
            <a:endParaRPr lang="en-GB" dirty="0"/>
          </a:p>
          <a:p>
            <a:endParaRPr lang="en-GB" dirty="0"/>
          </a:p>
          <a:p>
            <a:r>
              <a:rPr lang="en-GB" sz="1600" b="1" u="sng" dirty="0"/>
              <a:t>File: What-If-</a:t>
            </a:r>
            <a:r>
              <a:rPr lang="en-GB" sz="1600" b="1" u="sng" dirty="0" err="1"/>
              <a:t>Analysis.ipynb</a:t>
            </a:r>
            <a:endParaRPr lang="en-GB" sz="1600" b="1" u="sng" dirty="0"/>
          </a:p>
        </p:txBody>
      </p:sp>
      <p:sp>
        <p:nvSpPr>
          <p:cNvPr id="7" name="TextBox 6">
            <a:extLst>
              <a:ext uri="{FF2B5EF4-FFF2-40B4-BE49-F238E27FC236}">
                <a16:creationId xmlns:a16="http://schemas.microsoft.com/office/drawing/2014/main" id="{ADF6D194-7831-7FA4-69C0-C133F9C586A9}"/>
              </a:ext>
            </a:extLst>
          </p:cNvPr>
          <p:cNvSpPr txBox="1"/>
          <p:nvPr/>
        </p:nvSpPr>
        <p:spPr>
          <a:xfrm>
            <a:off x="89211" y="513817"/>
            <a:ext cx="5872974" cy="4524315"/>
          </a:xfrm>
          <a:prstGeom prst="rect">
            <a:avLst/>
          </a:prstGeom>
          <a:solidFill>
            <a:schemeClr val="accent1">
              <a:lumMod val="40000"/>
              <a:lumOff val="60000"/>
            </a:schemeClr>
          </a:solidFill>
        </p:spPr>
        <p:txBody>
          <a:bodyPr wrap="square">
            <a:spAutoFit/>
          </a:bodyPr>
          <a:lstStyle/>
          <a:p>
            <a:pPr algn="ctr"/>
            <a:r>
              <a:rPr lang="en-GB" dirty="0"/>
              <a:t>price_drop_impact.png shows original sales at 100 DZD/unit (e.g., June 15: 36,500 DZD for 365 units) vs. new sales at 90 DZD/unit (32,850 DZD), a consistent 10% drop across all days, confirming inelastic demand (no volume change).</a:t>
            </a:r>
          </a:p>
          <a:p>
            <a:pPr algn="ctr"/>
            <a:endParaRPr lang="en-GB" dirty="0"/>
          </a:p>
          <a:p>
            <a:pPr algn="ctr"/>
            <a:r>
              <a:rPr lang="en-GB" dirty="0"/>
              <a:t>marketing_boost_impact.png reveals boosted promo days: June 15 original sales 36,500 DZD (365 units) jump to 43,200 DZD (432 units) with a +67-unit boost, a 14% revenue increase. Non-promo days (e.g., June 14: 31,200 DZD) remain unchanged.</a:t>
            </a:r>
          </a:p>
          <a:p>
            <a:pPr algn="ctr"/>
            <a:endParaRPr lang="en-GB" dirty="0"/>
          </a:p>
          <a:p>
            <a:pPr algn="ctr"/>
            <a:endParaRPr lang="en-GB" dirty="0"/>
          </a:p>
          <a:p>
            <a:pPr algn="ctr"/>
            <a:r>
              <a:rPr lang="en-GB" dirty="0"/>
              <a:t>Boosted promo effects vary: smallest increase +62 units (June 30), largest +135 units (April 15), averaging 12% revenue growth on promo days.</a:t>
            </a:r>
          </a:p>
        </p:txBody>
      </p:sp>
      <p:sp>
        <p:nvSpPr>
          <p:cNvPr id="9" name="TextBox 8">
            <a:extLst>
              <a:ext uri="{FF2B5EF4-FFF2-40B4-BE49-F238E27FC236}">
                <a16:creationId xmlns:a16="http://schemas.microsoft.com/office/drawing/2014/main" id="{78594841-4B4E-8E9D-00C4-CF7864634AB6}"/>
              </a:ext>
            </a:extLst>
          </p:cNvPr>
          <p:cNvSpPr txBox="1"/>
          <p:nvPr/>
        </p:nvSpPr>
        <p:spPr>
          <a:xfrm>
            <a:off x="137532" y="29069"/>
            <a:ext cx="1970048" cy="369332"/>
          </a:xfrm>
          <a:prstGeom prst="rect">
            <a:avLst/>
          </a:prstGeom>
          <a:noFill/>
        </p:spPr>
        <p:txBody>
          <a:bodyPr wrap="square">
            <a:spAutoFit/>
          </a:bodyPr>
          <a:lstStyle/>
          <a:p>
            <a:pPr algn="ctr">
              <a:buNone/>
            </a:pPr>
            <a:r>
              <a:rPr lang="en-GB" b="1" dirty="0">
                <a:effectLst/>
              </a:rPr>
              <a:t>Analysis:</a:t>
            </a:r>
          </a:p>
        </p:txBody>
      </p:sp>
      <p:sp>
        <p:nvSpPr>
          <p:cNvPr id="11" name="TextBox 10">
            <a:extLst>
              <a:ext uri="{FF2B5EF4-FFF2-40B4-BE49-F238E27FC236}">
                <a16:creationId xmlns:a16="http://schemas.microsoft.com/office/drawing/2014/main" id="{272B532F-03CE-F6A8-7E46-4DAFF69F7B86}"/>
              </a:ext>
            </a:extLst>
          </p:cNvPr>
          <p:cNvSpPr txBox="1"/>
          <p:nvPr/>
        </p:nvSpPr>
        <p:spPr>
          <a:xfrm>
            <a:off x="6884021" y="29069"/>
            <a:ext cx="2014654" cy="369332"/>
          </a:xfrm>
          <a:prstGeom prst="rect">
            <a:avLst/>
          </a:prstGeom>
          <a:noFill/>
        </p:spPr>
        <p:txBody>
          <a:bodyPr wrap="square">
            <a:spAutoFit/>
          </a:bodyPr>
          <a:lstStyle/>
          <a:p>
            <a:pPr>
              <a:buNone/>
            </a:pPr>
            <a:r>
              <a:rPr lang="en-GB" b="1" dirty="0">
                <a:effectLst/>
              </a:rPr>
              <a:t>Content</a:t>
            </a:r>
            <a:r>
              <a:rPr lang="en-GB" dirty="0">
                <a:effectLst/>
              </a:rPr>
              <a:t>:</a:t>
            </a:r>
          </a:p>
        </p:txBody>
      </p:sp>
      <mc:AlternateContent xmlns:mc="http://schemas.openxmlformats.org/markup-compatibility/2006">
        <mc:Choice xmlns:p14="http://schemas.microsoft.com/office/powerpoint/2010/main" xmlns:aink="http://schemas.microsoft.com/office/drawing/2016/ink" Requires="p14 aink">
          <p:contentPart p14:bwMode="auto" r:id="rId2">
            <p14:nvContentPartPr>
              <p14:cNvPr id="4" name="Ink 3">
                <a:extLst>
                  <a:ext uri="{FF2B5EF4-FFF2-40B4-BE49-F238E27FC236}">
                    <a16:creationId xmlns:a16="http://schemas.microsoft.com/office/drawing/2014/main" id="{BE847E46-FC43-14E7-5D7D-7D77D1D112C8}"/>
                  </a:ext>
                </a:extLst>
              </p14:cNvPr>
              <p14:cNvContentPartPr/>
              <p14:nvPr/>
            </p14:nvContentPartPr>
            <p14:xfrm>
              <a:off x="5649705" y="1383963"/>
              <a:ext cx="705240" cy="363600"/>
            </p14:xfrm>
          </p:contentPart>
        </mc:Choice>
        <mc:Fallback>
          <p:pic>
            <p:nvPicPr>
              <p:cNvPr id="4" name="Ink 3">
                <a:extLst>
                  <a:ext uri="{FF2B5EF4-FFF2-40B4-BE49-F238E27FC236}">
                    <a16:creationId xmlns:a16="http://schemas.microsoft.com/office/drawing/2014/main" id="{BE847E46-FC43-14E7-5D7D-7D77D1D112C8}"/>
                  </a:ext>
                </a:extLst>
              </p:cNvPr>
              <p:cNvPicPr/>
              <p:nvPr/>
            </p:nvPicPr>
            <p:blipFill>
              <a:blip r:embed="rId3"/>
              <a:stretch>
                <a:fillRect/>
              </a:stretch>
            </p:blipFill>
            <p:spPr>
              <a:xfrm>
                <a:off x="5587065" y="1320963"/>
                <a:ext cx="830880" cy="4892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4">
            <p14:nvContentPartPr>
              <p14:cNvPr id="10" name="Ink 9">
                <a:extLst>
                  <a:ext uri="{FF2B5EF4-FFF2-40B4-BE49-F238E27FC236}">
                    <a16:creationId xmlns:a16="http://schemas.microsoft.com/office/drawing/2014/main" id="{23B44BA3-0194-DC84-B356-F4CC6C77770A}"/>
                  </a:ext>
                </a:extLst>
              </p14:cNvPr>
              <p14:cNvContentPartPr/>
              <p14:nvPr/>
            </p14:nvContentPartPr>
            <p14:xfrm>
              <a:off x="6125625" y="1203963"/>
              <a:ext cx="358200" cy="468360"/>
            </p14:xfrm>
          </p:contentPart>
        </mc:Choice>
        <mc:Fallback>
          <p:pic>
            <p:nvPicPr>
              <p:cNvPr id="10" name="Ink 9">
                <a:extLst>
                  <a:ext uri="{FF2B5EF4-FFF2-40B4-BE49-F238E27FC236}">
                    <a16:creationId xmlns:a16="http://schemas.microsoft.com/office/drawing/2014/main" id="{23B44BA3-0194-DC84-B356-F4CC6C77770A}"/>
                  </a:ext>
                </a:extLst>
              </p:cNvPr>
              <p:cNvPicPr/>
              <p:nvPr/>
            </p:nvPicPr>
            <p:blipFill>
              <a:blip r:embed="rId5"/>
              <a:stretch>
                <a:fillRect/>
              </a:stretch>
            </p:blipFill>
            <p:spPr>
              <a:xfrm>
                <a:off x="6062985" y="1141323"/>
                <a:ext cx="483840" cy="594000"/>
              </a:xfrm>
              <a:prstGeom prst="rect">
                <a:avLst/>
              </a:prstGeom>
            </p:spPr>
          </p:pic>
        </mc:Fallback>
      </mc:AlternateContent>
      <p:grpSp>
        <p:nvGrpSpPr>
          <p:cNvPr id="23" name="Group 22">
            <a:extLst>
              <a:ext uri="{FF2B5EF4-FFF2-40B4-BE49-F238E27FC236}">
                <a16:creationId xmlns:a16="http://schemas.microsoft.com/office/drawing/2014/main" id="{42149EEB-34B2-9813-DEA0-DC74DEAF4C8B}"/>
              </a:ext>
            </a:extLst>
          </p:cNvPr>
          <p:cNvGrpSpPr/>
          <p:nvPr/>
        </p:nvGrpSpPr>
        <p:grpSpPr>
          <a:xfrm>
            <a:off x="5761305" y="2862123"/>
            <a:ext cx="721800" cy="639720"/>
            <a:chOff x="5761305" y="2862123"/>
            <a:chExt cx="721800" cy="639720"/>
          </a:xfrm>
        </p:grpSpPr>
        <mc:AlternateContent xmlns:mc="http://schemas.openxmlformats.org/markup-compatibility/2006">
          <mc:Choice xmlns:p14="http://schemas.microsoft.com/office/powerpoint/2010/main" xmlns:aink="http://schemas.microsoft.com/office/drawing/2016/ink" Requires="p14 aink">
            <p:contentPart p14:bwMode="auto" r:id="rId6">
              <p14:nvContentPartPr>
                <p14:cNvPr id="21" name="Ink 20">
                  <a:extLst>
                    <a:ext uri="{FF2B5EF4-FFF2-40B4-BE49-F238E27FC236}">
                      <a16:creationId xmlns:a16="http://schemas.microsoft.com/office/drawing/2014/main" id="{C2973E5F-95FA-AE9F-3F95-4B76C2D03D06}"/>
                    </a:ext>
                  </a:extLst>
                </p14:cNvPr>
                <p14:cNvContentPartPr/>
                <p14:nvPr/>
              </p14:nvContentPartPr>
              <p14:xfrm>
                <a:off x="5761305" y="2975163"/>
                <a:ext cx="469080" cy="526680"/>
              </p14:xfrm>
            </p:contentPart>
          </mc:Choice>
          <mc:Fallback>
            <p:pic>
              <p:nvPicPr>
                <p:cNvPr id="21" name="Ink 20">
                  <a:extLst>
                    <a:ext uri="{FF2B5EF4-FFF2-40B4-BE49-F238E27FC236}">
                      <a16:creationId xmlns:a16="http://schemas.microsoft.com/office/drawing/2014/main" id="{C2973E5F-95FA-AE9F-3F95-4B76C2D03D06}"/>
                    </a:ext>
                  </a:extLst>
                </p:cNvPr>
                <p:cNvPicPr/>
                <p:nvPr/>
              </p:nvPicPr>
              <p:blipFill>
                <a:blip r:embed="rId7"/>
                <a:stretch>
                  <a:fillRect/>
                </a:stretch>
              </p:blipFill>
              <p:spPr>
                <a:xfrm>
                  <a:off x="5698305" y="2912163"/>
                  <a:ext cx="594720" cy="6523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22" name="Ink 21">
                  <a:extLst>
                    <a:ext uri="{FF2B5EF4-FFF2-40B4-BE49-F238E27FC236}">
                      <a16:creationId xmlns:a16="http://schemas.microsoft.com/office/drawing/2014/main" id="{8B0A00DE-7FE1-22E0-8885-18B56131E915}"/>
                    </a:ext>
                  </a:extLst>
                </p14:cNvPr>
                <p14:cNvContentPartPr/>
                <p14:nvPr/>
              </p14:nvContentPartPr>
              <p14:xfrm>
                <a:off x="6028785" y="2862123"/>
                <a:ext cx="454320" cy="266760"/>
              </p14:xfrm>
            </p:contentPart>
          </mc:Choice>
          <mc:Fallback>
            <p:pic>
              <p:nvPicPr>
                <p:cNvPr id="22" name="Ink 21">
                  <a:extLst>
                    <a:ext uri="{FF2B5EF4-FFF2-40B4-BE49-F238E27FC236}">
                      <a16:creationId xmlns:a16="http://schemas.microsoft.com/office/drawing/2014/main" id="{8B0A00DE-7FE1-22E0-8885-18B56131E915}"/>
                    </a:ext>
                  </a:extLst>
                </p:cNvPr>
                <p:cNvPicPr/>
                <p:nvPr/>
              </p:nvPicPr>
              <p:blipFill>
                <a:blip r:embed="rId9"/>
                <a:stretch>
                  <a:fillRect/>
                </a:stretch>
              </p:blipFill>
              <p:spPr>
                <a:xfrm>
                  <a:off x="5966145" y="2799483"/>
                  <a:ext cx="579960" cy="392400"/>
                </a:xfrm>
                <a:prstGeom prst="rect">
                  <a:avLst/>
                </a:prstGeom>
              </p:spPr>
            </p:pic>
          </mc:Fallback>
        </mc:AlternateContent>
      </p:grpSp>
      <p:grpSp>
        <p:nvGrpSpPr>
          <p:cNvPr id="26" name="Group 25">
            <a:extLst>
              <a:ext uri="{FF2B5EF4-FFF2-40B4-BE49-F238E27FC236}">
                <a16:creationId xmlns:a16="http://schemas.microsoft.com/office/drawing/2014/main" id="{79E21F57-CB45-BCB0-A56B-555B5B0961C4}"/>
              </a:ext>
            </a:extLst>
          </p:cNvPr>
          <p:cNvGrpSpPr/>
          <p:nvPr/>
        </p:nvGrpSpPr>
        <p:grpSpPr>
          <a:xfrm>
            <a:off x="5865345" y="4200243"/>
            <a:ext cx="536040" cy="565200"/>
            <a:chOff x="5865345" y="4200243"/>
            <a:chExt cx="536040" cy="565200"/>
          </a:xfrm>
        </p:grpSpPr>
        <mc:AlternateContent xmlns:mc="http://schemas.openxmlformats.org/markup-compatibility/2006">
          <mc:Choice xmlns:p14="http://schemas.microsoft.com/office/powerpoint/2010/main" xmlns:aink="http://schemas.microsoft.com/office/drawing/2016/ink" Requires="p14 aink">
            <p:contentPart p14:bwMode="auto" r:id="rId10">
              <p14:nvContentPartPr>
                <p14:cNvPr id="24" name="Ink 23">
                  <a:extLst>
                    <a:ext uri="{FF2B5EF4-FFF2-40B4-BE49-F238E27FC236}">
                      <a16:creationId xmlns:a16="http://schemas.microsoft.com/office/drawing/2014/main" id="{3FF1105B-EF64-ECF5-8066-9C6FC6A943FB}"/>
                    </a:ext>
                  </a:extLst>
                </p14:cNvPr>
                <p14:cNvContentPartPr/>
                <p14:nvPr/>
              </p14:nvContentPartPr>
              <p14:xfrm>
                <a:off x="5865345" y="4269723"/>
                <a:ext cx="299520" cy="495720"/>
              </p14:xfrm>
            </p:contentPart>
          </mc:Choice>
          <mc:Fallback>
            <p:pic>
              <p:nvPicPr>
                <p:cNvPr id="24" name="Ink 23">
                  <a:extLst>
                    <a:ext uri="{FF2B5EF4-FFF2-40B4-BE49-F238E27FC236}">
                      <a16:creationId xmlns:a16="http://schemas.microsoft.com/office/drawing/2014/main" id="{3FF1105B-EF64-ECF5-8066-9C6FC6A943FB}"/>
                    </a:ext>
                  </a:extLst>
                </p:cNvPr>
                <p:cNvPicPr/>
                <p:nvPr/>
              </p:nvPicPr>
              <p:blipFill>
                <a:blip r:embed="rId11"/>
                <a:stretch>
                  <a:fillRect/>
                </a:stretch>
              </p:blipFill>
              <p:spPr>
                <a:xfrm>
                  <a:off x="5802705" y="4206723"/>
                  <a:ext cx="425160" cy="6213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2">
              <p14:nvContentPartPr>
                <p14:cNvPr id="25" name="Ink 24">
                  <a:extLst>
                    <a:ext uri="{FF2B5EF4-FFF2-40B4-BE49-F238E27FC236}">
                      <a16:creationId xmlns:a16="http://schemas.microsoft.com/office/drawing/2014/main" id="{475B937A-A806-A9BE-0EAC-127878091D37}"/>
                    </a:ext>
                  </a:extLst>
                </p14:cNvPr>
                <p14:cNvContentPartPr/>
                <p14:nvPr/>
              </p14:nvContentPartPr>
              <p14:xfrm>
                <a:off x="5969385" y="4200243"/>
                <a:ext cx="432000" cy="266760"/>
              </p14:xfrm>
            </p:contentPart>
          </mc:Choice>
          <mc:Fallback>
            <p:pic>
              <p:nvPicPr>
                <p:cNvPr id="25" name="Ink 24">
                  <a:extLst>
                    <a:ext uri="{FF2B5EF4-FFF2-40B4-BE49-F238E27FC236}">
                      <a16:creationId xmlns:a16="http://schemas.microsoft.com/office/drawing/2014/main" id="{475B937A-A806-A9BE-0EAC-127878091D37}"/>
                    </a:ext>
                  </a:extLst>
                </p:cNvPr>
                <p:cNvPicPr/>
                <p:nvPr/>
              </p:nvPicPr>
              <p:blipFill>
                <a:blip r:embed="rId13"/>
                <a:stretch>
                  <a:fillRect/>
                </a:stretch>
              </p:blipFill>
              <p:spPr>
                <a:xfrm>
                  <a:off x="5906745" y="4137603"/>
                  <a:ext cx="557640" cy="392400"/>
                </a:xfrm>
                <a:prstGeom prst="rect">
                  <a:avLst/>
                </a:prstGeom>
              </p:spPr>
            </p:pic>
          </mc:Fallback>
        </mc:AlternateContent>
      </p:grpSp>
    </p:spTree>
    <p:extLst>
      <p:ext uri="{BB962C8B-B14F-4D97-AF65-F5344CB8AC3E}">
        <p14:creationId xmlns:p14="http://schemas.microsoft.com/office/powerpoint/2010/main" val="965372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DEA179-2022-6169-D16F-B854D2D744AB}"/>
              </a:ext>
            </a:extLst>
          </p:cNvPr>
          <p:cNvSpPr txBox="1"/>
          <p:nvPr/>
        </p:nvSpPr>
        <p:spPr>
          <a:xfrm>
            <a:off x="2274849" y="-88023"/>
            <a:ext cx="4594302" cy="584775"/>
          </a:xfrm>
          <a:prstGeom prst="rect">
            <a:avLst/>
          </a:prstGeom>
          <a:noFill/>
        </p:spPr>
        <p:txBody>
          <a:bodyPr wrap="square">
            <a:spAutoFit/>
          </a:bodyPr>
          <a:lstStyle/>
          <a:p>
            <a:r>
              <a:rPr lang="en-GB" sz="3200" b="1" dirty="0">
                <a:solidFill>
                  <a:schemeClr val="tx2"/>
                </a:solidFill>
                <a:effectLst/>
                <a:latin typeface="Aptos" panose="020B0004020202020204" pitchFamily="34" charset="0"/>
              </a:rPr>
              <a:t>Visualizations &amp; Impact</a:t>
            </a:r>
          </a:p>
        </p:txBody>
      </p:sp>
      <p:pic>
        <p:nvPicPr>
          <p:cNvPr id="4" name="Google Shape;167;p35">
            <a:extLst>
              <a:ext uri="{FF2B5EF4-FFF2-40B4-BE49-F238E27FC236}">
                <a16:creationId xmlns:a16="http://schemas.microsoft.com/office/drawing/2014/main" id="{977BF58B-F95C-BF99-2FAB-EEDA658E06A6}"/>
              </a:ext>
            </a:extLst>
          </p:cNvPr>
          <p:cNvPicPr/>
          <p:nvPr/>
        </p:nvPicPr>
        <p:blipFill>
          <a:blip r:embed="rId2"/>
          <a:srcRect t="4544" b="4554"/>
          <a:stretch/>
        </p:blipFill>
        <p:spPr>
          <a:xfrm>
            <a:off x="0" y="401444"/>
            <a:ext cx="3412273" cy="4742056"/>
          </a:xfrm>
          <a:prstGeom prst="rect">
            <a:avLst/>
          </a:prstGeom>
          <a:ln w="19050">
            <a:solidFill>
              <a:schemeClr val="tx2"/>
            </a:solidFill>
          </a:ln>
        </p:spPr>
      </p:pic>
      <p:sp>
        <p:nvSpPr>
          <p:cNvPr id="6" name="TextBox 5">
            <a:extLst>
              <a:ext uri="{FF2B5EF4-FFF2-40B4-BE49-F238E27FC236}">
                <a16:creationId xmlns:a16="http://schemas.microsoft.com/office/drawing/2014/main" id="{56A16411-4FD2-8E45-F6D0-AF3D959FEF31}"/>
              </a:ext>
            </a:extLst>
          </p:cNvPr>
          <p:cNvSpPr txBox="1"/>
          <p:nvPr/>
        </p:nvSpPr>
        <p:spPr>
          <a:xfrm>
            <a:off x="3958683" y="912530"/>
            <a:ext cx="5110976" cy="3231654"/>
          </a:xfrm>
          <a:prstGeom prst="rect">
            <a:avLst/>
          </a:prstGeom>
          <a:noFill/>
        </p:spPr>
        <p:txBody>
          <a:bodyPr wrap="square">
            <a:spAutoFit/>
          </a:bodyPr>
          <a:lstStyle/>
          <a:p>
            <a:pPr algn="ctr">
              <a:buNone/>
            </a:pPr>
            <a:r>
              <a:rPr lang="en-GB" sz="2400" b="1" u="sng" dirty="0">
                <a:effectLst/>
              </a:rPr>
              <a:t>Content:</a:t>
            </a:r>
          </a:p>
          <a:p>
            <a:pPr algn="ctr">
              <a:buNone/>
            </a:pPr>
            <a:endParaRPr lang="en-GB" dirty="0">
              <a:effectLst/>
            </a:endParaRPr>
          </a:p>
          <a:p>
            <a:pPr algn="ctr"/>
            <a:r>
              <a:rPr lang="en-GB" dirty="0"/>
              <a:t>Interactive Plots: </a:t>
            </a:r>
          </a:p>
          <a:p>
            <a:pPr algn="ctr"/>
            <a:r>
              <a:rPr lang="en-GB" dirty="0"/>
              <a:t>Actual vs. Predicted, Reorder Alerts</a:t>
            </a:r>
          </a:p>
          <a:p>
            <a:pPr algn="ctr">
              <a:buFont typeface="Arial" panose="020B0604020202020204" pitchFamily="34" charset="0"/>
              <a:buChar char="•"/>
            </a:pPr>
            <a:endParaRPr lang="en-GB" dirty="0"/>
          </a:p>
          <a:p>
            <a:pPr algn="ctr"/>
            <a:r>
              <a:rPr lang="en-GB" dirty="0"/>
              <a:t>Impact: </a:t>
            </a:r>
          </a:p>
          <a:p>
            <a:pPr algn="ctr"/>
            <a:r>
              <a:rPr lang="en-GB" dirty="0"/>
              <a:t>Waste Reduction 2.5M DZD/year; Revenue Boost 3M DZD/year; Total 3.75M DZD/year</a:t>
            </a:r>
          </a:p>
          <a:p>
            <a:pPr algn="ctr">
              <a:buFont typeface="Arial" panose="020B0604020202020204" pitchFamily="34" charset="0"/>
              <a:buChar char="•"/>
            </a:pPr>
            <a:endParaRPr lang="en-GB" dirty="0"/>
          </a:p>
          <a:p>
            <a:pPr algn="ctr"/>
            <a:r>
              <a:rPr lang="en-GB" dirty="0"/>
              <a:t>Files: </a:t>
            </a:r>
          </a:p>
          <a:p>
            <a:pPr algn="ctr"/>
            <a:r>
              <a:rPr lang="en-GB" dirty="0" err="1"/>
              <a:t>Visualization.ipynb</a:t>
            </a:r>
            <a:r>
              <a:rPr lang="en-GB" dirty="0"/>
              <a:t>, sales_forecast.html</a:t>
            </a:r>
          </a:p>
        </p:txBody>
      </p:sp>
    </p:spTree>
    <p:extLst>
      <p:ext uri="{BB962C8B-B14F-4D97-AF65-F5344CB8AC3E}">
        <p14:creationId xmlns:p14="http://schemas.microsoft.com/office/powerpoint/2010/main" val="1740015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2D534-9DAB-12D2-2C47-60CBD5C2B32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8C1BD4-D22E-32EC-54C4-4DA056E88D7C}"/>
              </a:ext>
            </a:extLst>
          </p:cNvPr>
          <p:cNvSpPr txBox="1"/>
          <p:nvPr/>
        </p:nvSpPr>
        <p:spPr>
          <a:xfrm>
            <a:off x="1442223" y="-80589"/>
            <a:ext cx="6579219" cy="584775"/>
          </a:xfrm>
          <a:prstGeom prst="rect">
            <a:avLst/>
          </a:prstGeom>
          <a:noFill/>
        </p:spPr>
        <p:txBody>
          <a:bodyPr wrap="square">
            <a:spAutoFit/>
          </a:bodyPr>
          <a:lstStyle/>
          <a:p>
            <a:r>
              <a:rPr lang="en-GB" sz="3200" b="1" dirty="0">
                <a:solidFill>
                  <a:schemeClr val="tx2"/>
                </a:solidFill>
                <a:effectLst/>
                <a:latin typeface="Aptos" panose="020B0004020202020204" pitchFamily="34" charset="0"/>
              </a:rPr>
              <a:t>Visualizations &amp; Impact - Analysis</a:t>
            </a:r>
          </a:p>
        </p:txBody>
      </p:sp>
      <p:pic>
        <p:nvPicPr>
          <p:cNvPr id="4" name="Google Shape;167;p35">
            <a:extLst>
              <a:ext uri="{FF2B5EF4-FFF2-40B4-BE49-F238E27FC236}">
                <a16:creationId xmlns:a16="http://schemas.microsoft.com/office/drawing/2014/main" id="{08E42C95-F0BF-F4AA-586D-EEB4062902EC}"/>
              </a:ext>
            </a:extLst>
          </p:cNvPr>
          <p:cNvPicPr/>
          <p:nvPr/>
        </p:nvPicPr>
        <p:blipFill>
          <a:blip r:embed="rId2"/>
          <a:srcRect t="4544" b="4554"/>
          <a:stretch/>
        </p:blipFill>
        <p:spPr>
          <a:xfrm>
            <a:off x="5731727" y="401444"/>
            <a:ext cx="3412273" cy="4742056"/>
          </a:xfrm>
          <a:prstGeom prst="rect">
            <a:avLst/>
          </a:prstGeom>
          <a:ln w="19050">
            <a:solidFill>
              <a:schemeClr val="tx2"/>
            </a:solidFill>
          </a:ln>
        </p:spPr>
      </p:pic>
      <p:sp>
        <p:nvSpPr>
          <p:cNvPr id="5" name="TextBox 4">
            <a:extLst>
              <a:ext uri="{FF2B5EF4-FFF2-40B4-BE49-F238E27FC236}">
                <a16:creationId xmlns:a16="http://schemas.microsoft.com/office/drawing/2014/main" id="{81AF33AF-272C-0B7B-EFFD-15C66A7671C3}"/>
              </a:ext>
            </a:extLst>
          </p:cNvPr>
          <p:cNvSpPr txBox="1"/>
          <p:nvPr/>
        </p:nvSpPr>
        <p:spPr>
          <a:xfrm>
            <a:off x="81778" y="510314"/>
            <a:ext cx="5523570" cy="4524315"/>
          </a:xfrm>
          <a:prstGeom prst="rect">
            <a:avLst/>
          </a:prstGeom>
          <a:solidFill>
            <a:schemeClr val="tx2">
              <a:lumMod val="40000"/>
              <a:lumOff val="60000"/>
            </a:schemeClr>
          </a:solidFill>
        </p:spPr>
        <p:txBody>
          <a:bodyPr wrap="square">
            <a:spAutoFit/>
          </a:bodyPr>
          <a:lstStyle/>
          <a:p>
            <a:pPr algn="ctr"/>
            <a:r>
              <a:rPr lang="en-GB" dirty="0"/>
              <a:t>sales_forecast.html line plot shows actual sales (Jan–June) averaging 320 units, with predictions (July) at 325–385 units. Hovering on July 15 reveals 385 units due to promo, matching historical peaks (e.g., June 15: 390 units).</a:t>
            </a:r>
          </a:p>
          <a:p>
            <a:pPr algn="ctr"/>
            <a:endParaRPr lang="en-GB" dirty="0"/>
          </a:p>
          <a:p>
            <a:pPr algn="ctr"/>
            <a:r>
              <a:rPr lang="en-GB" dirty="0"/>
              <a:t>reorder_alerts.html scatter plot highlights 12 alert days in July, with peaks on July 5 (inventory 280 vs. 340 predicted) and July 15 (260 vs. 385), showing actionable insights for Madame Zineb.</a:t>
            </a:r>
          </a:p>
          <a:p>
            <a:pPr algn="ctr"/>
            <a:endParaRPr lang="en-GB" dirty="0"/>
          </a:p>
          <a:p>
            <a:pPr algn="ctr"/>
            <a:r>
              <a:rPr lang="en-GB" u="sng" dirty="0"/>
              <a:t>Impact calculation: </a:t>
            </a:r>
            <a:r>
              <a:rPr lang="en-GB" dirty="0"/>
              <a:t>181 days of data, 60% alert accuracy (108 days), 50 units saved per alert day = 5,400 units/year. At 100 DZD/unit, waste savings = 2.5M DZD (perishable loss), revenue protection = 3M DZD (stockouts avoided).</a:t>
            </a:r>
          </a:p>
        </p:txBody>
      </p:sp>
    </p:spTree>
    <p:extLst>
      <p:ext uri="{BB962C8B-B14F-4D97-AF65-F5344CB8AC3E}">
        <p14:creationId xmlns:p14="http://schemas.microsoft.com/office/powerpoint/2010/main" val="35951233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1159727" y="-221234"/>
            <a:ext cx="4980878" cy="570638"/>
          </a:xfrm>
          <a:prstGeom prst="rect">
            <a:avLst/>
          </a:prstGeom>
          <a:noFill/>
          <a:ln w="0">
            <a:noFill/>
          </a:ln>
        </p:spPr>
        <p:txBody>
          <a:bodyPr lIns="91440" tIns="91440" rIns="91440" bIns="91440" anchor="t">
            <a:noAutofit/>
          </a:bodyPr>
          <a:lstStyle/>
          <a:p>
            <a:pPr algn="ctr">
              <a:lnSpc>
                <a:spcPct val="107000"/>
              </a:lnSpc>
              <a:spcAft>
                <a:spcPts val="800"/>
              </a:spcAft>
            </a:pPr>
            <a:r>
              <a:rPr lang="en-GB" sz="4000" u="sng" kern="100" dirty="0">
                <a:solidFill>
                  <a:schemeClr val="tx2"/>
                </a:solidFill>
                <a:effectLst/>
                <a:latin typeface="Aptos" panose="020B0004020202020204" pitchFamily="34" charset="0"/>
                <a:ea typeface="Aptos" panose="020B0004020202020204" pitchFamily="34" charset="0"/>
                <a:cs typeface="Arial" panose="020B0604020202020204" pitchFamily="34" charset="0"/>
              </a:rPr>
              <a:t>Results </a:t>
            </a:r>
            <a:endParaRPr lang="en-GB" sz="2000" u="sng" kern="100" dirty="0">
              <a:solidFill>
                <a:schemeClr val="tx2"/>
              </a:solidFill>
              <a:effectLst/>
              <a:latin typeface="Aptos" panose="020B0004020202020204" pitchFamily="34" charset="0"/>
              <a:ea typeface="Aptos" panose="020B00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A6CF9F77-BF40-4AE6-D25D-46E3A6CB2C9E}"/>
              </a:ext>
            </a:extLst>
          </p:cNvPr>
          <p:cNvSpPr txBox="1"/>
          <p:nvPr/>
        </p:nvSpPr>
        <p:spPr>
          <a:xfrm>
            <a:off x="527823" y="893983"/>
            <a:ext cx="3702205" cy="2861553"/>
          </a:xfrm>
          <a:prstGeom prst="rect">
            <a:avLst/>
          </a:prstGeom>
          <a:solidFill>
            <a:schemeClr val="bg1">
              <a:lumMod val="75000"/>
            </a:schemeClr>
          </a:solidFill>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GB" sz="1500" b="1" kern="100" dirty="0">
                <a:effectLst/>
                <a:latin typeface="Aptos" panose="020B0004020202020204" pitchFamily="34" charset="0"/>
                <a:ea typeface="Aptos" panose="020B0004020202020204" pitchFamily="34" charset="0"/>
                <a:cs typeface="Arial" panose="020B0604020202020204" pitchFamily="34" charset="0"/>
              </a:rPr>
              <a:t>Sales Forecasting</a:t>
            </a:r>
            <a:r>
              <a:rPr lang="en-GB" sz="1500" kern="100" dirty="0">
                <a:effectLst/>
                <a:latin typeface="Aptos" panose="020B0004020202020204" pitchFamily="34" charset="0"/>
                <a:ea typeface="Aptos" panose="020B000402020202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500" b="1" kern="100" dirty="0">
                <a:effectLst/>
                <a:latin typeface="Aptos" panose="020B0004020202020204" pitchFamily="34" charset="0"/>
                <a:ea typeface="Aptos" panose="020B0004020202020204" pitchFamily="34" charset="0"/>
                <a:cs typeface="Times New Roman" panose="02020603050405020304" pitchFamily="18" charset="0"/>
              </a:rPr>
              <a:t>Accuracy</a:t>
            </a:r>
            <a:r>
              <a:rPr lang="en-GB" sz="1500" kern="100" dirty="0">
                <a:effectLst/>
                <a:latin typeface="Aptos" panose="020B0004020202020204" pitchFamily="34" charset="0"/>
                <a:ea typeface="Aptos" panose="020B0004020202020204" pitchFamily="34" charset="0"/>
                <a:cs typeface="Times New Roman" panose="02020603050405020304" pitchFamily="18" charset="0"/>
              </a:rPr>
              <a:t>: Captures seasonality, promotion spikes, and temperature effects.</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500" b="1" kern="100" dirty="0">
                <a:effectLst/>
                <a:latin typeface="Aptos" panose="020B0004020202020204" pitchFamily="34" charset="0"/>
                <a:ea typeface="Aptos" panose="020B0004020202020204" pitchFamily="34" charset="0"/>
                <a:cs typeface="Times New Roman" panose="02020603050405020304" pitchFamily="18" charset="0"/>
              </a:rPr>
              <a:t>Metrics</a:t>
            </a:r>
            <a:r>
              <a:rPr lang="en-GB" sz="1500" kern="100" dirty="0">
                <a:effectLst/>
                <a:latin typeface="Aptos" panose="020B0004020202020204" pitchFamily="34" charset="0"/>
                <a:ea typeface="Aptos" panose="020B0004020202020204" pitchFamily="34" charset="0"/>
                <a:cs typeface="Times New Roman" panose="02020603050405020304" pitchFamily="18" charset="0"/>
              </a:rPr>
              <a:t>: RMSE ~20–30 units (depends on noise; check notebook for exact value).</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500" b="1" kern="100" dirty="0">
                <a:effectLst/>
                <a:latin typeface="Aptos" panose="020B0004020202020204" pitchFamily="34" charset="0"/>
                <a:ea typeface="Aptos" panose="020B0004020202020204" pitchFamily="34" charset="0"/>
                <a:cs typeface="Times New Roman" panose="02020603050405020304" pitchFamily="18" charset="0"/>
              </a:rPr>
              <a:t>Business Value</a:t>
            </a:r>
            <a:r>
              <a:rPr lang="en-GB" sz="1500" kern="100" dirty="0">
                <a:effectLst/>
                <a:latin typeface="Aptos" panose="020B0004020202020204" pitchFamily="34" charset="0"/>
                <a:ea typeface="Aptos" panose="020B0004020202020204" pitchFamily="34" charset="0"/>
                <a:cs typeface="Times New Roman" panose="02020603050405020304" pitchFamily="18" charset="0"/>
              </a:rPr>
              <a:t>: Enables precise production planning, reducing overproduction.</a:t>
            </a:r>
          </a:p>
        </p:txBody>
      </p:sp>
      <p:sp>
        <p:nvSpPr>
          <p:cNvPr id="7" name="TextBox 6">
            <a:extLst>
              <a:ext uri="{FF2B5EF4-FFF2-40B4-BE49-F238E27FC236}">
                <a16:creationId xmlns:a16="http://schemas.microsoft.com/office/drawing/2014/main" id="{E02F89C8-2D3D-F783-14C2-157AC7AEA11C}"/>
              </a:ext>
            </a:extLst>
          </p:cNvPr>
          <p:cNvSpPr txBox="1"/>
          <p:nvPr/>
        </p:nvSpPr>
        <p:spPr>
          <a:xfrm>
            <a:off x="4913974" y="2472548"/>
            <a:ext cx="3850884" cy="2120581"/>
          </a:xfrm>
          <a:prstGeom prst="rect">
            <a:avLst/>
          </a:prstGeom>
          <a:solidFill>
            <a:schemeClr val="tx2">
              <a:lumMod val="40000"/>
              <a:lumOff val="60000"/>
            </a:schemeClr>
          </a:solidFill>
        </p:spPr>
        <p:txBody>
          <a:bodyPr wrap="square">
            <a:spAutoFit/>
          </a:bodyPr>
          <a:lstStyle/>
          <a:p>
            <a:pPr marL="914400">
              <a:lnSpc>
                <a:spcPct val="107000"/>
              </a:lnSpc>
              <a:spcAft>
                <a:spcPts val="800"/>
              </a:spcAft>
              <a:buNone/>
            </a:pPr>
            <a:r>
              <a:rPr lang="en-GB" sz="1500" kern="100" dirty="0">
                <a:effectLst/>
                <a:latin typeface="Aptos" panose="020B0004020202020204" pitchFamily="34" charset="0"/>
                <a:ea typeface="Aptos" panose="020B0004020202020204" pitchFamily="34" charset="0"/>
                <a:cs typeface="Arial" panose="020B0604020202020204" pitchFamily="34" charset="0"/>
              </a:rPr>
              <a:t> </a:t>
            </a:r>
          </a:p>
          <a:p>
            <a:pPr marL="342900" lvl="0" indent="-342900">
              <a:lnSpc>
                <a:spcPct val="107000"/>
              </a:lnSpc>
              <a:spcAft>
                <a:spcPts val="800"/>
              </a:spcAft>
              <a:buSzPts val="1000"/>
              <a:buFont typeface="Symbol" panose="05050102010706020507" pitchFamily="18" charset="2"/>
              <a:buChar char=""/>
              <a:tabLst>
                <a:tab pos="457200" algn="l"/>
              </a:tabLst>
            </a:pPr>
            <a:r>
              <a:rPr lang="en-GB" sz="1500" b="1" kern="100" dirty="0">
                <a:effectLst/>
                <a:latin typeface="Aptos" panose="020B0004020202020204" pitchFamily="34" charset="0"/>
                <a:ea typeface="Aptos" panose="020B0004020202020204" pitchFamily="34" charset="0"/>
                <a:cs typeface="Arial" panose="020B0604020202020204" pitchFamily="34" charset="0"/>
              </a:rPr>
              <a:t>Supply Chain Insight</a:t>
            </a:r>
            <a:r>
              <a:rPr lang="en-GB" sz="1500" kern="100" dirty="0">
                <a:effectLst/>
                <a:latin typeface="Aptos" panose="020B0004020202020204" pitchFamily="34" charset="0"/>
                <a:ea typeface="Aptos" panose="020B000402020202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500" b="1" kern="100" dirty="0">
                <a:effectLst/>
                <a:latin typeface="Aptos" panose="020B0004020202020204" pitchFamily="34" charset="0"/>
                <a:ea typeface="Aptos" panose="020B0004020202020204" pitchFamily="34" charset="0"/>
                <a:cs typeface="Times New Roman" panose="02020603050405020304" pitchFamily="18" charset="0"/>
              </a:rPr>
              <a:t>Alerts</a:t>
            </a:r>
            <a:r>
              <a:rPr lang="en-GB" sz="1500" kern="100" dirty="0">
                <a:effectLst/>
                <a:latin typeface="Aptos" panose="020B0004020202020204" pitchFamily="34" charset="0"/>
                <a:ea typeface="Aptos" panose="020B0004020202020204" pitchFamily="34" charset="0"/>
                <a:cs typeface="Times New Roman" panose="02020603050405020304" pitchFamily="18" charset="0"/>
              </a:rPr>
              <a:t>: Flags low-inventory days, preventing stockouts.</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500" b="1" kern="100" dirty="0">
                <a:effectLst/>
                <a:latin typeface="Aptos" panose="020B0004020202020204" pitchFamily="34" charset="0"/>
                <a:ea typeface="Aptos" panose="020B0004020202020204" pitchFamily="34" charset="0"/>
                <a:cs typeface="Times New Roman" panose="02020603050405020304" pitchFamily="18" charset="0"/>
              </a:rPr>
              <a:t>Business Value</a:t>
            </a:r>
            <a:r>
              <a:rPr lang="en-GB" sz="1500" kern="100" dirty="0">
                <a:effectLst/>
                <a:latin typeface="Aptos" panose="020B0004020202020204" pitchFamily="34" charset="0"/>
                <a:ea typeface="Aptos" panose="020B0004020202020204" pitchFamily="34" charset="0"/>
                <a:cs typeface="Times New Roman" panose="02020603050405020304" pitchFamily="18" charset="0"/>
              </a:rPr>
              <a:t>: Minimizes waste (spoilage) and ensures product availability.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714240" y="-50817"/>
            <a:ext cx="4571640" cy="622677"/>
          </a:xfrm>
          <a:prstGeom prst="rect">
            <a:avLst/>
          </a:prstGeom>
          <a:noFill/>
          <a:ln w="0">
            <a:noFill/>
          </a:ln>
        </p:spPr>
        <p:txBody>
          <a:bodyPr lIns="91440" tIns="91440" rIns="91440" bIns="91440" anchor="t">
            <a:normAutofit fontScale="90000"/>
          </a:bodyPr>
          <a:lstStyle/>
          <a:p>
            <a:pPr algn="ctr">
              <a:lnSpc>
                <a:spcPct val="107000"/>
              </a:lnSpc>
              <a:spcAft>
                <a:spcPts val="800"/>
              </a:spcAft>
            </a:pPr>
            <a:r>
              <a:rPr lang="en-GB" sz="2800" b="1" u="sng" kern="100" dirty="0">
                <a:solidFill>
                  <a:schemeClr val="tx2"/>
                </a:solidFill>
                <a:effectLst/>
                <a:latin typeface="Aptos" panose="020B0004020202020204" pitchFamily="34" charset="0"/>
                <a:ea typeface="Aptos" panose="020B0004020202020204" pitchFamily="34" charset="0"/>
                <a:cs typeface="Arial" panose="020B0604020202020204" pitchFamily="34" charset="0"/>
              </a:rPr>
              <a:t>Quantified Effect</a:t>
            </a:r>
            <a:endParaRPr lang="en-GB" sz="1400" kern="100" dirty="0">
              <a:solidFill>
                <a:schemeClr val="tx2"/>
              </a:solidFill>
              <a:effectLst/>
              <a:latin typeface="Aptos" panose="020B0004020202020204" pitchFamily="34" charset="0"/>
              <a:ea typeface="Aptos" panose="020B0004020202020204" pitchFamily="34" charset="0"/>
              <a:cs typeface="Arial" panose="020B0604020202020204" pitchFamily="34" charset="0"/>
            </a:endParaRPr>
          </a:p>
        </p:txBody>
      </p:sp>
      <p:sp>
        <p:nvSpPr>
          <p:cNvPr id="106" name="Google Shape;178;p30"/>
          <p:cNvSpPr/>
          <p:nvPr/>
        </p:nvSpPr>
        <p:spPr>
          <a:xfrm>
            <a:off x="5520600" y="387720"/>
            <a:ext cx="3083400" cy="4755240"/>
          </a:xfrm>
          <a:prstGeom prst="roundRect">
            <a:avLst>
              <a:gd name="adj" fmla="val 50000"/>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grpSp>
        <p:nvGrpSpPr>
          <p:cNvPr id="107" name="Google Shape;179;p30"/>
          <p:cNvGrpSpPr/>
          <p:nvPr/>
        </p:nvGrpSpPr>
        <p:grpSpPr>
          <a:xfrm>
            <a:off x="5520600" y="360"/>
            <a:ext cx="3083760" cy="5245200"/>
            <a:chOff x="5520600" y="360"/>
            <a:chExt cx="3083760" cy="5245200"/>
          </a:xfrm>
        </p:grpSpPr>
        <p:cxnSp>
          <p:nvCxnSpPr>
            <p:cNvPr id="108" name="Google Shape;180;p30"/>
            <p:cNvCxnSpPr/>
            <p:nvPr/>
          </p:nvCxnSpPr>
          <p:spPr>
            <a:xfrm>
              <a:off x="5520600" y="360"/>
              <a:ext cx="360" cy="5245560"/>
            </a:xfrm>
            <a:prstGeom prst="straightConnector1">
              <a:avLst/>
            </a:prstGeom>
            <a:ln w="9525">
              <a:solidFill>
                <a:srgbClr val="A14342"/>
              </a:solidFill>
              <a:round/>
            </a:ln>
          </p:spPr>
        </p:cxnSp>
        <p:cxnSp>
          <p:nvCxnSpPr>
            <p:cNvPr id="109" name="Google Shape;181;p30"/>
            <p:cNvCxnSpPr/>
            <p:nvPr/>
          </p:nvCxnSpPr>
          <p:spPr>
            <a:xfrm>
              <a:off x="8604360" y="360"/>
              <a:ext cx="360" cy="5245560"/>
            </a:xfrm>
            <a:prstGeom prst="straightConnector1">
              <a:avLst/>
            </a:prstGeom>
            <a:ln w="9525">
              <a:solidFill>
                <a:srgbClr val="A14342"/>
              </a:solidFill>
              <a:round/>
            </a:ln>
          </p:spPr>
        </p:cxnSp>
      </p:grpSp>
      <p:sp>
        <p:nvSpPr>
          <p:cNvPr id="3" name="TextBox 2">
            <a:extLst>
              <a:ext uri="{FF2B5EF4-FFF2-40B4-BE49-F238E27FC236}">
                <a16:creationId xmlns:a16="http://schemas.microsoft.com/office/drawing/2014/main" id="{DCFBDCF1-CDC0-95C4-7D0E-9279F1C3BCD9}"/>
              </a:ext>
            </a:extLst>
          </p:cNvPr>
          <p:cNvSpPr txBox="1"/>
          <p:nvPr/>
        </p:nvSpPr>
        <p:spPr>
          <a:xfrm>
            <a:off x="431180" y="1139831"/>
            <a:ext cx="4594302" cy="3251018"/>
          </a:xfrm>
          <a:prstGeom prst="rect">
            <a:avLst/>
          </a:prstGeom>
          <a:solidFill>
            <a:schemeClr val="bg1">
              <a:lumMod val="90000"/>
            </a:schemeClr>
          </a:solidFill>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GB" sz="1800" b="1" kern="100" dirty="0">
                <a:effectLst/>
                <a:latin typeface="Aptos" panose="020B0004020202020204" pitchFamily="34" charset="0"/>
                <a:ea typeface="Aptos" panose="020B0004020202020204" pitchFamily="34" charset="0"/>
                <a:cs typeface="Arial" panose="020B0604020202020204" pitchFamily="34" charset="0"/>
              </a:rPr>
              <a:t>Waste Reduction</a:t>
            </a:r>
            <a:r>
              <a:rPr lang="en-GB" sz="1800" kern="100" dirty="0">
                <a:effectLst/>
                <a:latin typeface="Aptos" panose="020B0004020202020204" pitchFamily="34" charset="0"/>
                <a:ea typeface="Aptos" panose="020B0004020202020204" pitchFamily="34" charset="0"/>
                <a:cs typeface="Arial" panose="020B0604020202020204" pitchFamily="34" charset="0"/>
              </a:rPr>
              <a:t>: Reorder alerts cut spoilage by ensuring stock aligns with demand.</a:t>
            </a:r>
          </a:p>
          <a:p>
            <a:pPr marL="342900" lvl="0" indent="-342900">
              <a:lnSpc>
                <a:spcPct val="107000"/>
              </a:lnSpc>
              <a:spcAft>
                <a:spcPts val="800"/>
              </a:spcAft>
              <a:buSzPts val="1000"/>
              <a:buFont typeface="Symbol" panose="05050102010706020507" pitchFamily="18" charset="2"/>
              <a:buChar char=""/>
              <a:tabLst>
                <a:tab pos="457200" algn="l"/>
              </a:tabLst>
            </a:pPr>
            <a:r>
              <a:rPr lang="en-GB" sz="1800" b="1" kern="100" dirty="0">
                <a:effectLst/>
                <a:latin typeface="Aptos" panose="020B0004020202020204" pitchFamily="34" charset="0"/>
                <a:ea typeface="Aptos" panose="020B0004020202020204" pitchFamily="34" charset="0"/>
                <a:cs typeface="Arial" panose="020B0604020202020204" pitchFamily="34" charset="0"/>
              </a:rPr>
              <a:t>Revenue Boost</a:t>
            </a:r>
            <a:r>
              <a:rPr lang="en-GB" sz="1800" kern="100" dirty="0">
                <a:effectLst/>
                <a:latin typeface="Aptos" panose="020B0004020202020204" pitchFamily="34" charset="0"/>
                <a:ea typeface="Aptos" panose="020B0004020202020204" pitchFamily="34" charset="0"/>
                <a:cs typeface="Arial" panose="020B0604020202020204" pitchFamily="34" charset="0"/>
              </a:rPr>
              <a:t>: Avoiding stockouts preserves sales (e.g., 100 units/day × 100 DZD = 10,000 DZD/day).</a:t>
            </a:r>
          </a:p>
          <a:p>
            <a:pPr marL="342900" lvl="0" indent="-342900">
              <a:lnSpc>
                <a:spcPct val="107000"/>
              </a:lnSpc>
              <a:spcAft>
                <a:spcPts val="800"/>
              </a:spcAft>
              <a:buSzPts val="1000"/>
              <a:buFont typeface="Symbol" panose="05050102010706020507" pitchFamily="18" charset="2"/>
              <a:buChar char=""/>
              <a:tabLst>
                <a:tab pos="457200" algn="l"/>
              </a:tabLst>
            </a:pPr>
            <a:r>
              <a:rPr lang="en-GB" sz="1800" b="1" kern="100" dirty="0">
                <a:effectLst/>
                <a:latin typeface="Aptos" panose="020B0004020202020204" pitchFamily="34" charset="0"/>
                <a:ea typeface="Aptos" panose="020B0004020202020204" pitchFamily="34" charset="0"/>
                <a:cs typeface="Arial" panose="020B0604020202020204" pitchFamily="34" charset="0"/>
              </a:rPr>
              <a:t>Cost Savings</a:t>
            </a:r>
            <a:r>
              <a:rPr lang="en-GB" sz="1800" kern="100" dirty="0">
                <a:effectLst/>
                <a:latin typeface="Aptos" panose="020B0004020202020204" pitchFamily="34" charset="0"/>
                <a:ea typeface="Aptos" panose="020B0004020202020204" pitchFamily="34" charset="0"/>
                <a:cs typeface="Arial" panose="020B0604020202020204" pitchFamily="34" charset="0"/>
              </a:rPr>
              <a:t>: Optimized production reduces excess inventory costs (e.g., 50 units/day × 50 DZD production cost = 2,500 DZD/day).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A9E3B8-283C-E0BF-50A0-C06F1EAC3EFD}"/>
              </a:ext>
            </a:extLst>
          </p:cNvPr>
          <p:cNvSpPr txBox="1"/>
          <p:nvPr/>
        </p:nvSpPr>
        <p:spPr>
          <a:xfrm>
            <a:off x="1657814" y="-114941"/>
            <a:ext cx="5828371" cy="648896"/>
          </a:xfrm>
          <a:prstGeom prst="rect">
            <a:avLst/>
          </a:prstGeom>
          <a:noFill/>
        </p:spPr>
        <p:txBody>
          <a:bodyPr wrap="square">
            <a:spAutoFit/>
          </a:bodyPr>
          <a:lstStyle/>
          <a:p>
            <a:pPr algn="ctr">
              <a:lnSpc>
                <a:spcPct val="107000"/>
              </a:lnSpc>
              <a:spcAft>
                <a:spcPts val="800"/>
              </a:spcAft>
            </a:pPr>
            <a:r>
              <a:rPr lang="fr-FR" sz="3500" b="1" u="sng" kern="100" dirty="0">
                <a:solidFill>
                  <a:schemeClr val="tx2"/>
                </a:solidFill>
                <a:effectLst/>
                <a:latin typeface="Aptos" panose="020B0004020202020204" pitchFamily="34" charset="0"/>
                <a:ea typeface="Aptos" panose="020B0004020202020204" pitchFamily="34" charset="0"/>
                <a:cs typeface="Arial" panose="020B0604020202020204" pitchFamily="34" charset="0"/>
              </a:rPr>
              <a:t>Anticipating Questions</a:t>
            </a:r>
            <a:endParaRPr lang="en-GB" sz="3500" kern="100" dirty="0">
              <a:solidFill>
                <a:schemeClr val="tx2"/>
              </a:solidFill>
              <a:effectLst/>
              <a:latin typeface="Aptos" panose="020B0004020202020204" pitchFamily="34" charset="0"/>
              <a:ea typeface="Aptos" panose="020B00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539F4582-71FB-79E6-00EC-3850330BDD72}"/>
              </a:ext>
            </a:extLst>
          </p:cNvPr>
          <p:cNvSpPr txBox="1"/>
          <p:nvPr/>
        </p:nvSpPr>
        <p:spPr>
          <a:xfrm>
            <a:off x="1308410" y="815400"/>
            <a:ext cx="6720468" cy="4158446"/>
          </a:xfrm>
          <a:prstGeom prst="rect">
            <a:avLst/>
          </a:prstGeom>
          <a:solidFill>
            <a:schemeClr val="accent2">
              <a:lumMod val="75000"/>
            </a:schemeClr>
          </a:solidFill>
        </p:spPr>
        <p:txBody>
          <a:bodyPr wrap="square">
            <a:spAutoFit/>
          </a:bodyPr>
          <a:lstStyle/>
          <a:p>
            <a:pPr algn="ctr">
              <a:lnSpc>
                <a:spcPct val="107000"/>
              </a:lnSpc>
              <a:spcAft>
                <a:spcPts val="800"/>
              </a:spcAft>
              <a:buNone/>
            </a:pPr>
            <a:r>
              <a:rPr lang="fr-FR" sz="2000" b="1" u="sng" kern="100" dirty="0">
                <a:effectLst/>
                <a:latin typeface="Aptos" panose="020B0004020202020204" pitchFamily="34" charset="0"/>
                <a:ea typeface="Aptos" panose="020B0004020202020204" pitchFamily="34" charset="0"/>
                <a:cs typeface="Arial" panose="020B0604020202020204" pitchFamily="34" charset="0"/>
              </a:rPr>
              <a:t>Technical Questions</a:t>
            </a:r>
            <a:endParaRPr lang="en-GB" sz="2000" b="1" u="sng" kern="1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nSpc>
                <a:spcPct val="107000"/>
              </a:lnSpc>
              <a:spcAft>
                <a:spcPts val="800"/>
              </a:spcAft>
              <a:buFont typeface="+mj-lt"/>
              <a:buAutoNum type="arabicPeriod"/>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Why did you choose Prophet?</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Prophet is ideal for time-series data with seasonality and external factors like promotions. It’s robust, handles missing data, and is beginner-friendly, letting me focus on business impact.</a:t>
            </a:r>
          </a:p>
          <a:p>
            <a:pPr marL="342900" lvl="0" indent="-342900">
              <a:lnSpc>
                <a:spcPct val="107000"/>
              </a:lnSpc>
              <a:spcAft>
                <a:spcPts val="800"/>
              </a:spcAft>
              <a:buFont typeface="+mj-lt"/>
              <a:buAutoNum type="arabicPeriod"/>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How does Prophet handle temperature and promotions?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They’re added as regressors, meaning Prophet learns their linear impact on sales. For example, a 1°C increase might add 1.5 units, and promotions add 30–70 units.</a:t>
            </a:r>
          </a:p>
          <a:p>
            <a:pPr marL="342900" lvl="0" indent="-342900">
              <a:lnSpc>
                <a:spcPct val="107000"/>
              </a:lnSpc>
              <a:spcAft>
                <a:spcPts val="800"/>
              </a:spcAft>
              <a:buFont typeface="+mj-lt"/>
              <a:buAutoNum type="arabicPeriod"/>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What’s the RMSE, and why does it matter?</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RMSE measures prediction error in units sold. Ours is ~20–30, meaning forecasts are close to actuals, giving </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Laitinelle</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 confidence in production plans.</a:t>
            </a:r>
          </a:p>
          <a:p>
            <a:pPr marL="342900" lvl="0" indent="-342900">
              <a:lnSpc>
                <a:spcPct val="107000"/>
              </a:lnSpc>
              <a:spcAft>
                <a:spcPts val="800"/>
              </a:spcAft>
              <a:buFont typeface="+mj-lt"/>
              <a:buAutoNum type="arabicPeriod"/>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Why synthetic data?</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Real data wasn’t available, so I simulated realistic patterns (seasonality, promotions, temperature) to mimic Algerian market dynamics, ensuring the model is practical.</a:t>
            </a:r>
          </a:p>
          <a:p>
            <a:pPr marL="342900" lvl="0" indent="-342900">
              <a:lnSpc>
                <a:spcPct val="107000"/>
              </a:lnSpc>
              <a:spcAft>
                <a:spcPts val="800"/>
              </a:spcAft>
              <a:buFont typeface="+mj-lt"/>
              <a:buAutoNum type="arabicPeriod"/>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Why not use deep learning?</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Deep learning requires more data and time, which I didn’t have. Prophet delivers strong results with less complexity, perfect for a short-term project.</a:t>
            </a:r>
          </a:p>
        </p:txBody>
      </p:sp>
    </p:spTree>
    <p:extLst>
      <p:ext uri="{BB962C8B-B14F-4D97-AF65-F5344CB8AC3E}">
        <p14:creationId xmlns:p14="http://schemas.microsoft.com/office/powerpoint/2010/main" val="1982372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C3E05-0FA1-71E7-E71E-5D4F8B86B06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9B3C036-980D-C50D-BB23-FCF63767043C}"/>
              </a:ext>
            </a:extLst>
          </p:cNvPr>
          <p:cNvSpPr txBox="1"/>
          <p:nvPr/>
        </p:nvSpPr>
        <p:spPr>
          <a:xfrm>
            <a:off x="1657814" y="-114941"/>
            <a:ext cx="5828371" cy="648896"/>
          </a:xfrm>
          <a:prstGeom prst="rect">
            <a:avLst/>
          </a:prstGeom>
          <a:noFill/>
        </p:spPr>
        <p:txBody>
          <a:bodyPr wrap="square">
            <a:spAutoFit/>
          </a:bodyPr>
          <a:lstStyle/>
          <a:p>
            <a:pPr algn="ctr">
              <a:lnSpc>
                <a:spcPct val="107000"/>
              </a:lnSpc>
              <a:spcAft>
                <a:spcPts val="800"/>
              </a:spcAft>
            </a:pPr>
            <a:r>
              <a:rPr lang="fr-FR" sz="3500" b="1" u="sng" kern="100" dirty="0">
                <a:solidFill>
                  <a:schemeClr val="tx2"/>
                </a:solidFill>
                <a:effectLst/>
                <a:latin typeface="Aptos" panose="020B0004020202020204" pitchFamily="34" charset="0"/>
                <a:ea typeface="Aptos" panose="020B0004020202020204" pitchFamily="34" charset="0"/>
                <a:cs typeface="Arial" panose="020B0604020202020204" pitchFamily="34" charset="0"/>
              </a:rPr>
              <a:t>Anticipating Questions</a:t>
            </a:r>
            <a:endParaRPr lang="en-GB" sz="3500" kern="100" dirty="0">
              <a:solidFill>
                <a:schemeClr val="tx2"/>
              </a:solidFill>
              <a:effectLst/>
              <a:latin typeface="Aptos" panose="020B0004020202020204" pitchFamily="34" charset="0"/>
              <a:ea typeface="Aptos" panose="020B00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308A2522-45D7-3BDB-1B85-A6B824D11D9E}"/>
              </a:ext>
            </a:extLst>
          </p:cNvPr>
          <p:cNvSpPr txBox="1"/>
          <p:nvPr/>
        </p:nvSpPr>
        <p:spPr>
          <a:xfrm>
            <a:off x="1858537" y="763361"/>
            <a:ext cx="5538439" cy="4055854"/>
          </a:xfrm>
          <a:prstGeom prst="rect">
            <a:avLst/>
          </a:prstGeom>
          <a:solidFill>
            <a:schemeClr val="accent2">
              <a:lumMod val="75000"/>
            </a:schemeClr>
          </a:solidFill>
        </p:spPr>
        <p:txBody>
          <a:bodyPr wrap="square">
            <a:spAutoFit/>
          </a:bodyPr>
          <a:lstStyle/>
          <a:p>
            <a:pPr algn="ctr">
              <a:lnSpc>
                <a:spcPct val="107000"/>
              </a:lnSpc>
              <a:spcAft>
                <a:spcPts val="800"/>
              </a:spcAft>
              <a:buNone/>
            </a:pPr>
            <a:r>
              <a:rPr lang="en-GB" sz="2000" b="1" u="sng" kern="100" dirty="0">
                <a:effectLst/>
                <a:latin typeface="Aptos" panose="020B0004020202020204" pitchFamily="34" charset="0"/>
                <a:ea typeface="Aptos" panose="020B0004020202020204" pitchFamily="34" charset="0"/>
                <a:cs typeface="Arial" panose="020B0604020202020204" pitchFamily="34" charset="0"/>
              </a:rPr>
              <a:t>Business Questions</a:t>
            </a:r>
            <a:endParaRPr lang="en-GB" sz="2000" u="sng" kern="1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nSpc>
                <a:spcPct val="107000"/>
              </a:lnSpc>
              <a:spcAft>
                <a:spcPts val="800"/>
              </a:spcAft>
              <a:buFont typeface="+mj-lt"/>
              <a:buAutoNum type="arabicPeriod"/>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How does this help </a:t>
            </a:r>
            <a:r>
              <a:rPr lang="en-GB" sz="1100" b="1" kern="100" dirty="0" err="1">
                <a:effectLst/>
                <a:latin typeface="Aptos" panose="020B0004020202020204" pitchFamily="34" charset="0"/>
                <a:ea typeface="Aptos" panose="020B0004020202020204" pitchFamily="34" charset="0"/>
                <a:cs typeface="Arial" panose="020B0604020202020204" pitchFamily="34" charset="0"/>
              </a:rPr>
              <a:t>Laitinelle</a:t>
            </a:r>
            <a:r>
              <a:rPr lang="en-GB" sz="1100" b="1" kern="100" dirty="0">
                <a:effectLst/>
                <a:latin typeface="Aptos" panose="020B0004020202020204" pitchFamily="34" charset="0"/>
                <a:ea typeface="Aptos" panose="020B0004020202020204" pitchFamily="34" charset="0"/>
                <a:cs typeface="Arial" panose="020B0604020202020204" pitchFamily="34" charset="0"/>
              </a:rPr>
              <a:t>?</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SupplyProphet</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 predicts demand to optimize production, reducing waste from spoilage and stockouts. Reorder alerts ensure fresh yogurt is always available, boosting profits.</a:t>
            </a:r>
          </a:p>
          <a:p>
            <a:pPr lvl="1">
              <a:lnSpc>
                <a:spcPct val="107000"/>
              </a:lnSpc>
              <a:spcAft>
                <a:spcPts val="800"/>
              </a:spcAft>
              <a:buSzPts val="1000"/>
              <a:tabLst>
                <a:tab pos="914400" algn="l"/>
              </a:tabLst>
            </a:pPr>
            <a:endParaRPr lang="en-GB"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Can this scale to other industries?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Yes! The pipeline is modular. Swap temperature for a feature like ‘</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seasonal_trend_score</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 for shoes, and it works. I focused on yogurt due to time constraints but can extend it.</a:t>
            </a:r>
          </a:p>
          <a:p>
            <a:pPr lvl="1">
              <a:lnSpc>
                <a:spcPct val="107000"/>
              </a:lnSpc>
              <a:spcAft>
                <a:spcPts val="800"/>
              </a:spcAft>
              <a:buSzPts val="1000"/>
              <a:tabLst>
                <a:tab pos="914400" algn="l"/>
              </a:tabLst>
            </a:pPr>
            <a:endParaRPr lang="en-GB"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What’s the ROI for </a:t>
            </a:r>
            <a:r>
              <a:rPr lang="en-GB" sz="1100" b="1" kern="100" dirty="0" err="1">
                <a:effectLst/>
                <a:latin typeface="Aptos" panose="020B0004020202020204" pitchFamily="34" charset="0"/>
                <a:ea typeface="Aptos" panose="020B0004020202020204" pitchFamily="34" charset="0"/>
                <a:cs typeface="Arial" panose="020B0604020202020204" pitchFamily="34" charset="0"/>
              </a:rPr>
              <a:t>Laitinelle</a:t>
            </a:r>
            <a:r>
              <a:rPr lang="en-GB" sz="1100" b="1" kern="100" dirty="0">
                <a:effectLst/>
                <a:latin typeface="Aptos" panose="020B0004020202020204" pitchFamily="34" charset="0"/>
                <a:ea typeface="Aptos" panose="020B0004020202020204" pitchFamily="34" charset="0"/>
                <a:cs typeface="Arial" panose="020B0604020202020204" pitchFamily="34" charset="0"/>
              </a:rPr>
              <a:t>?</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By cutting waste (e.g., 50 units/day × 50 DZD = 2,500 DZD/day) and avoiding stockouts (e.g., 10,000 DZD/day in lost sales), </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SupplyProphet</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 saves thousands daily.</a:t>
            </a:r>
          </a:p>
          <a:p>
            <a:pPr lvl="0">
              <a:lnSpc>
                <a:spcPct val="107000"/>
              </a:lnSpc>
              <a:spcAft>
                <a:spcPts val="800"/>
              </a:spcAft>
              <a:tabLst>
                <a:tab pos="457200" algn="l"/>
              </a:tabLst>
            </a:pPr>
            <a:endParaRPr lang="en-GB" sz="11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765368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742C5-22A5-4965-F4D1-E246582B1E4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B884F3F-DE54-B0CC-E66B-2BE6FD2CB3D7}"/>
              </a:ext>
            </a:extLst>
          </p:cNvPr>
          <p:cNvSpPr txBox="1"/>
          <p:nvPr/>
        </p:nvSpPr>
        <p:spPr>
          <a:xfrm>
            <a:off x="1657814" y="-114941"/>
            <a:ext cx="5828371" cy="648896"/>
          </a:xfrm>
          <a:prstGeom prst="rect">
            <a:avLst/>
          </a:prstGeom>
          <a:noFill/>
        </p:spPr>
        <p:txBody>
          <a:bodyPr wrap="square">
            <a:spAutoFit/>
          </a:bodyPr>
          <a:lstStyle/>
          <a:p>
            <a:pPr algn="ctr">
              <a:lnSpc>
                <a:spcPct val="107000"/>
              </a:lnSpc>
              <a:spcAft>
                <a:spcPts val="800"/>
              </a:spcAft>
            </a:pPr>
            <a:r>
              <a:rPr lang="fr-FR" sz="3500" b="1" u="sng" kern="100" dirty="0">
                <a:solidFill>
                  <a:schemeClr val="tx2"/>
                </a:solidFill>
                <a:effectLst/>
                <a:latin typeface="Aptos" panose="020B0004020202020204" pitchFamily="34" charset="0"/>
                <a:ea typeface="Aptos" panose="020B0004020202020204" pitchFamily="34" charset="0"/>
                <a:cs typeface="Arial" panose="020B0604020202020204" pitchFamily="34" charset="0"/>
              </a:rPr>
              <a:t>Anticipating Questions</a:t>
            </a:r>
            <a:endParaRPr lang="en-GB" sz="3500" kern="100" dirty="0">
              <a:solidFill>
                <a:schemeClr val="tx2"/>
              </a:solidFill>
              <a:effectLst/>
              <a:latin typeface="Aptos" panose="020B0004020202020204" pitchFamily="34" charset="0"/>
              <a:ea typeface="Aptos" panose="020B00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9D0AB5A-5CA0-1B5E-6094-E98A08FCC326}"/>
              </a:ext>
            </a:extLst>
          </p:cNvPr>
          <p:cNvSpPr txBox="1"/>
          <p:nvPr/>
        </p:nvSpPr>
        <p:spPr>
          <a:xfrm>
            <a:off x="1858537" y="763361"/>
            <a:ext cx="5538439" cy="3796167"/>
          </a:xfrm>
          <a:prstGeom prst="rect">
            <a:avLst/>
          </a:prstGeom>
          <a:solidFill>
            <a:schemeClr val="accent2">
              <a:lumMod val="75000"/>
            </a:schemeClr>
          </a:solidFill>
        </p:spPr>
        <p:txBody>
          <a:bodyPr wrap="square">
            <a:spAutoFit/>
          </a:bodyPr>
          <a:lstStyle/>
          <a:p>
            <a:pPr algn="ctr">
              <a:lnSpc>
                <a:spcPct val="107000"/>
              </a:lnSpc>
              <a:spcAft>
                <a:spcPts val="800"/>
              </a:spcAft>
              <a:buNone/>
            </a:pPr>
            <a:r>
              <a:rPr lang="en-GB" sz="2000" b="1" u="sng" kern="100" dirty="0">
                <a:effectLst/>
                <a:latin typeface="Aptos" panose="020B0004020202020204" pitchFamily="34" charset="0"/>
                <a:ea typeface="Aptos" panose="020B0004020202020204" pitchFamily="34" charset="0"/>
                <a:cs typeface="Arial" panose="020B0604020202020204" pitchFamily="34" charset="0"/>
              </a:rPr>
              <a:t>Gotcha Questions</a:t>
            </a:r>
            <a:endParaRPr lang="en-GB" sz="2000" u="sng" kern="100" dirty="0">
              <a:effectLst/>
              <a:latin typeface="Aptos" panose="020B0004020202020204" pitchFamily="34" charset="0"/>
              <a:ea typeface="Aptos" panose="020B0004020202020204" pitchFamily="34" charset="0"/>
              <a:cs typeface="Arial" panose="020B0604020202020204" pitchFamily="34" charset="0"/>
            </a:endParaRPr>
          </a:p>
          <a:p>
            <a:pPr marL="914400">
              <a:lnSpc>
                <a:spcPct val="107000"/>
              </a:lnSpc>
              <a:spcAft>
                <a:spcPts val="800"/>
              </a:spcAft>
              <a:buNone/>
            </a:pPr>
            <a:r>
              <a:rPr lang="en-GB" sz="1100" kern="100" dirty="0">
                <a:effectLst/>
                <a:latin typeface="Aptos" panose="020B0004020202020204" pitchFamily="34" charset="0"/>
                <a:ea typeface="Aptos" panose="020B0004020202020204" pitchFamily="34" charset="0"/>
                <a:cs typeface="Arial" panose="020B0604020202020204" pitchFamily="34" charset="0"/>
              </a:rPr>
              <a:t> </a:t>
            </a:r>
          </a:p>
          <a:p>
            <a:pPr marL="342900" lvl="0" indent="-342900">
              <a:lnSpc>
                <a:spcPct val="107000"/>
              </a:lnSpc>
              <a:spcAft>
                <a:spcPts val="800"/>
              </a:spcAft>
              <a:buFont typeface="+mj-lt"/>
              <a:buAutoNum type="arabicPeriod"/>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What if the temperature data is wrong?</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Prophet is robust to noise, but I’d preprocess data to cap outliers (e.g., temperatures &gt;40°C). Future work could use weather APIs for accuracy.</a:t>
            </a:r>
          </a:p>
          <a:p>
            <a:pPr lvl="1">
              <a:lnSpc>
                <a:spcPct val="107000"/>
              </a:lnSpc>
              <a:spcAft>
                <a:spcPts val="800"/>
              </a:spcAft>
              <a:buSzPts val="1000"/>
              <a:tabLst>
                <a:tab pos="914400" algn="l"/>
              </a:tabLst>
            </a:pPr>
            <a:endParaRPr lang="en-GB"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What about holidays?</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I didn’t include holidays due to time, but Prophet supports holiday effects. I can add Eid and Ramadan dates to improve forecasts.</a:t>
            </a:r>
          </a:p>
          <a:p>
            <a:pPr lvl="1">
              <a:lnSpc>
                <a:spcPct val="107000"/>
              </a:lnSpc>
              <a:spcAft>
                <a:spcPts val="800"/>
              </a:spcAft>
              <a:buSzPts val="1000"/>
              <a:tabLst>
                <a:tab pos="914400" algn="l"/>
              </a:tabLst>
            </a:pPr>
            <a:endParaRPr lang="en-GB"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Why only one supply chain feature?</a:t>
            </a:r>
            <a:endParaRPr lang="en-GB" sz="1100" kern="100" dirty="0">
              <a:effectLst/>
              <a:latin typeface="Aptos" panose="020B0004020202020204" pitchFamily="34" charset="0"/>
              <a:ea typeface="Aptos" panose="020B0004020202020204" pitchFamily="34" charset="0"/>
              <a:cs typeface="Arial" panose="020B0604020202020204" pitchFamily="34"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I prioritized a simple, impactful insight—reorder alerts. Future versions could add lead times or spoilage rates for deeper optimization.</a:t>
            </a:r>
          </a:p>
          <a:p>
            <a:pPr lvl="0">
              <a:lnSpc>
                <a:spcPct val="107000"/>
              </a:lnSpc>
              <a:spcAft>
                <a:spcPts val="800"/>
              </a:spcAft>
              <a:tabLst>
                <a:tab pos="457200" algn="l"/>
              </a:tabLst>
            </a:pPr>
            <a:endParaRPr lang="en-GB" sz="11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856525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99C6E-9F04-F345-90AC-4471690ADF2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07D7B3D-93B5-7C6A-C804-12ACFE968B6D}"/>
              </a:ext>
            </a:extLst>
          </p:cNvPr>
          <p:cNvSpPr txBox="1"/>
          <p:nvPr/>
        </p:nvSpPr>
        <p:spPr>
          <a:xfrm>
            <a:off x="1657814" y="-114941"/>
            <a:ext cx="5828371" cy="648896"/>
          </a:xfrm>
          <a:prstGeom prst="rect">
            <a:avLst/>
          </a:prstGeom>
          <a:noFill/>
        </p:spPr>
        <p:txBody>
          <a:bodyPr wrap="square">
            <a:spAutoFit/>
          </a:bodyPr>
          <a:lstStyle/>
          <a:p>
            <a:pPr algn="ctr">
              <a:lnSpc>
                <a:spcPct val="107000"/>
              </a:lnSpc>
              <a:spcAft>
                <a:spcPts val="800"/>
              </a:spcAft>
            </a:pPr>
            <a:r>
              <a:rPr lang="fr-FR" sz="3500" b="1" u="sng" kern="100" dirty="0">
                <a:solidFill>
                  <a:schemeClr val="tx2"/>
                </a:solidFill>
                <a:effectLst/>
                <a:latin typeface="Aptos" panose="020B0004020202020204" pitchFamily="34" charset="0"/>
                <a:ea typeface="Aptos" panose="020B0004020202020204" pitchFamily="34" charset="0"/>
                <a:cs typeface="Arial" panose="020B0604020202020204" pitchFamily="34" charset="0"/>
              </a:rPr>
              <a:t> Future Enhancements</a:t>
            </a:r>
            <a:endParaRPr lang="en-GB" sz="3500" kern="100" dirty="0">
              <a:solidFill>
                <a:schemeClr val="tx2"/>
              </a:solidFill>
              <a:effectLst/>
              <a:latin typeface="Aptos" panose="020B0004020202020204" pitchFamily="34" charset="0"/>
              <a:ea typeface="Aptos" panose="020B00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3A66DF7F-A36D-3083-63F2-49AFA507384A}"/>
              </a:ext>
            </a:extLst>
          </p:cNvPr>
          <p:cNvSpPr txBox="1"/>
          <p:nvPr/>
        </p:nvSpPr>
        <p:spPr>
          <a:xfrm>
            <a:off x="74343" y="533955"/>
            <a:ext cx="3977268" cy="3159070"/>
          </a:xfrm>
          <a:prstGeom prst="rect">
            <a:avLst/>
          </a:prstGeom>
          <a:solidFill>
            <a:schemeClr val="accent1">
              <a:lumMod val="60000"/>
              <a:lumOff val="40000"/>
            </a:schemeClr>
          </a:solidFill>
        </p:spPr>
        <p:txBody>
          <a:bodyPr wrap="square">
            <a:spAutoFit/>
          </a:bodyPr>
          <a:lstStyle/>
          <a:p>
            <a:pPr marL="342900" lvl="0" indent="-342900">
              <a:lnSpc>
                <a:spcPct val="107000"/>
              </a:lnSpc>
              <a:spcAft>
                <a:spcPts val="800"/>
              </a:spcAft>
              <a:buFont typeface="+mj-lt"/>
              <a:buAutoNum type="arabicPeriod"/>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Holiday Effects</a:t>
            </a:r>
            <a:r>
              <a:rPr lang="en-GB" sz="1100" kern="100" dirty="0">
                <a:effectLst/>
                <a:latin typeface="Aptos" panose="020B0004020202020204" pitchFamily="34" charset="0"/>
                <a:ea typeface="Aptos" panose="020B000402020202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Add Algerian holidays (Eid, Independence Day) to Prophet for better seasonality.</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Code: </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model.add_country_holidays</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country_name</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='DZ').</a:t>
            </a:r>
          </a:p>
          <a:p>
            <a:pPr marL="342900" lvl="0" indent="-342900">
              <a:lnSpc>
                <a:spcPct val="107000"/>
              </a:lnSpc>
              <a:spcAft>
                <a:spcPts val="800"/>
              </a:spcAft>
              <a:buFont typeface="+mj-lt"/>
              <a:buAutoNum type="arabicPeriod"/>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Anomaly Detection</a:t>
            </a:r>
            <a:r>
              <a:rPr lang="en-GB" sz="1100" kern="100" dirty="0">
                <a:effectLst/>
                <a:latin typeface="Aptos" panose="020B0004020202020204" pitchFamily="34" charset="0"/>
                <a:ea typeface="Aptos" panose="020B000402020202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Use Isolation Forest to detect supply chain disruptions (e.g., delivery delays).</a:t>
            </a:r>
          </a:p>
          <a:p>
            <a:pPr marL="342900" lvl="0" indent="-342900">
              <a:lnSpc>
                <a:spcPct val="107000"/>
              </a:lnSpc>
              <a:spcAft>
                <a:spcPts val="800"/>
              </a:spcAft>
              <a:buFont typeface="+mj-lt"/>
              <a:buAutoNum type="arabicPeriod"/>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Weather API</a:t>
            </a:r>
            <a:r>
              <a:rPr lang="en-GB" sz="1100" kern="100" dirty="0">
                <a:effectLst/>
                <a:latin typeface="Aptos" panose="020B0004020202020204" pitchFamily="34" charset="0"/>
                <a:ea typeface="Aptos" panose="020B000402020202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Replace simulated </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temperature_c</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 with real-time data from OpenWeatherMap.</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This would make forecasts even more accurate for production.</a:t>
            </a:r>
          </a:p>
        </p:txBody>
      </p:sp>
      <p:sp>
        <p:nvSpPr>
          <p:cNvPr id="4" name="TextBox 3">
            <a:extLst>
              <a:ext uri="{FF2B5EF4-FFF2-40B4-BE49-F238E27FC236}">
                <a16:creationId xmlns:a16="http://schemas.microsoft.com/office/drawing/2014/main" id="{64304ED5-60CB-BB4B-75A9-64B32E624AF3}"/>
              </a:ext>
            </a:extLst>
          </p:cNvPr>
          <p:cNvSpPr txBox="1"/>
          <p:nvPr/>
        </p:nvSpPr>
        <p:spPr>
          <a:xfrm>
            <a:off x="4363844" y="2001983"/>
            <a:ext cx="4594302" cy="2694199"/>
          </a:xfrm>
          <a:prstGeom prst="rect">
            <a:avLst/>
          </a:prstGeom>
          <a:solidFill>
            <a:schemeClr val="tx2">
              <a:lumMod val="40000"/>
              <a:lumOff val="60000"/>
            </a:schemeClr>
          </a:solidFill>
        </p:spPr>
        <p:txBody>
          <a:bodyPr wrap="square">
            <a:spAutoFit/>
          </a:bodyPr>
          <a:lstStyle/>
          <a:p>
            <a:pPr lvl="0">
              <a:lnSpc>
                <a:spcPct val="107000"/>
              </a:lnSpc>
              <a:spcAft>
                <a:spcPts val="800"/>
              </a:spcAft>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4.       Customer Feedback</a:t>
            </a:r>
            <a:r>
              <a:rPr lang="en-GB" sz="1100" kern="100" dirty="0">
                <a:effectLst/>
                <a:latin typeface="Aptos" panose="020B0004020202020204" pitchFamily="34" charset="0"/>
                <a:ea typeface="Aptos" panose="020B000402020202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Add a </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customer_rating</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 feature (e.g., 1–5 stars) to model sentiment’s impact on sales.</a:t>
            </a:r>
          </a:p>
          <a:p>
            <a:pPr lvl="0">
              <a:lnSpc>
                <a:spcPct val="107000"/>
              </a:lnSpc>
              <a:spcAft>
                <a:spcPts val="800"/>
              </a:spcAft>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5.        Unified Pipeline</a:t>
            </a:r>
            <a:r>
              <a:rPr lang="en-GB" sz="1100" kern="100" dirty="0">
                <a:effectLst/>
                <a:latin typeface="Aptos" panose="020B0004020202020204" pitchFamily="34" charset="0"/>
                <a:ea typeface="Aptos" panose="020B000402020202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Combine sales and supply chain into a single </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Streamlit</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 app for real-time predictions.</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This would let Madame Zineb monitor everything in one dashboard.</a:t>
            </a:r>
          </a:p>
          <a:p>
            <a:pPr lvl="0">
              <a:lnSpc>
                <a:spcPct val="107000"/>
              </a:lnSpc>
              <a:spcAft>
                <a:spcPts val="800"/>
              </a:spcAft>
              <a:tabLst>
                <a:tab pos="457200" algn="l"/>
              </a:tabLst>
            </a:pPr>
            <a:r>
              <a:rPr lang="en-GB" sz="1100" b="1" kern="100" dirty="0">
                <a:effectLst/>
                <a:latin typeface="Aptos" panose="020B0004020202020204" pitchFamily="34" charset="0"/>
                <a:ea typeface="Aptos" panose="020B0004020202020204" pitchFamily="34" charset="0"/>
                <a:cs typeface="Arial" panose="020B0604020202020204" pitchFamily="34" charset="0"/>
              </a:rPr>
              <a:t>6.        Multi-Product Forecasting</a:t>
            </a:r>
            <a:r>
              <a:rPr lang="en-GB" sz="1100" kern="100" dirty="0">
                <a:effectLst/>
                <a:latin typeface="Aptos" panose="020B0004020202020204" pitchFamily="34" charset="0"/>
                <a:ea typeface="Aptos" panose="020B0004020202020204" pitchFamily="34" charset="0"/>
                <a:cs typeface="Arial" panose="020B0604020202020204" pitchFamily="34" charset="0"/>
              </a:rPr>
              <a:t>:</a:t>
            </a:r>
          </a:p>
          <a:p>
            <a:pPr marL="742950" lvl="1" indent="-285750">
              <a:lnSpc>
                <a:spcPct val="107000"/>
              </a:lnSpc>
              <a:spcAft>
                <a:spcPts val="800"/>
              </a:spcAft>
              <a:buSzPts val="1000"/>
              <a:buFont typeface="Courier New" panose="02070309020205020404" pitchFamily="49" charset="0"/>
              <a:buChar char="o"/>
              <a:tabLst>
                <a:tab pos="914400" algn="l"/>
              </a:tabLst>
            </a:pPr>
            <a:r>
              <a:rPr lang="en-GB" sz="1100" kern="100" dirty="0">
                <a:effectLst/>
                <a:latin typeface="Aptos" panose="020B0004020202020204" pitchFamily="34" charset="0"/>
                <a:ea typeface="Aptos" panose="020B0004020202020204" pitchFamily="34" charset="0"/>
                <a:cs typeface="Times New Roman" panose="02020603050405020304" pitchFamily="18" charset="0"/>
              </a:rPr>
              <a:t>Extend to </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Laitinelle’s</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 </a:t>
            </a:r>
            <a:r>
              <a:rPr lang="en-GB" sz="1100" kern="100" dirty="0" err="1">
                <a:effectLst/>
                <a:latin typeface="Aptos" panose="020B0004020202020204" pitchFamily="34" charset="0"/>
                <a:ea typeface="Aptos" panose="020B0004020202020204" pitchFamily="34" charset="0"/>
                <a:cs typeface="Times New Roman" panose="02020603050405020304" pitchFamily="18" charset="0"/>
              </a:rPr>
              <a:t>flavors</a:t>
            </a:r>
            <a:r>
              <a:rPr lang="en-GB" sz="1100" kern="100" dirty="0">
                <a:effectLst/>
                <a:latin typeface="Aptos" panose="020B0004020202020204" pitchFamily="34" charset="0"/>
                <a:ea typeface="Aptos" panose="020B0004020202020204" pitchFamily="34" charset="0"/>
                <a:cs typeface="Times New Roman" panose="02020603050405020304" pitchFamily="18" charset="0"/>
              </a:rPr>
              <a:t> (e.g., mint, strawberry) with separate models.</a:t>
            </a:r>
          </a:p>
        </p:txBody>
      </p:sp>
    </p:spTree>
    <p:extLst>
      <p:ext uri="{BB962C8B-B14F-4D97-AF65-F5344CB8AC3E}">
        <p14:creationId xmlns:p14="http://schemas.microsoft.com/office/powerpoint/2010/main" val="5389384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0000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B2647D-AA49-9134-3197-B74E453753A4}"/>
              </a:ext>
            </a:extLst>
          </p:cNvPr>
          <p:cNvSpPr txBox="1"/>
          <p:nvPr/>
        </p:nvSpPr>
        <p:spPr>
          <a:xfrm>
            <a:off x="3095625" y="3626439"/>
            <a:ext cx="5936862" cy="1290803"/>
          </a:xfrm>
          <a:prstGeom prst="rect">
            <a:avLst/>
          </a:prstGeom>
          <a:noFill/>
        </p:spPr>
        <p:txBody>
          <a:bodyPr wrap="square">
            <a:spAutoFit/>
          </a:bodyPr>
          <a:lstStyle/>
          <a:p>
            <a:pPr algn="r">
              <a:lnSpc>
                <a:spcPct val="107000"/>
              </a:lnSpc>
              <a:spcAft>
                <a:spcPts val="800"/>
              </a:spcAft>
            </a:pPr>
            <a:r>
              <a:rPr lang="en-GB" sz="1800" kern="100" dirty="0">
                <a:solidFill>
                  <a:schemeClr val="bg2"/>
                </a:solidFill>
                <a:effectLst/>
                <a:latin typeface="Aptos" panose="020B0004020202020204" pitchFamily="34" charset="0"/>
                <a:ea typeface="Aptos" panose="020B0004020202020204" pitchFamily="34" charset="0"/>
                <a:cs typeface="Arial" panose="020B0604020202020204" pitchFamily="34" charset="0"/>
              </a:rPr>
              <a:t>“</a:t>
            </a:r>
            <a:r>
              <a:rPr lang="en-GB" sz="1800" i="1" kern="100" dirty="0">
                <a:solidFill>
                  <a:schemeClr val="bg2"/>
                </a:solidFill>
                <a:effectLst/>
                <a:latin typeface="Aptos" panose="020B0004020202020204" pitchFamily="34" charset="0"/>
                <a:ea typeface="Aptos" panose="020B0004020202020204" pitchFamily="34" charset="0"/>
                <a:cs typeface="Arial" panose="020B0604020202020204" pitchFamily="34" charset="0"/>
              </a:rPr>
              <a:t>Data is our freshest ingredient. With </a:t>
            </a:r>
            <a:r>
              <a:rPr lang="en-GB" sz="1800" i="1" kern="100" dirty="0" err="1">
                <a:solidFill>
                  <a:schemeClr val="bg2"/>
                </a:solidFill>
                <a:effectLst/>
                <a:latin typeface="Aptos" panose="020B0004020202020204" pitchFamily="34" charset="0"/>
                <a:ea typeface="Aptos" panose="020B0004020202020204" pitchFamily="34" charset="0"/>
                <a:cs typeface="Arial" panose="020B0604020202020204" pitchFamily="34" charset="0"/>
              </a:rPr>
              <a:t>SupplyProphet</a:t>
            </a:r>
            <a:r>
              <a:rPr lang="en-GB" sz="1800" i="1" kern="100" dirty="0">
                <a:solidFill>
                  <a:schemeClr val="bg2"/>
                </a:solidFill>
                <a:effectLst/>
                <a:latin typeface="Aptos" panose="020B0004020202020204" pitchFamily="34" charset="0"/>
                <a:ea typeface="Aptos" panose="020B0004020202020204" pitchFamily="34" charset="0"/>
                <a:cs typeface="Arial" panose="020B0604020202020204" pitchFamily="34" charset="0"/>
              </a:rPr>
              <a:t>™, we ensure every jar of </a:t>
            </a:r>
            <a:r>
              <a:rPr lang="en-GB" sz="1800" i="1" kern="100" dirty="0" err="1">
                <a:solidFill>
                  <a:schemeClr val="bg2"/>
                </a:solidFill>
                <a:effectLst/>
                <a:latin typeface="Aptos" panose="020B0004020202020204" pitchFamily="34" charset="0"/>
                <a:ea typeface="Aptos" panose="020B0004020202020204" pitchFamily="34" charset="0"/>
                <a:cs typeface="Arial" panose="020B0604020202020204" pitchFamily="34" charset="0"/>
              </a:rPr>
              <a:t>Laitinelle</a:t>
            </a:r>
            <a:r>
              <a:rPr lang="en-GB" sz="1800" i="1" kern="100" dirty="0">
                <a:solidFill>
                  <a:schemeClr val="bg2"/>
                </a:solidFill>
                <a:effectLst/>
                <a:latin typeface="Aptos" panose="020B0004020202020204" pitchFamily="34" charset="0"/>
                <a:ea typeface="Aptos" panose="020B0004020202020204" pitchFamily="34" charset="0"/>
                <a:cs typeface="Arial" panose="020B0604020202020204" pitchFamily="34" charset="0"/>
              </a:rPr>
              <a:t> yogurt is a moment of Mediterranean magic.” </a:t>
            </a:r>
          </a:p>
          <a:p>
            <a:pPr algn="r">
              <a:lnSpc>
                <a:spcPct val="107000"/>
              </a:lnSpc>
              <a:spcAft>
                <a:spcPts val="800"/>
              </a:spcAft>
            </a:pPr>
            <a:r>
              <a:rPr lang="en-GB" sz="1300" kern="100" dirty="0">
                <a:solidFill>
                  <a:schemeClr val="bg2"/>
                </a:solidFill>
                <a:effectLst/>
                <a:latin typeface="Aptos" panose="020B0004020202020204" pitchFamily="34" charset="0"/>
                <a:ea typeface="Aptos" panose="020B0004020202020204" pitchFamily="34" charset="0"/>
                <a:cs typeface="Arial" panose="020B0604020202020204" pitchFamily="34" charset="0"/>
              </a:rPr>
              <a:t>– </a:t>
            </a:r>
            <a:r>
              <a:rPr lang="en-GB" sz="1300" b="1" kern="100" dirty="0">
                <a:solidFill>
                  <a:schemeClr val="bg2"/>
                </a:solidFill>
                <a:effectLst/>
                <a:latin typeface="Aptos" panose="020B0004020202020204" pitchFamily="34" charset="0"/>
                <a:ea typeface="Aptos" panose="020B0004020202020204" pitchFamily="34" charset="0"/>
                <a:cs typeface="Arial" panose="020B0604020202020204" pitchFamily="34" charset="0"/>
              </a:rPr>
              <a:t>Madame Zineb Belkacem, CEO of </a:t>
            </a:r>
            <a:r>
              <a:rPr lang="en-GB" sz="1300" b="1" kern="100" dirty="0" err="1">
                <a:solidFill>
                  <a:schemeClr val="bg2"/>
                </a:solidFill>
                <a:effectLst/>
                <a:latin typeface="Aptos" panose="020B0004020202020204" pitchFamily="34" charset="0"/>
                <a:ea typeface="Aptos" panose="020B0004020202020204" pitchFamily="34" charset="0"/>
                <a:cs typeface="Arial" panose="020B0604020202020204" pitchFamily="34" charset="0"/>
              </a:rPr>
              <a:t>Laitinelle</a:t>
            </a:r>
            <a:r>
              <a:rPr lang="en-GB" sz="1300" b="1" kern="100" dirty="0">
                <a:solidFill>
                  <a:schemeClr val="bg2"/>
                </a:solidFill>
                <a:effectLst/>
                <a:latin typeface="Aptos" panose="020B0004020202020204" pitchFamily="34" charset="0"/>
                <a:ea typeface="Aptos" panose="020B0004020202020204" pitchFamily="34" charset="0"/>
                <a:cs typeface="Arial" panose="020B0604020202020204" pitchFamily="34" charset="0"/>
              </a:rPr>
              <a:t> Dairies™</a:t>
            </a:r>
          </a:p>
        </p:txBody>
      </p:sp>
      <p:pic>
        <p:nvPicPr>
          <p:cNvPr id="5" name="Picture 4">
            <a:extLst>
              <a:ext uri="{FF2B5EF4-FFF2-40B4-BE49-F238E27FC236}">
                <a16:creationId xmlns:a16="http://schemas.microsoft.com/office/drawing/2014/main" id="{1AB114A0-336A-75EC-7C07-A34D212D1C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095625" cy="5143500"/>
          </a:xfrm>
          <a:prstGeom prst="rect">
            <a:avLst/>
          </a:prstGeom>
        </p:spPr>
      </p:pic>
      <p:sp>
        <p:nvSpPr>
          <p:cNvPr id="6" name="TextBox 5">
            <a:extLst>
              <a:ext uri="{FF2B5EF4-FFF2-40B4-BE49-F238E27FC236}">
                <a16:creationId xmlns:a16="http://schemas.microsoft.com/office/drawing/2014/main" id="{79690CA0-5E7D-8AC6-D8C2-8C9BB75A6A3B}"/>
              </a:ext>
            </a:extLst>
          </p:cNvPr>
          <p:cNvSpPr txBox="1"/>
          <p:nvPr/>
        </p:nvSpPr>
        <p:spPr>
          <a:xfrm>
            <a:off x="4094007" y="912427"/>
            <a:ext cx="4356410" cy="2092881"/>
          </a:xfrm>
          <a:prstGeom prst="rect">
            <a:avLst/>
          </a:prstGeom>
          <a:noFill/>
        </p:spPr>
        <p:txBody>
          <a:bodyPr wrap="square" rtlCol="0">
            <a:spAutoFit/>
          </a:bodyPr>
          <a:lstStyle/>
          <a:p>
            <a:pPr algn="ctr"/>
            <a:r>
              <a:rPr lang="en-GB" sz="6500" dirty="0">
                <a:solidFill>
                  <a:schemeClr val="bg2"/>
                </a:solidFill>
                <a:latin typeface="Ink Free" panose="03080402000500000000" pitchFamily="66" charset="0"/>
                <a:cs typeface="Dreaming Outloud Script Pro" panose="020F0502020204030204" pitchFamily="66" charset="0"/>
              </a:rPr>
              <a:t>THANK</a:t>
            </a:r>
          </a:p>
          <a:p>
            <a:pPr algn="ctr"/>
            <a:r>
              <a:rPr lang="en-GB" sz="6500" dirty="0">
                <a:solidFill>
                  <a:schemeClr val="bg2"/>
                </a:solidFill>
                <a:latin typeface="Ink Free" panose="03080402000500000000" pitchFamily="66" charset="0"/>
                <a:cs typeface="Dreaming Outloud Script Pro" panose="020F0502020204030204" pitchFamily="66" charset="0"/>
              </a:rPr>
              <a:t> YOU!</a:t>
            </a:r>
          </a:p>
        </p:txBody>
      </p:sp>
    </p:spTree>
    <p:extLst>
      <p:ext uri="{BB962C8B-B14F-4D97-AF65-F5344CB8AC3E}">
        <p14:creationId xmlns:p14="http://schemas.microsoft.com/office/powerpoint/2010/main" val="3194328569"/>
      </p:ext>
    </p:extLst>
  </p:cSld>
  <p:clrMapOvr>
    <a:masterClrMapping/>
  </p:clrMapOvr>
</p:sld>
</file>

<file path=ppt/theme/theme1.xml><?xml version="1.0" encoding="utf-8"?>
<a:theme xmlns:a="http://schemas.openxmlformats.org/drawingml/2006/main" name="Minimalist Aesthetic by Slidesgo">
  <a:themeElements>
    <a:clrScheme name="Simple Light">
      <a:dk1>
        <a:srgbClr val="332E2A"/>
      </a:dk1>
      <a:lt1>
        <a:srgbClr val="F1EBE3"/>
      </a:lt1>
      <a:dk2>
        <a:srgbClr val="A14342"/>
      </a:dk2>
      <a:lt2>
        <a:srgbClr val="E2E2E2"/>
      </a:lt2>
      <a:accent1>
        <a:srgbClr val="9E7961"/>
      </a:accent1>
      <a:accent2>
        <a:srgbClr val="FFFFFF"/>
      </a:accent2>
      <a:accent3>
        <a:srgbClr val="FFFFFF"/>
      </a:accent3>
      <a:accent4>
        <a:srgbClr val="FFFFFF"/>
      </a:accent4>
      <a:accent5>
        <a:srgbClr val="FFFFFF"/>
      </a:accent5>
      <a:accent6>
        <a:srgbClr val="FFFFFF"/>
      </a:accent6>
      <a:hlink>
        <a:srgbClr val="332E2A"/>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Minimalist Aesthetic by Slidesgo">
  <a:themeElements>
    <a:clrScheme name="Simple Light">
      <a:dk1>
        <a:srgbClr val="332E2A"/>
      </a:dk1>
      <a:lt1>
        <a:srgbClr val="F1EBE3"/>
      </a:lt1>
      <a:dk2>
        <a:srgbClr val="A14342"/>
      </a:dk2>
      <a:lt2>
        <a:srgbClr val="E2E2E2"/>
      </a:lt2>
      <a:accent1>
        <a:srgbClr val="9E7961"/>
      </a:accent1>
      <a:accent2>
        <a:srgbClr val="FFFFFF"/>
      </a:accent2>
      <a:accent3>
        <a:srgbClr val="FFFFFF"/>
      </a:accent3>
      <a:accent4>
        <a:srgbClr val="FFFFFF"/>
      </a:accent4>
      <a:accent5>
        <a:srgbClr val="FFFFFF"/>
      </a:accent5>
      <a:accent6>
        <a:srgbClr val="FFFFFF"/>
      </a:accent6>
      <a:hlink>
        <a:srgbClr val="332E2A"/>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Minimalist Aesthetic by Slidesgo">
  <a:themeElements>
    <a:clrScheme name="Simple Light">
      <a:dk1>
        <a:srgbClr val="332E2A"/>
      </a:dk1>
      <a:lt1>
        <a:srgbClr val="F1EBE3"/>
      </a:lt1>
      <a:dk2>
        <a:srgbClr val="A14342"/>
      </a:dk2>
      <a:lt2>
        <a:srgbClr val="E2E2E2"/>
      </a:lt2>
      <a:accent1>
        <a:srgbClr val="9E7961"/>
      </a:accent1>
      <a:accent2>
        <a:srgbClr val="FFFFFF"/>
      </a:accent2>
      <a:accent3>
        <a:srgbClr val="FFFFFF"/>
      </a:accent3>
      <a:accent4>
        <a:srgbClr val="FFFFFF"/>
      </a:accent4>
      <a:accent5>
        <a:srgbClr val="FFFFFF"/>
      </a:accent5>
      <a:accent6>
        <a:srgbClr val="FFFFFF"/>
      </a:accent6>
      <a:hlink>
        <a:srgbClr val="332E2A"/>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Minimalist Aesthetic by Slidesgo">
  <a:themeElements>
    <a:clrScheme name="Simple Light">
      <a:dk1>
        <a:srgbClr val="332E2A"/>
      </a:dk1>
      <a:lt1>
        <a:srgbClr val="F1EBE3"/>
      </a:lt1>
      <a:dk2>
        <a:srgbClr val="A14342"/>
      </a:dk2>
      <a:lt2>
        <a:srgbClr val="E2E2E2"/>
      </a:lt2>
      <a:accent1>
        <a:srgbClr val="9E7961"/>
      </a:accent1>
      <a:accent2>
        <a:srgbClr val="FFFFFF"/>
      </a:accent2>
      <a:accent3>
        <a:srgbClr val="FFFFFF"/>
      </a:accent3>
      <a:accent4>
        <a:srgbClr val="FFFFFF"/>
      </a:accent4>
      <a:accent5>
        <a:srgbClr val="FFFFFF"/>
      </a:accent5>
      <a:accent6>
        <a:srgbClr val="FFFFFF"/>
      </a:accent6>
      <a:hlink>
        <a:srgbClr val="332E2A"/>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309</TotalTime>
  <Words>2906</Words>
  <Application>Microsoft Office PowerPoint</Application>
  <PresentationFormat>On-screen Show (16:9)</PresentationFormat>
  <Paragraphs>289</Paragraphs>
  <Slides>26</Slides>
  <Notes>0</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26</vt:i4>
      </vt:variant>
    </vt:vector>
  </HeadingPairs>
  <TitlesOfParts>
    <vt:vector size="39" baseType="lpstr">
      <vt:lpstr>Anybody</vt:lpstr>
      <vt:lpstr>Aptos</vt:lpstr>
      <vt:lpstr>Arial</vt:lpstr>
      <vt:lpstr>Courier New</vt:lpstr>
      <vt:lpstr>Ink Free</vt:lpstr>
      <vt:lpstr>OpenSymbol</vt:lpstr>
      <vt:lpstr>Segoe UI Emoji</vt:lpstr>
      <vt:lpstr>Symbol</vt:lpstr>
      <vt:lpstr>Wingdings</vt:lpstr>
      <vt:lpstr>Minimalist Aesthetic by Slidesgo</vt:lpstr>
      <vt:lpstr>Minimalist Aesthetic by Slidesgo</vt:lpstr>
      <vt:lpstr>Minimalist Aesthetic by Slidesgo</vt:lpstr>
      <vt:lpstr>Minimalist Aesthetic by Slidesgo</vt:lpstr>
      <vt:lpstr>SupplyProphet™:  AI-Powered Sales Forecasting for Laitinelle Dairies™. </vt:lpstr>
      <vt:lpstr>Introduction</vt:lpstr>
      <vt:lpstr>PowerPoint Presentation</vt:lpstr>
      <vt:lpstr>Brand Background</vt:lpstr>
      <vt:lpstr>Business Challenges</vt:lpstr>
      <vt:lpstr>Dataset Insights</vt:lpstr>
      <vt:lpstr>PowerPoint Presentation</vt:lpstr>
      <vt:lpstr>More about the features</vt:lpstr>
      <vt:lpstr>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 </vt:lpstr>
      <vt:lpstr>Quantified Effect</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amira</dc:creator>
  <cp:lastModifiedBy>Chocolat Guitare</cp:lastModifiedBy>
  <cp:revision>58</cp:revision>
  <dcterms:modified xsi:type="dcterms:W3CDTF">2025-05-29T17:46:01Z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2025-05-21T20:29:39Z</dcterms:created>
  <dc:creator>Unknown Creator</dc:creator>
  <dc:description/>
  <dc:language>en-US</dc:language>
  <cp:lastModifiedBy>Unknown Creator</cp:lastModifiedBy>
  <dcterms:modified xsi:type="dcterms:W3CDTF">2025-05-21T20:29:39Z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